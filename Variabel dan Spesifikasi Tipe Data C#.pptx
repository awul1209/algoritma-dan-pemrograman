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6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0360" y="2191791"/>
            <a:ext cx="10231278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 err="1">
                <a:solidFill>
                  <a:srgbClr val="F8FAFC"/>
                </a:solidFill>
                <a:latin typeface="Inter"/>
              </a:rPr>
              <a:t>Pertemuan</a:t>
            </a:r>
            <a:r>
              <a:rPr sz="480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lang="en-US" sz="4800" b="1" i="0" u="none" dirty="0">
                <a:solidFill>
                  <a:srgbClr val="F8FAFC"/>
                </a:solidFill>
                <a:latin typeface="Inter"/>
              </a:rPr>
              <a:t>3</a:t>
            </a:r>
            <a:r>
              <a:rPr sz="4800" b="1" i="0" u="none" dirty="0">
                <a:solidFill>
                  <a:srgbClr val="F8FAFC"/>
                </a:solidFill>
                <a:latin typeface="Inter"/>
              </a:rPr>
              <a:t>: </a:t>
            </a:r>
            <a:r>
              <a:rPr sz="4800" b="1" i="0" u="none" dirty="0" err="1">
                <a:solidFill>
                  <a:srgbClr val="A3E635"/>
                </a:solidFill>
                <a:latin typeface="Inter"/>
              </a:rPr>
              <a:t>Variabel</a:t>
            </a:r>
            <a:r>
              <a:rPr sz="4800" b="1" i="0" u="none" dirty="0">
                <a:solidFill>
                  <a:srgbClr val="A3E635"/>
                </a:solidFill>
                <a:latin typeface="Inter"/>
              </a:rPr>
              <a:t> &amp; </a:t>
            </a:r>
            <a:r>
              <a:rPr sz="4800" b="1" i="0" u="none" dirty="0" err="1">
                <a:solidFill>
                  <a:srgbClr val="A3E635"/>
                </a:solidFill>
                <a:latin typeface="Inter"/>
              </a:rPr>
              <a:t>Tipe</a:t>
            </a:r>
            <a:r>
              <a:rPr sz="4800" b="1" i="0" u="none" dirty="0">
                <a:solidFill>
                  <a:srgbClr val="A3E635"/>
                </a:solidFill>
                <a:latin typeface="Inter"/>
              </a:rPr>
              <a:t>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57550" y="3380482"/>
            <a:ext cx="56769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CBD5E1"/>
                </a:solidFill>
                <a:latin typeface="Inter"/>
              </a:rPr>
              <a:t>Menyimpan Data di Dalam Memori Komputer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3787" y="4188172"/>
            <a:ext cx="49244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64748B"/>
                </a:solidFill>
                <a:latin typeface="Inter"/>
              </a:rPr>
              <a:t>Mata Kuliah: Algoritma dan Pemrograman Dasar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Agenda Kita Hari Ini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94054" y="2567356"/>
            <a:ext cx="105727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F8FAFC"/>
                </a:solidFill>
                <a:latin typeface="Inter"/>
              </a:rPr>
              <a:t>Konsep</a:t>
            </a:r>
            <a:r>
              <a:rPr sz="2400" b="1" i="0" u="none" dirty="0">
                <a:solidFill>
                  <a:srgbClr val="F8FAFC"/>
                </a:solidFill>
                <a:latin typeface="Inter"/>
              </a:rPr>
              <a:t> Dasar: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Apa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itu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Variabel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4054" y="3218777"/>
            <a:ext cx="105727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F8FAFC"/>
                </a:solidFill>
                <a:latin typeface="Inter"/>
              </a:rPr>
              <a:t>Aturan</a:t>
            </a:r>
            <a:r>
              <a:rPr sz="2400" b="1" i="0" u="none" dirty="0">
                <a:solidFill>
                  <a:srgbClr val="F8FAFC"/>
                </a:solidFill>
                <a:latin typeface="Inter"/>
              </a:rPr>
              <a:t> Baku: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Cara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Memberi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Nama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Variabel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yang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Benar</a:t>
            </a:r>
            <a:endParaRPr sz="24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4054" y="3870198"/>
            <a:ext cx="105727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F8FAFC"/>
                </a:solidFill>
                <a:latin typeface="Inter"/>
              </a:rPr>
              <a:t>Spesifikasi</a:t>
            </a:r>
            <a:r>
              <a:rPr sz="2400" b="1" i="0" u="none" dirty="0">
                <a:solidFill>
                  <a:srgbClr val="F8FAFC"/>
                </a:solidFill>
                <a:latin typeface="Inter"/>
              </a:rPr>
              <a:t> Memori: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Membedah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Ukuran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5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Tipe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Data Dasar C#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4054" y="4521618"/>
            <a:ext cx="1057275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 err="1">
                <a:solidFill>
                  <a:srgbClr val="F8FAFC"/>
                </a:solidFill>
                <a:latin typeface="Inter"/>
              </a:rPr>
              <a:t>Praktikum</a:t>
            </a:r>
            <a:r>
              <a:rPr sz="2400" b="1" i="0" u="none" dirty="0">
                <a:solidFill>
                  <a:srgbClr val="F8FAFC"/>
                </a:solidFill>
                <a:latin typeface="Inter"/>
              </a:rPr>
              <a:t>: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Inter"/>
              </a:rPr>
              <a:t>Membuat</a:t>
            </a:r>
            <a:r>
              <a:rPr sz="2400" b="0" i="0" u="none" dirty="0">
                <a:solidFill>
                  <a:srgbClr val="CBD5E1"/>
                </a:solidFill>
                <a:latin typeface="Inter"/>
              </a:rPr>
              <a:t> Program Biodata Diri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2564989"/>
            <a:ext cx="476250" cy="39460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6409"/>
            <a:ext cx="381000" cy="39460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67830"/>
            <a:ext cx="381000" cy="39460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" y="4519251"/>
            <a:ext cx="476250" cy="3946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1860018"/>
            <a:ext cx="5286375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Apa Itu Variabel?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0018"/>
            <a:ext cx="5609844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i="0" u="none" dirty="0" err="1">
                <a:solidFill>
                  <a:srgbClr val="CBD5E1"/>
                </a:solidFill>
                <a:latin typeface="Inter"/>
              </a:rPr>
              <a:t>Bayangkan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variabel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adalah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sebuah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1" i="0" u="none" dirty="0">
                <a:solidFill>
                  <a:srgbClr val="CBD5E1"/>
                </a:solidFill>
                <a:latin typeface="Inter"/>
              </a:rPr>
              <a:t>KOTAK KOSONG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di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dalam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memori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(RAM)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tempat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kita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menyimpan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sebuah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barang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atau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data.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180" y="1879068"/>
            <a:ext cx="5267325" cy="3790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7750" y="3193744"/>
            <a:ext cx="5286374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>
                <a:solidFill>
                  <a:srgbClr val="F8FAFC"/>
                </a:solidFill>
                <a:latin typeface="Inter"/>
              </a:rPr>
              <a:t>Nama: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Kita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harus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menamai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kotak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tersebut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agar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tidak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tertukar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misal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: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kotak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sepatu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946219"/>
            <a:ext cx="5286374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 err="1">
                <a:solidFill>
                  <a:srgbClr val="F8FAFC"/>
                </a:solidFill>
                <a:latin typeface="Inter"/>
              </a:rPr>
              <a:t>Tipe</a:t>
            </a:r>
            <a:r>
              <a:rPr b="1" i="0" u="none" dirty="0">
                <a:solidFill>
                  <a:srgbClr val="F8FAFC"/>
                </a:solidFill>
                <a:latin typeface="Inter"/>
              </a:rPr>
              <a:t> Data: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Menentukan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JENIS BARANG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mutlak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yang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boleh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masuk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ke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kotak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tersebut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4698694"/>
            <a:ext cx="5286374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i="0" u="none" dirty="0" err="1">
                <a:solidFill>
                  <a:srgbClr val="F8FAFC"/>
                </a:solidFill>
                <a:latin typeface="Inter"/>
              </a:rPr>
              <a:t>Dinamis</a:t>
            </a:r>
            <a:r>
              <a:rPr b="1" i="0" u="none" dirty="0">
                <a:solidFill>
                  <a:srgbClr val="F8FAFC"/>
                </a:solidFill>
                <a:latin typeface="Inter"/>
              </a:rPr>
              <a:t>: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Isi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kotak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bisa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kita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ubah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atau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ganti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kapan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saja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saat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program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berjalan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bervariasi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36606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908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41556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Aturan Membuat Nama Variabel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7750" y="1909167"/>
            <a:ext cx="105727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Inter"/>
              </a:rPr>
              <a:t>TIDAK BOLEH Ada Spasi:</a:t>
            </a:r>
            <a:r>
              <a:t>
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Gunakan _underscore atau format camelCase. (Benar: namaMahasiswa | Salah: nama mahasiswa)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50" y="2926258"/>
            <a:ext cx="105727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Inter"/>
              </a:rPr>
              <a:t>TIDAK BOLEH Diawali Angka:</a:t>
            </a:r>
            <a:r>
              <a:t>
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Angka boleh di belakang. (Benar: nilai1 | Salah: 1nilai)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943350"/>
            <a:ext cx="105727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Inter"/>
              </a:rPr>
              <a:t>Case Sensitive (Peka Huruf Kapital):</a:t>
            </a:r>
            <a:r>
              <a:t>
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Huruf besar dan kecil dianggap berbeda. umur tidak sama dengan Umur atau UMUR.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4960441"/>
            <a:ext cx="105727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F8FAFC"/>
                </a:solidFill>
                <a:latin typeface="Inter"/>
              </a:rPr>
              <a:t>Gunakan Nama yang Jelas (Deskriptif):</a:t>
            </a:r>
            <a:r>
              <a:t>
</a:t>
            </a:r>
            <a:r>
              <a:rPr sz="1800" b="0" i="0" u="none">
                <a:solidFill>
                  <a:srgbClr val="94A3B8"/>
                </a:solidFill>
                <a:latin typeface="Inter"/>
              </a:rPr>
              <a:t>Jangan gunakan inisial x atau y jika maksud sebenarnya adalah nilaiTugas. Ini mempermudah saat membaca kode.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52029"/>
            <a:ext cx="2667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69121"/>
            <a:ext cx="13335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86212"/>
            <a:ext cx="3048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003303"/>
            <a:ext cx="2667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35410"/>
            <a:ext cx="5286375" cy="592514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335410"/>
            <a:ext cx="5286375" cy="5925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Satuan Memori: Bit &amp; Byte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8681" y="1592341"/>
            <a:ext cx="10434638" cy="3177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Sebelum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masuk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ke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Tipe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Data,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kita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harus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paham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bagaimana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komputer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mengukur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kotak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94A3B8"/>
                </a:solidFill>
                <a:latin typeface="Inter"/>
              </a:rPr>
              <a:t>penyimpanan</a:t>
            </a:r>
            <a:r>
              <a:rPr sz="2000" b="0" i="0" u="none" dirty="0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725935"/>
            <a:ext cx="4730591" cy="3238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1 Bit (Binary Digit)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167895"/>
            <a:ext cx="450532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Satuan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memori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paling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kecil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di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komputer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Ibarat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sebuah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saklar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lampu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hanya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bisa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menyimpan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dua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angka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pasti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: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0 (Mati)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atau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1 (Nyala)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602265"/>
            <a:ext cx="4730591" cy="3238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A3E635"/>
                </a:solidFill>
                <a:latin typeface="Inter"/>
              </a:rPr>
              <a:t>1 Byte = 8 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504422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Kumpulan 8 bit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saklar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yang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digabung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menjadi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satu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paket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disebut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Byte). Ini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adalah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satuan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standar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ukuran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memori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di dunia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komputer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175" y="2735460"/>
            <a:ext cx="4710588" cy="333375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8BDF8"/>
                </a:solidFill>
                <a:latin typeface="Inter"/>
              </a:rPr>
              <a:t>Mengapa ada 32-bit &amp; 64-bit?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34175" y="3202185"/>
            <a:ext cx="44862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34175" y="3265812"/>
            <a:ext cx="44862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Angka ini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menunjukkan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Lebar Kotak Memori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seberapa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banyak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deret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'0' dan '1' yang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bisa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ditampung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7230070"/>
            <a:ext cx="44862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1" u="none">
                <a:solidFill>
                  <a:srgbClr val="A3E635"/>
                </a:solidFill>
                <a:latin typeface="Inter"/>
              </a:rPr>
              <a:t>*Semakin besar bit-nya, semakin rakus memakan RAM komputer kalian.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61" y="2754510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161" y="4630840"/>
            <a:ext cx="26670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735" y="2764035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5175" y="4414170"/>
            <a:ext cx="41052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32-bit: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Komputer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menyiapkan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32 slot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angka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biner.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Kapasitas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maksimal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angkanya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terbatas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hingga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sekitar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2 </a:t>
            </a: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Miliar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5175" y="5559361"/>
            <a:ext cx="4105275" cy="8048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64-bit: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Kotaknya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2x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lipat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lebih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luas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(64 slot). Bisa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menampung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angka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hingga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kelas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Quintillion (</a:t>
            </a: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Triliunan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 kali </a:t>
            </a: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lipat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!)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4675" y="4414170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4675" y="5559361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59731"/>
            <a:ext cx="5286375" cy="456723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59731"/>
            <a:ext cx="5286375" cy="45672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1. Tipe Data Angka Bulat (Integer)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2050256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83656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Tipe data standar yang paling sering digunakan untuk menyimpan angka bulat (tanpa koma).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2050256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583656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Digunakan khusus jika kapasitas int tidak cukup untuk menampung angkanya.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2134641"/>
            <a:ext cx="11620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525" y="3779639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Jangkauan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-2,147,483,648 s/d 2,147,483,647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64260"/>
            <a:ext cx="43148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Contoh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int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angkatan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= 2026;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5013721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Penggunaan: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Umur, tahun, jumlah barang, ID standar.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075" y="2134641"/>
            <a:ext cx="1162050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15150" y="3444478"/>
            <a:ext cx="4615434" cy="639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Jangkauan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± 9.2 Quintillion (-9,223,372,036,854,775,808)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5150" y="4229100"/>
            <a:ext cx="43148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Contoh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long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saldo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= 15000000000;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4678560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Penggunaan: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Saldo bank nasional, ID unik sistem global, perhitungan jarak astronomi.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3779639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564260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5013721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444478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229100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4678560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00200"/>
            <a:ext cx="5286375" cy="501669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00200"/>
            <a:ext cx="5286375" cy="50166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2. Tipe Data Angka Pecahan (Desimal)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990725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float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24125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Angka pecahan dengan kapasitas memori yang ringan.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990725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double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524125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Tipe data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default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C# untuk angka desimal. Lebih akurat dari float.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2075110"/>
            <a:ext cx="11620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525" y="3384946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Presisi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Akurasi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):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~6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hingga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9 digit di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belakang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koma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169568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Syarat Mutlak: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Wajib diakhiri dengan huruf 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954190"/>
            <a:ext cx="43148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 err="1">
                <a:solidFill>
                  <a:srgbClr val="CBD5E1"/>
                </a:solidFill>
                <a:latin typeface="Inter"/>
              </a:rPr>
              <a:t>Contoh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float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suhu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= 36.5f;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5403651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Penggunaan: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Game development (koordinat 3D), sensor ringan.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450" y="2075110"/>
            <a:ext cx="116205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15150" y="3384946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Presisi (Akurasi):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~15 hingga 17 digit di belakang koma.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4169568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Syarat Mutlak: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Menggunakan tanda titik . bukan koma.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4954190"/>
            <a:ext cx="43148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Contoh: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double ipk = 3.85;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5403651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Penggunaan: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Aplikasi akademik (IPK), sistem keuangan detail.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384946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4169568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954190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5403651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3384946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650" y="4169568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4650" y="4954190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5403651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00200"/>
            <a:ext cx="5286375" cy="53518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00200"/>
            <a:ext cx="5286375" cy="53518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3. Tipe Data Teks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25" y="1990725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char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524125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Tipe data yang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HANYA BISA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menyimpan 1 buah karakter tunggal (huruf, angka, atau simbol).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990725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524125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Tipe data referensi untuk menyimpan kumpulan teks/kalimat.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50" y="2075110"/>
            <a:ext cx="11334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2525" y="3720107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Format: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Unicode (U+0000 hingga U+FFFF).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504729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Penulisan: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Wajib diapit tanda kutip TUNGGAL ' '.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5289351"/>
            <a:ext cx="43148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Contoh: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char golDarah = 'O';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5738812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Contoh Salah: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char nama = 'AB'; (Error)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575" y="2075110"/>
            <a:ext cx="6858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15150" y="3384946"/>
            <a:ext cx="43148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Ukuran Memori: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~2 Byte untuk setiap 1 karakter yang diketik. Maksimal file hingga 2GB (sekitar 1 Milyar karakter).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150" y="4504729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Penulisan: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Wajib diapit tanda kutip GANDA " 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5150" y="5289351"/>
            <a:ext cx="43148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Contoh: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string kampus = "Universitas Wiraraja";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720107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504729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5289351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5738812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3384946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4650" y="4504729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650" y="5289351"/>
            <a:ext cx="123825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monospace"/>
              </a:rP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4. Tipe Data Logika (Boolean)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2969418"/>
            <a:ext cx="5286375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0"/>
              </a:lnSpc>
            </a:pPr>
            <a:r>
              <a:rPr sz="13500" b="1" i="0" u="none">
                <a:solidFill>
                  <a:srgbClr val="A3E635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683918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BDF8"/>
                </a:solidFill>
                <a:latin typeface="Inter"/>
              </a:rPr>
              <a:t>BYTE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600200"/>
            <a:ext cx="55506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bool : Si Pengambil Keputusan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13360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Tipe data ini adalah yang paling ringan secara teori (hanya butuh 1 bit). Ia hanya bisa menampung 2 nilai mutlak: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4333279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Fungsi Utama: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Sangat krusial nantinya saat kita membuat algoritma percabangan (Logika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If-Else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). Contoh: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Apakah mahasiswa ini sudah lulus?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282910"/>
            <a:ext cx="76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3281957"/>
            <a:ext cx="5095875" cy="33516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A3E635"/>
                </a:solidFill>
                <a:latin typeface="Inter"/>
              </a:rPr>
              <a:t>true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(Benar /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760946"/>
            <a:ext cx="762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Inter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759993"/>
            <a:ext cx="5095875" cy="335160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EF4444"/>
                </a:solidFill>
                <a:latin typeface="Inter"/>
              </a:rPr>
              <a:t>false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(Salah / 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88865"/>
            <a:ext cx="3492549" cy="40249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88865"/>
            <a:ext cx="3492549" cy="40249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88865"/>
            <a:ext cx="3492549" cy="4024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Cara Menulis Variabel di C#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38833" y="1866900"/>
            <a:ext cx="7514332" cy="436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sz="2100" b="0" i="0" u="none">
                <a:solidFill>
                  <a:srgbClr val="CBD5E1"/>
                </a:solidFill>
                <a:latin typeface="Inter"/>
              </a:rPr>
              <a:t>Format Baku: [TipeData] [NamaVariabel] = [Nilai];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2603" y="3731865"/>
            <a:ext cx="155019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A3E635"/>
                </a:solidFill>
                <a:latin typeface="Inter"/>
              </a:rPr>
              <a:t>1. Deklarasi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408140"/>
            <a:ext cx="29972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Hanya membuat kotak/wadahnya saja di memori, belum diisi apa-apa.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5888" y="3731865"/>
            <a:ext cx="178022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A3E635"/>
                </a:solidFill>
                <a:latin typeface="Inter"/>
              </a:rPr>
              <a:t>2. Inisialisasi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449" y="4408140"/>
            <a:ext cx="29972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Mengisi kotak yang sudah dibuat dengan sebuah nilai/data pertama kali.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9183" y="3731865"/>
            <a:ext cx="185023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A3E635"/>
                </a:solidFill>
                <a:latin typeface="Inter"/>
              </a:rPr>
              <a:t>3. Cara Cepat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749" y="4408140"/>
            <a:ext cx="2997249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Melakukan deklarasi sekaligus inisialisasi dalam satu baris kode (Disarankan).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675" y="2979390"/>
            <a:ext cx="40005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825" y="2979390"/>
            <a:ext cx="5143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274" y="2979390"/>
            <a:ext cx="40005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266950"/>
            <a:ext cx="528637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276475"/>
            <a:ext cx="5267325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600200"/>
            <a:ext cx="48577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Apa itu Concatenation?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Proses merangkai atau menyambung teks statis (string) dengan isi dari sebuah variabel menggunakan simbol plus (+).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095625"/>
            <a:ext cx="48577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Mengapa Dibutuhkan?</a:t>
            </a:r>
            <a:r>
              <a:t>
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Agar </a:t>
            </a:r>
            <a:r>
              <a:rPr sz="1650" b="0" i="1" u="none">
                <a:solidFill>
                  <a:srgbClr val="A3E635"/>
                </a:solidFill>
                <a:latin typeface="Inter"/>
              </a:rPr>
              <a:t>output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program kita terlihat lebih manusiawi dan komunikatif, tidak sekadar memunculkan angka atau teks kaku.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28775"/>
            <a:ext cx="2857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24200"/>
            <a:ext cx="2857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Menggabungkan Teks &amp; Variabel (Concatenation)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309812"/>
            <a:ext cx="36195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037" y="2347912"/>
            <a:ext cx="3543300" cy="3543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85510" y="1600200"/>
            <a:ext cx="5791962" cy="9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Masalah</a:t>
            </a:r>
            <a:r>
              <a:rPr sz="1650" b="1" i="0" u="none" dirty="0">
                <a:solidFill>
                  <a:srgbClr val="F8FAFC"/>
                </a:solidFill>
                <a:latin typeface="Inter"/>
              </a:rPr>
              <a:t> </a:t>
            </a:r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Klasik</a:t>
            </a:r>
            <a:r>
              <a:rPr sz="1650" b="1" i="0" u="none" dirty="0">
                <a:solidFill>
                  <a:srgbClr val="F8FAFC"/>
                </a:solidFill>
                <a:latin typeface="Inter"/>
              </a:rPr>
              <a:t>: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Jendela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terminal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akan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otomatis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menutup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sz="1650" b="0" i="1" u="none" dirty="0">
                <a:solidFill>
                  <a:srgbClr val="A3E635"/>
                </a:solidFill>
                <a:latin typeface="Inter"/>
              </a:rPr>
              <a:t>close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)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seketika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setelah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baris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kode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terakhir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selesai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dieksekusi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5510" y="2793873"/>
            <a:ext cx="5791962" cy="9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F8FAFC"/>
                </a:solidFill>
                <a:latin typeface="Inter"/>
              </a:rPr>
              <a:t>Solusi: </a:t>
            </a:r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Console.ReadKey</a:t>
            </a:r>
            <a:r>
              <a:rPr sz="1650" b="1" i="0" u="none" dirty="0">
                <a:solidFill>
                  <a:srgbClr val="F8FAFC"/>
                </a:solidFill>
                <a:latin typeface="Inter"/>
              </a:rPr>
              <a:t>();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Perintah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ini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memaksa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komputer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untuk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"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Menunggu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1" u="none" dirty="0">
                <a:solidFill>
                  <a:srgbClr val="A3E635"/>
                </a:solidFill>
                <a:latin typeface="Inter"/>
              </a:rPr>
              <a:t>user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menekan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tombol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apapun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di keyboard".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5510" y="4024122"/>
            <a:ext cx="5791962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Analogi</a:t>
            </a:r>
            <a:r>
              <a:rPr sz="1650" b="1" i="0" u="none" dirty="0">
                <a:solidFill>
                  <a:srgbClr val="F8FAFC"/>
                </a:solidFill>
                <a:latin typeface="Inter"/>
              </a:rPr>
              <a:t>: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Ibarat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mem-</a:t>
            </a:r>
            <a:r>
              <a:rPr sz="1650" b="0" i="1" u="none" dirty="0">
                <a:solidFill>
                  <a:srgbClr val="A3E635"/>
                </a:solidFill>
                <a:latin typeface="Inter"/>
              </a:rPr>
              <a:t>pause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film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tepat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di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akhir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adegan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agar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kita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bisa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membaca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1" u="none" dirty="0">
                <a:solidFill>
                  <a:srgbClr val="A3E635"/>
                </a:solidFill>
                <a:latin typeface="Inter"/>
              </a:rPr>
              <a:t>credit title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5510" y="5342382"/>
            <a:ext cx="579196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 err="1">
                <a:solidFill>
                  <a:srgbClr val="F8FAFC"/>
                </a:solidFill>
                <a:latin typeface="Inter"/>
              </a:rPr>
              <a:t>Aturan</a:t>
            </a:r>
            <a:r>
              <a:rPr sz="1650" b="1" i="0" u="none" dirty="0">
                <a:solidFill>
                  <a:srgbClr val="F8FAFC"/>
                </a:solidFill>
                <a:latin typeface="Inter"/>
              </a:rPr>
              <a:t> Pakai: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Wajib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diletakkan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di baris paling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bawah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program.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885" y="162877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885" y="2822448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6885" y="4052697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6885" y="5370957"/>
            <a:ext cx="1714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Menahan Layar dengan Console.ReadKey()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2006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Praktikum: Biodata Sederhana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685925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2200275"/>
            <a:ext cx="49530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Buka Visual Studio kalian, dan mari kita praktikkan cara menggabungkan variabel dengan teks (Concatenation).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0200"/>
            <a:ext cx="5286375" cy="526613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00200"/>
            <a:ext cx="5286375" cy="526613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3424832"/>
            <a:ext cx="4505325" cy="28223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990725"/>
            <a:ext cx="473059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A3E635"/>
                </a:solidFill>
                <a:latin typeface="Inter"/>
              </a:rPr>
              <a:t>Simbol Matematika C#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457450"/>
            <a:ext cx="45053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Setelah data disimpan, kita bisa menyuruh komputer menghitungnya!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1990725"/>
            <a:ext cx="4730591" cy="323850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F4444"/>
                </a:solidFill>
                <a:latin typeface="Inter"/>
              </a:rPr>
              <a:t>Awas Jebakan Modulo (%)!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457450"/>
            <a:ext cx="450532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Modulo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BUKAN persentase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 Modulo adalah sisa pembagian bulat yang tidak bisa dibagi lagi.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019300"/>
            <a:ext cx="2381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53250" y="3615332"/>
            <a:ext cx="40862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1" u="none">
                <a:solidFill>
                  <a:srgbClr val="CBD5E1"/>
                </a:solidFill>
                <a:latin typeface="Inter"/>
              </a:rPr>
              <a:t>"Bayangkan kalian punya 5 buah apel, dan harus dibagi adil ke 2 orang anak."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0" y="4380904"/>
            <a:ext cx="408622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Masing-masing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anak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mendapat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2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apel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 Ada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sisa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1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apel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yang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tidak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bisa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dibagi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650" b="0" i="0" u="none" dirty="0" err="1">
                <a:solidFill>
                  <a:srgbClr val="CBD5E1"/>
                </a:solidFill>
                <a:latin typeface="Inter"/>
              </a:rPr>
              <a:t>bulat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 </a:t>
            </a:r>
            <a:r>
              <a:rPr dirty="0"/>
              <a:t>
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Maka di C#: </a:t>
            </a:r>
            <a:r>
              <a:rPr sz="1650" b="1" i="0" u="none" dirty="0">
                <a:solidFill>
                  <a:srgbClr val="EF4444"/>
                </a:solidFill>
                <a:latin typeface="Inter"/>
              </a:rPr>
              <a:t>5 % 2 = 1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0650" y="3318271"/>
            <a:ext cx="4076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+ Penjumlahan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3870721"/>
            <a:ext cx="4076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- Pengurangan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4423171"/>
            <a:ext cx="4076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* Perkalian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(Ingat: Bukan huruf 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4975621"/>
            <a:ext cx="4076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/ Pembagian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5528071"/>
            <a:ext cx="4076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F8FAFC"/>
                </a:solidFill>
                <a:latin typeface="Inter"/>
              </a:rPr>
              <a:t>% Modulo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(Sisa Hasil Bagi)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" y="3346846"/>
            <a:ext cx="2095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3899296"/>
            <a:ext cx="20955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4451746"/>
            <a:ext cx="16192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5004196"/>
            <a:ext cx="20955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5556646"/>
            <a:ext cx="171450" cy="2476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Operator Aritmatika (Memproses Angka)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0725"/>
            <a:ext cx="7365492" cy="46328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520065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38BDF8"/>
                </a:solidFill>
                <a:latin typeface="Inter"/>
              </a:rPr>
              <a:t>Praktikum: Kalkulator Umur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685925"/>
            <a:ext cx="49530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2228850"/>
            <a:ext cx="465058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A3E635"/>
                </a:solidFill>
                <a:latin typeface="Inter"/>
              </a:rPr>
              <a:t>Studi </a:t>
            </a:r>
            <a:r>
              <a:rPr sz="2000" b="1" i="0" u="none" dirty="0" err="1">
                <a:solidFill>
                  <a:srgbClr val="A3E635"/>
                </a:solidFill>
                <a:latin typeface="Inter"/>
              </a:rPr>
              <a:t>Kasus</a:t>
            </a:r>
            <a:r>
              <a:rPr sz="2000" b="1" i="0" u="none" dirty="0">
                <a:solidFill>
                  <a:srgbClr val="A3E635"/>
                </a:solidFill>
                <a:latin typeface="Inter"/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647950"/>
            <a:ext cx="7079742" cy="564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Buatlah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program yang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menyimpan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data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diri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. Program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harus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menghitung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umur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Anda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secara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otomatis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 dan </a:t>
            </a:r>
            <a:r>
              <a:rPr sz="2000" b="0" i="0" u="none" dirty="0" err="1">
                <a:solidFill>
                  <a:srgbClr val="CBD5E1"/>
                </a:solidFill>
                <a:latin typeface="Inter"/>
              </a:rPr>
              <a:t>menampilkannya</a:t>
            </a:r>
            <a:r>
              <a:rPr sz="2000" b="0" i="0" u="none" dirty="0">
                <a:solidFill>
                  <a:srgbClr val="CBD5E1"/>
                </a:solidFill>
                <a:latin typeface="Inter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451008"/>
            <a:ext cx="442912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Algoritma</a:t>
            </a:r>
            <a:r>
              <a:rPr sz="2000" b="1" i="0" u="none" dirty="0">
                <a:solidFill>
                  <a:srgbClr val="38BDF8"/>
                </a:solidFill>
                <a:latin typeface="Inter"/>
              </a:rPr>
              <a:t> </a:t>
            </a:r>
            <a:r>
              <a:rPr sz="2000" b="1" i="0" u="none" dirty="0" err="1">
                <a:solidFill>
                  <a:srgbClr val="38BDF8"/>
                </a:solidFill>
                <a:latin typeface="Inter"/>
              </a:rPr>
              <a:t>Penyelesaian</a:t>
            </a:r>
            <a:r>
              <a:rPr sz="2000" b="1" i="0" u="none" dirty="0">
                <a:solidFill>
                  <a:srgbClr val="38BDF8"/>
                </a:solidFill>
                <a:latin typeface="Inter"/>
              </a:rPr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7003" y="3889539"/>
            <a:ext cx="400050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CBD5E1"/>
                </a:solidFill>
                <a:latin typeface="Inter"/>
              </a:rPr>
              <a:t>Buat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variabel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teks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untuk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Nama.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7003" y="4287684"/>
            <a:ext cx="6769989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CBD5E1"/>
                </a:solidFill>
                <a:latin typeface="Inter"/>
              </a:rPr>
              <a:t>Buat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variabel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angka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untuk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TahunLahir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&amp;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TahunSekarang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7002" y="4650396"/>
            <a:ext cx="6056757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>
                <a:solidFill>
                  <a:srgbClr val="CBD5E1"/>
                </a:solidFill>
                <a:latin typeface="Inter"/>
              </a:rPr>
              <a:t>Buat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variabel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Umur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=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TahunSekarang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-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TahunLahir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7002" y="5058828"/>
            <a:ext cx="6321933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 err="1">
                <a:solidFill>
                  <a:srgbClr val="CBD5E1"/>
                </a:solidFill>
                <a:latin typeface="Inter"/>
              </a:rPr>
              <a:t>Gunakan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1" u="none" dirty="0">
                <a:solidFill>
                  <a:srgbClr val="A3E635"/>
                </a:solidFill>
                <a:latin typeface="Inter"/>
              </a:rPr>
              <a:t>Concatenation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untuk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mencetak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hasilnya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7003" y="5438685"/>
            <a:ext cx="6056756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i="0" u="none" dirty="0" err="1">
                <a:solidFill>
                  <a:srgbClr val="CBD5E1"/>
                </a:solidFill>
                <a:latin typeface="Inter"/>
              </a:rPr>
              <a:t>Kunci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layar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dengan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b="0" i="0" u="none" dirty="0" err="1">
                <a:solidFill>
                  <a:srgbClr val="CBD5E1"/>
                </a:solidFill>
                <a:latin typeface="Inter"/>
              </a:rPr>
              <a:t>Console.ReadKey</a:t>
            </a:r>
            <a:r>
              <a:rPr b="0" i="0" u="none" dirty="0">
                <a:solidFill>
                  <a:srgbClr val="CBD5E1"/>
                </a:solidFill>
                <a:latin typeface="Inter"/>
              </a:rPr>
              <a:t>();.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912971"/>
            <a:ext cx="8572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11116"/>
            <a:ext cx="1143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682972"/>
            <a:ext cx="1143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5082260"/>
            <a:ext cx="1333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5471261"/>
            <a:ext cx="114300" cy="180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D964ECA-D5CB-68BB-F2B6-9A951C35DD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2444" y="3366561"/>
            <a:ext cx="3824842" cy="14973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PERTEMUAN 03 — ALGORITMA &amp; PEMROGRAMAN DASAR</a:t>
            </a:r>
          </a:p>
          <a:p>
            <a:pPr>
              <a:spcBef>
                <a:spcPts val="1000"/>
              </a:spcBef>
              <a:defRPr sz="3600" b="1">
                <a:solidFill>
                  <a:srgbClr val="F1F5F9"/>
                </a:solidFill>
                <a:latin typeface="Segoe UI"/>
              </a:defRPr>
            </a:pPr>
            <a:r>
              <a:t>Menerima Input User &amp;</a:t>
            </a:r>
            <a:br/>
            <a:r>
              <a:t>Konversi Tipe Data C#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Pembahasan Console.ReadLine(), Type Casting, dan Studi Kasus Persegi Panjang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01. INPUT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Menerima Input dengan Console.ReadLine()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3" y="1463040"/>
            <a:ext cx="692841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3463" y="2002968"/>
            <a:ext cx="6684265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rPr sz="2000" dirty="0"/>
              <a:t>Cara </a:t>
            </a:r>
            <a:r>
              <a:rPr sz="2000" dirty="0" err="1"/>
              <a:t>Kerja</a:t>
            </a:r>
            <a:r>
              <a:rPr sz="2000" dirty="0"/>
              <a:t> </a:t>
            </a:r>
            <a:r>
              <a:rPr sz="2000" dirty="0" err="1"/>
              <a:t>Console.ReadLine</a:t>
            </a:r>
            <a:r>
              <a:rPr sz="2000" dirty="0"/>
              <a:t>()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sz="1300">
                <a:solidFill>
                  <a:srgbClr val="F1F5F9"/>
                </a:solidFill>
              </a:defRPr>
            </a:pPr>
            <a:r>
              <a:rPr sz="2000" dirty="0"/>
              <a:t>Program </a:t>
            </a:r>
            <a:r>
              <a:rPr sz="2000" dirty="0" err="1"/>
              <a:t>akan</a:t>
            </a:r>
            <a:r>
              <a:rPr sz="2000" dirty="0"/>
              <a:t> pause dan </a:t>
            </a:r>
            <a:r>
              <a:rPr sz="2000" dirty="0" err="1"/>
              <a:t>menunggu</a:t>
            </a:r>
            <a:r>
              <a:rPr sz="2000" dirty="0"/>
              <a:t> </a:t>
            </a:r>
            <a:r>
              <a:rPr sz="2000" dirty="0" err="1"/>
              <a:t>ketikan</a:t>
            </a:r>
            <a:r>
              <a:rPr sz="2000" dirty="0"/>
              <a:t> keyboard user.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sz="1300">
                <a:solidFill>
                  <a:srgbClr val="F1F5F9"/>
                </a:solidFill>
              </a:defRPr>
            </a:pPr>
            <a:r>
              <a:rPr sz="2000" dirty="0"/>
              <a:t>Proses input </a:t>
            </a:r>
            <a:r>
              <a:rPr sz="2000" dirty="0" err="1"/>
              <a:t>selesai</a:t>
            </a:r>
            <a:r>
              <a:rPr sz="2000" dirty="0"/>
              <a:t> </a:t>
            </a:r>
            <a:r>
              <a:rPr sz="2000" dirty="0" err="1"/>
              <a:t>saat</a:t>
            </a:r>
            <a:r>
              <a:rPr sz="2000" dirty="0"/>
              <a:t> user </a:t>
            </a:r>
            <a:r>
              <a:rPr sz="2000" dirty="0" err="1"/>
              <a:t>menekan</a:t>
            </a:r>
            <a:r>
              <a:rPr sz="2000" dirty="0"/>
              <a:t> ENTER.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sz="1300">
                <a:solidFill>
                  <a:srgbClr val="F1F5F9"/>
                </a:solidFill>
              </a:defRPr>
            </a:pPr>
            <a:r>
              <a:rPr sz="2000" dirty="0"/>
              <a:t>ATURAN UTAMA:</a:t>
            </a:r>
            <a:br>
              <a:rPr sz="2000" dirty="0"/>
            </a:br>
            <a:r>
              <a:rPr sz="2000" dirty="0"/>
              <a:t>Output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Console.ReadLine</a:t>
            </a:r>
            <a:r>
              <a:rPr sz="2000" dirty="0"/>
              <a:t>() SELALU </a:t>
            </a:r>
            <a:r>
              <a:rPr sz="2000" dirty="0" err="1"/>
              <a:t>bertipe</a:t>
            </a:r>
            <a:r>
              <a:rPr sz="2000" dirty="0"/>
              <a:t> string (</a:t>
            </a:r>
            <a:r>
              <a:rPr sz="2000" dirty="0" err="1"/>
              <a:t>teks</a:t>
            </a:r>
            <a:r>
              <a:rPr sz="2000" dirty="0"/>
              <a:t>).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  <a:defRPr sz="1300">
                <a:solidFill>
                  <a:srgbClr val="F1F5F9"/>
                </a:solidFill>
              </a:defRPr>
            </a:pPr>
            <a:r>
              <a:rPr sz="2000" dirty="0" err="1"/>
              <a:t>Meski</a:t>
            </a:r>
            <a:r>
              <a:rPr sz="2000" dirty="0"/>
              <a:t> user </a:t>
            </a:r>
            <a:r>
              <a:rPr sz="2000" dirty="0" err="1"/>
              <a:t>mengetik</a:t>
            </a:r>
            <a:r>
              <a:rPr sz="2000" dirty="0"/>
              <a:t> </a:t>
            </a:r>
            <a:r>
              <a:rPr sz="2000" dirty="0" err="1"/>
              <a:t>angka</a:t>
            </a:r>
            <a:r>
              <a:rPr sz="2000" dirty="0"/>
              <a:t> 10, C# </a:t>
            </a:r>
            <a:r>
              <a:rPr sz="2000" dirty="0" err="1"/>
              <a:t>tetap</a:t>
            </a:r>
            <a:r>
              <a:rPr sz="2000" dirty="0"/>
              <a:t> </a:t>
            </a:r>
            <a:r>
              <a:rPr sz="2000" dirty="0" err="1"/>
              <a:t>membacanya</a:t>
            </a:r>
            <a:r>
              <a:rPr sz="2000" dirty="0"/>
              <a:t> </a:t>
            </a:r>
            <a:r>
              <a:rPr lang="en-US" sz="2000" dirty="0"/>
              <a:t>    </a:t>
            </a:r>
            <a:r>
              <a:rPr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teks</a:t>
            </a:r>
            <a:r>
              <a:rPr lang="en-US" sz="2000" dirty="0"/>
              <a:t> “10”</a:t>
            </a:r>
            <a:endParaRPr sz="2000" dirty="0"/>
          </a:p>
        </p:txBody>
      </p:sp>
      <p:sp>
        <p:nvSpPr>
          <p:cNvPr id="7" name="Rounded Rectangle 6"/>
          <p:cNvSpPr/>
          <p:nvPr/>
        </p:nvSpPr>
        <p:spPr>
          <a:xfrm>
            <a:off x="7251192" y="1463040"/>
            <a:ext cx="4764024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51192" y="2002968"/>
            <a:ext cx="5330952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onsolas"/>
              </a:defRPr>
            </a:pPr>
            <a:r>
              <a:rPr sz="1600" dirty="0"/>
              <a:t>// </a:t>
            </a:r>
            <a:r>
              <a:rPr sz="1600" dirty="0" err="1"/>
              <a:t>Contoh</a:t>
            </a:r>
            <a:r>
              <a:rPr sz="1600" dirty="0"/>
              <a:t> </a:t>
            </a:r>
            <a:r>
              <a:rPr sz="1600" dirty="0" err="1"/>
              <a:t>Menangkap</a:t>
            </a:r>
            <a:r>
              <a:rPr sz="1600" dirty="0"/>
              <a:t> Input Teks</a:t>
            </a:r>
          </a:p>
          <a:p>
            <a:pPr>
              <a:spcBef>
                <a:spcPts val="1500"/>
              </a:spcBef>
              <a:defRPr sz="1300">
                <a:solidFill>
                  <a:srgbClr val="38BDF8"/>
                </a:solidFill>
                <a:latin typeface="Consolas"/>
              </a:defRPr>
            </a:pPr>
            <a:r>
              <a:rPr sz="1600" dirty="0" err="1"/>
              <a:t>Console.Write</a:t>
            </a:r>
            <a:r>
              <a:rPr sz="1600" dirty="0"/>
              <a:t>("Masukkan Nama: ");</a:t>
            </a:r>
            <a:br>
              <a:rPr sz="1600" dirty="0"/>
            </a:br>
            <a:r>
              <a:rPr sz="1600" dirty="0"/>
              <a:t>string nama = </a:t>
            </a:r>
            <a:r>
              <a:rPr sz="1600" dirty="0" err="1"/>
              <a:t>Console.ReadLine</a:t>
            </a:r>
            <a:r>
              <a:rPr sz="1600" dirty="0"/>
              <a:t>();</a:t>
            </a:r>
            <a:br>
              <a:rPr sz="1600" dirty="0"/>
            </a:br>
            <a:br>
              <a:rPr sz="1600" dirty="0"/>
            </a:br>
            <a:r>
              <a:rPr sz="1600" dirty="0" err="1"/>
              <a:t>Console.Write</a:t>
            </a:r>
            <a:r>
              <a:rPr sz="1600" dirty="0"/>
              <a:t>("Masukkan </a:t>
            </a:r>
            <a:r>
              <a:rPr sz="1600" dirty="0" err="1"/>
              <a:t>Umur</a:t>
            </a:r>
            <a:r>
              <a:rPr sz="1600" dirty="0"/>
              <a:t>: ");</a:t>
            </a:r>
            <a:br>
              <a:rPr sz="1600" dirty="0"/>
            </a:br>
            <a:r>
              <a:rPr sz="1600" dirty="0"/>
              <a:t>string </a:t>
            </a:r>
            <a:r>
              <a:rPr sz="1600" dirty="0" err="1"/>
              <a:t>inputUmur</a:t>
            </a:r>
            <a:r>
              <a:rPr sz="1600" dirty="0"/>
              <a:t> = </a:t>
            </a:r>
            <a:r>
              <a:rPr sz="1600" dirty="0" err="1"/>
              <a:t>Console.ReadLine</a:t>
            </a:r>
            <a:r>
              <a:rPr sz="1600" dirty="0"/>
              <a:t>();</a:t>
            </a:r>
            <a:br>
              <a:rPr sz="1600" dirty="0"/>
            </a:br>
            <a:br>
              <a:rPr sz="1600" dirty="0"/>
            </a:br>
            <a:r>
              <a:rPr sz="1600" dirty="0"/>
              <a:t>// </a:t>
            </a:r>
            <a:r>
              <a:rPr sz="1600" dirty="0" err="1"/>
              <a:t>inputUmur</a:t>
            </a:r>
            <a:r>
              <a:rPr sz="1600" dirty="0"/>
              <a:t> </a:t>
            </a:r>
            <a:r>
              <a:rPr sz="1600" dirty="0" err="1"/>
              <a:t>bertipe</a:t>
            </a:r>
            <a:r>
              <a:rPr sz="1600" dirty="0"/>
              <a:t> string, </a:t>
            </a:r>
            <a:br>
              <a:rPr sz="1600" dirty="0"/>
            </a:br>
            <a:r>
              <a:rPr sz="1600" dirty="0"/>
              <a:t>// </a:t>
            </a:r>
            <a:r>
              <a:rPr sz="1600" dirty="0" err="1"/>
              <a:t>tidak</a:t>
            </a:r>
            <a:r>
              <a:rPr sz="1600" dirty="0"/>
              <a:t> </a:t>
            </a:r>
            <a:r>
              <a:rPr sz="1600" dirty="0" err="1"/>
              <a:t>bisa</a:t>
            </a:r>
            <a:r>
              <a:rPr sz="1600" dirty="0"/>
              <a:t> </a:t>
            </a:r>
            <a:r>
              <a:rPr sz="1600" dirty="0" err="1"/>
              <a:t>langsung</a:t>
            </a:r>
            <a:r>
              <a:rPr sz="1600" dirty="0"/>
              <a:t> </a:t>
            </a:r>
            <a:r>
              <a:rPr sz="1600" dirty="0" err="1"/>
              <a:t>dipakai</a:t>
            </a:r>
            <a:r>
              <a:rPr sz="1600" dirty="0"/>
              <a:t> </a:t>
            </a:r>
            <a:r>
              <a:rPr sz="1600" dirty="0" err="1"/>
              <a:t>berhitung</a:t>
            </a:r>
            <a:r>
              <a:rPr sz="1600" dirty="0"/>
              <a:t>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02. TYPE 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Mengubah String Menjadi Angka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" y="1645920"/>
            <a:ext cx="3566161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0654" y="1979889"/>
            <a:ext cx="2962656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rPr sz="2000" dirty="0" err="1"/>
              <a:t>int.Parse</a:t>
            </a:r>
            <a:r>
              <a:rPr sz="2000" dirty="0"/>
              <a:t>(string)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rPr sz="1600" dirty="0" err="1"/>
              <a:t>Konversi</a:t>
            </a:r>
            <a:r>
              <a:rPr sz="1600" dirty="0"/>
              <a:t> ke Angka Bulat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rPr sz="1600" dirty="0" err="1"/>
              <a:t>Digunakan</a:t>
            </a:r>
            <a:r>
              <a:rPr sz="1600" dirty="0"/>
              <a:t> </a:t>
            </a:r>
            <a:r>
              <a:rPr sz="1600" dirty="0" err="1"/>
              <a:t>jika</a:t>
            </a:r>
            <a:r>
              <a:rPr sz="1600" dirty="0"/>
              <a:t> input </a:t>
            </a:r>
            <a:r>
              <a:rPr sz="1600" dirty="0" err="1"/>
              <a:t>dipastikan</a:t>
            </a:r>
            <a:r>
              <a:rPr sz="1600" dirty="0"/>
              <a:t> </a:t>
            </a:r>
            <a:r>
              <a:rPr sz="1600" dirty="0" err="1"/>
              <a:t>berupa</a:t>
            </a:r>
            <a:r>
              <a:rPr sz="1600" dirty="0"/>
              <a:t> </a:t>
            </a:r>
            <a:r>
              <a:rPr sz="1600" dirty="0" err="1"/>
              <a:t>bilangan</a:t>
            </a:r>
            <a:r>
              <a:rPr sz="1600" dirty="0"/>
              <a:t> </a:t>
            </a:r>
            <a:r>
              <a:rPr sz="1600" dirty="0" err="1"/>
              <a:t>bulat</a:t>
            </a:r>
            <a:r>
              <a:rPr sz="1600" dirty="0"/>
              <a:t>.</a:t>
            </a:r>
          </a:p>
          <a:p>
            <a:pPr>
              <a:spcBef>
                <a:spcPts val="20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rPr sz="1600" dirty="0"/>
              <a:t>int x = </a:t>
            </a:r>
            <a:r>
              <a:rPr sz="1600" dirty="0" err="1"/>
              <a:t>int.Parse</a:t>
            </a:r>
            <a:r>
              <a:rPr sz="1600" dirty="0"/>
              <a:t>("10");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091" y="1673352"/>
            <a:ext cx="3566161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62271" y="1993392"/>
            <a:ext cx="2962656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rPr sz="2000" dirty="0"/>
              <a:t>Convert.ToInt32(string)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rPr sz="1600" dirty="0" err="1"/>
              <a:t>Konversi</a:t>
            </a:r>
            <a:r>
              <a:rPr sz="1600" dirty="0"/>
              <a:t> </a:t>
            </a:r>
            <a:r>
              <a:rPr sz="1600" dirty="0" err="1"/>
              <a:t>Alternatif</a:t>
            </a:r>
            <a:endParaRPr sz="1600" dirty="0"/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rPr sz="1600" dirty="0" err="1"/>
              <a:t>Lebih</a:t>
            </a:r>
            <a:r>
              <a:rPr sz="1600" dirty="0"/>
              <a:t> </a:t>
            </a:r>
            <a:r>
              <a:rPr sz="1600" dirty="0" err="1"/>
              <a:t>aman</a:t>
            </a:r>
            <a:r>
              <a:rPr sz="1600" dirty="0"/>
              <a:t> </a:t>
            </a:r>
            <a:r>
              <a:rPr sz="1600" dirty="0" err="1"/>
              <a:t>jika</a:t>
            </a:r>
            <a:r>
              <a:rPr sz="1600" dirty="0"/>
              <a:t> </a:t>
            </a:r>
            <a:r>
              <a:rPr sz="1600" dirty="0" err="1"/>
              <a:t>ada</a:t>
            </a:r>
            <a:r>
              <a:rPr sz="1600" dirty="0"/>
              <a:t> </a:t>
            </a:r>
            <a:r>
              <a:rPr sz="1600" dirty="0" err="1"/>
              <a:t>potensi</a:t>
            </a:r>
            <a:r>
              <a:rPr sz="1600" dirty="0"/>
              <a:t> </a:t>
            </a:r>
            <a:r>
              <a:rPr sz="1600" dirty="0" err="1"/>
              <a:t>nilai</a:t>
            </a:r>
            <a:r>
              <a:rPr sz="1600" dirty="0"/>
              <a:t> null pada </a:t>
            </a:r>
            <a:r>
              <a:rPr sz="1600" dirty="0" err="1"/>
              <a:t>variabel</a:t>
            </a:r>
            <a:r>
              <a:rPr sz="1600" dirty="0"/>
              <a:t>.</a:t>
            </a:r>
          </a:p>
          <a:p>
            <a:pPr>
              <a:spcBef>
                <a:spcPts val="20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rPr sz="1600" dirty="0"/>
              <a:t>int y = Convert.ToInt32(input);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91271" y="1636776"/>
            <a:ext cx="3977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01583" y="1979889"/>
            <a:ext cx="3634739" cy="187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rPr sz="2000" dirty="0" err="1"/>
              <a:t>double.Parse</a:t>
            </a:r>
            <a:r>
              <a:rPr sz="2000" dirty="0"/>
              <a:t>(string)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rPr sz="1600" dirty="0" err="1"/>
              <a:t>Konversi</a:t>
            </a:r>
            <a:r>
              <a:rPr sz="1600" dirty="0"/>
              <a:t> ke </a:t>
            </a:r>
            <a:r>
              <a:rPr sz="1600" dirty="0" err="1"/>
              <a:t>Desimal</a:t>
            </a:r>
            <a:endParaRPr sz="1600" dirty="0"/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rPr sz="1600" dirty="0"/>
              <a:t>Wajib </a:t>
            </a:r>
            <a:r>
              <a:rPr sz="1600" dirty="0" err="1"/>
              <a:t>digunakan</a:t>
            </a:r>
            <a:r>
              <a:rPr sz="1600" dirty="0"/>
              <a:t> </a:t>
            </a:r>
            <a:r>
              <a:rPr sz="1600" dirty="0" err="1"/>
              <a:t>untuk</a:t>
            </a:r>
            <a:r>
              <a:rPr sz="1600" dirty="0"/>
              <a:t> </a:t>
            </a:r>
            <a:r>
              <a:rPr sz="1600" dirty="0" err="1"/>
              <a:t>angka</a:t>
            </a:r>
            <a:r>
              <a:rPr sz="1600" dirty="0"/>
              <a:t> </a:t>
            </a:r>
            <a:r>
              <a:rPr sz="1600" dirty="0" err="1"/>
              <a:t>desimal</a:t>
            </a:r>
            <a:r>
              <a:rPr sz="1600" dirty="0"/>
              <a:t> / </a:t>
            </a:r>
            <a:r>
              <a:rPr sz="1600" dirty="0" err="1"/>
              <a:t>pecahan</a:t>
            </a:r>
            <a:r>
              <a:rPr sz="1600" dirty="0"/>
              <a:t>.</a:t>
            </a:r>
          </a:p>
          <a:p>
            <a:pPr>
              <a:spcBef>
                <a:spcPts val="20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rPr sz="1600" dirty="0"/>
              <a:t>double z = </a:t>
            </a:r>
            <a:r>
              <a:rPr sz="1600" dirty="0" err="1"/>
              <a:t>double.Parse</a:t>
            </a:r>
            <a:r>
              <a:rPr sz="1600" dirty="0"/>
              <a:t>("5.5");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03. PRACTICAL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Studi Kasus: Kalkulator Persegi Panjang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75104"/>
            <a:ext cx="4754880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rPr dirty="0" err="1"/>
              <a:t>Deskripsi</a:t>
            </a:r>
            <a:r>
              <a:rPr dirty="0"/>
              <a:t> </a:t>
            </a:r>
            <a:r>
              <a:rPr dirty="0" err="1"/>
              <a:t>Tugas</a:t>
            </a:r>
            <a:endParaRPr dirty="0"/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rPr sz="1600" dirty="0" err="1"/>
              <a:t>Buatlah</a:t>
            </a:r>
            <a:r>
              <a:rPr sz="1600" dirty="0"/>
              <a:t> program C# </a:t>
            </a:r>
            <a:r>
              <a:rPr sz="1600" dirty="0" err="1"/>
              <a:t>interaktif</a:t>
            </a:r>
            <a:r>
              <a:rPr sz="1600" dirty="0"/>
              <a:t> yang </a:t>
            </a:r>
            <a:r>
              <a:rPr sz="1600" dirty="0" err="1"/>
              <a:t>meminta</a:t>
            </a:r>
            <a:r>
              <a:rPr sz="1600" dirty="0"/>
              <a:t> </a:t>
            </a:r>
            <a:r>
              <a:rPr sz="1600" dirty="0" err="1"/>
              <a:t>pengguna</a:t>
            </a:r>
            <a:r>
              <a:rPr sz="1600" dirty="0"/>
              <a:t> </a:t>
            </a:r>
            <a:r>
              <a:rPr sz="1600" dirty="0" err="1"/>
              <a:t>memasukkan</a:t>
            </a:r>
            <a:r>
              <a:rPr sz="1600" dirty="0"/>
              <a:t> Panjang dan Lebar. Program </a:t>
            </a:r>
            <a:r>
              <a:rPr sz="1600" dirty="0" err="1"/>
              <a:t>kemudian</a:t>
            </a:r>
            <a:r>
              <a:rPr sz="1600" dirty="0"/>
              <a:t> </a:t>
            </a:r>
            <a:r>
              <a:rPr sz="1600" dirty="0" err="1"/>
              <a:t>menghitung</a:t>
            </a:r>
            <a:r>
              <a:rPr sz="1600" dirty="0"/>
              <a:t> Luas dan </a:t>
            </a:r>
            <a:r>
              <a:rPr sz="1600" dirty="0" err="1"/>
              <a:t>Keliling</a:t>
            </a:r>
            <a:r>
              <a:rPr sz="1600" dirty="0"/>
              <a:t> </a:t>
            </a:r>
            <a:r>
              <a:rPr sz="1600" dirty="0" err="1"/>
              <a:t>persegi</a:t>
            </a:r>
            <a:r>
              <a:rPr sz="1600" dirty="0"/>
              <a:t> </a:t>
            </a:r>
            <a:r>
              <a:rPr sz="1600" dirty="0" err="1"/>
              <a:t>panjang</a:t>
            </a:r>
            <a:r>
              <a:rPr sz="1600" dirty="0"/>
              <a:t> </a:t>
            </a:r>
            <a:r>
              <a:rPr sz="1600" dirty="0" err="1"/>
              <a:t>tersebut</a:t>
            </a:r>
            <a:r>
              <a:rPr sz="1600" dirty="0"/>
              <a:t>.</a:t>
            </a:r>
          </a:p>
          <a:p>
            <a:pPr>
              <a:spcBef>
                <a:spcPts val="2000"/>
              </a:spcBef>
              <a:defRPr sz="1500" b="1">
                <a:solidFill>
                  <a:srgbClr val="38BDF8"/>
                </a:solidFill>
              </a:defRPr>
            </a:pPr>
            <a:r>
              <a:rPr sz="1600" dirty="0" err="1"/>
              <a:t>Rumus</a:t>
            </a:r>
            <a:r>
              <a:rPr sz="1600" dirty="0"/>
              <a:t> </a:t>
            </a:r>
            <a:r>
              <a:rPr sz="1600" dirty="0" err="1"/>
              <a:t>Matematika</a:t>
            </a:r>
            <a:r>
              <a:rPr sz="1600" dirty="0"/>
              <a:t>: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rPr sz="1600" dirty="0"/>
              <a:t>• Luas = </a:t>
            </a:r>
            <a:r>
              <a:rPr sz="1600" dirty="0" err="1"/>
              <a:t>panjang</a:t>
            </a:r>
            <a:r>
              <a:rPr sz="1600" dirty="0"/>
              <a:t> × </a:t>
            </a:r>
            <a:r>
              <a:rPr sz="1600" dirty="0" err="1"/>
              <a:t>lebar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Keliling</a:t>
            </a:r>
            <a:r>
              <a:rPr sz="1600" dirty="0"/>
              <a:t> = 2 × (</a:t>
            </a:r>
            <a:r>
              <a:rPr sz="1600" dirty="0" err="1"/>
              <a:t>panjang</a:t>
            </a:r>
            <a:r>
              <a:rPr sz="1600" dirty="0"/>
              <a:t> + </a:t>
            </a:r>
            <a:r>
              <a:rPr sz="1600" dirty="0" err="1"/>
              <a:t>lebar</a:t>
            </a:r>
            <a:r>
              <a:rPr sz="1600" dirty="0"/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75104"/>
            <a:ext cx="48463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rPr dirty="0"/>
              <a:t>Alur </a:t>
            </a:r>
            <a:r>
              <a:rPr dirty="0" err="1"/>
              <a:t>Penyelesaian</a:t>
            </a:r>
            <a:r>
              <a:rPr dirty="0"/>
              <a:t> </a:t>
            </a:r>
            <a:r>
              <a:rPr dirty="0" err="1"/>
              <a:t>Sistematis</a:t>
            </a:r>
            <a:r>
              <a:rPr dirty="0"/>
              <a:t>: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sz="1600" dirty="0" err="1"/>
              <a:t>Tahap</a:t>
            </a:r>
            <a:r>
              <a:rPr sz="1600" dirty="0"/>
              <a:t> 1: </a:t>
            </a:r>
            <a:r>
              <a:rPr sz="1600" dirty="0" err="1"/>
              <a:t>Deklarasi</a:t>
            </a:r>
            <a:r>
              <a:rPr sz="1600" dirty="0"/>
              <a:t> </a:t>
            </a:r>
            <a:r>
              <a:rPr sz="1600" dirty="0" err="1"/>
              <a:t>variabel</a:t>
            </a:r>
            <a:r>
              <a:rPr sz="1600" dirty="0"/>
              <a:t> </a:t>
            </a:r>
            <a:r>
              <a:rPr sz="1600" dirty="0" err="1"/>
              <a:t>penampung</a:t>
            </a:r>
            <a:r>
              <a:rPr sz="1600" dirty="0"/>
              <a:t> input string.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sz="1600" dirty="0" err="1"/>
              <a:t>Tahap</a:t>
            </a:r>
            <a:r>
              <a:rPr sz="1600" dirty="0"/>
              <a:t> 2: </a:t>
            </a:r>
            <a:r>
              <a:rPr sz="1600" dirty="0" err="1"/>
              <a:t>Menerima</a:t>
            </a:r>
            <a:r>
              <a:rPr sz="1600" dirty="0"/>
              <a:t> input keyboard via </a:t>
            </a:r>
            <a:r>
              <a:rPr sz="1600" dirty="0" err="1"/>
              <a:t>Console.ReadLine</a:t>
            </a:r>
            <a:r>
              <a:rPr sz="1600" dirty="0"/>
              <a:t>().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sz="1600" dirty="0" err="1"/>
              <a:t>Tahap</a:t>
            </a:r>
            <a:r>
              <a:rPr sz="1600" dirty="0"/>
              <a:t> 3: </a:t>
            </a:r>
            <a:r>
              <a:rPr sz="1600" dirty="0" err="1"/>
              <a:t>Konversi</a:t>
            </a:r>
            <a:r>
              <a:rPr sz="1600" dirty="0"/>
              <a:t> input string ke </a:t>
            </a:r>
            <a:r>
              <a:rPr sz="1600" dirty="0" err="1"/>
              <a:t>double.Parse</a:t>
            </a:r>
            <a:r>
              <a:rPr sz="1600" dirty="0"/>
              <a:t>().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sz="1600" dirty="0" err="1"/>
              <a:t>Tahap</a:t>
            </a:r>
            <a:r>
              <a:rPr sz="1600" dirty="0"/>
              <a:t> 4: </a:t>
            </a:r>
            <a:r>
              <a:rPr sz="1600" dirty="0" err="1"/>
              <a:t>Deklarasi</a:t>
            </a:r>
            <a:r>
              <a:rPr sz="1600" dirty="0"/>
              <a:t> </a:t>
            </a:r>
            <a:r>
              <a:rPr sz="1600" dirty="0" err="1"/>
              <a:t>variabel</a:t>
            </a:r>
            <a:r>
              <a:rPr sz="1600" dirty="0"/>
              <a:t> </a:t>
            </a:r>
            <a:r>
              <a:rPr sz="1600" dirty="0" err="1"/>
              <a:t>hasil</a:t>
            </a:r>
            <a:r>
              <a:rPr sz="1600" dirty="0"/>
              <a:t> &amp; </a:t>
            </a:r>
            <a:r>
              <a:rPr sz="1600" dirty="0" err="1"/>
              <a:t>hitung</a:t>
            </a:r>
            <a:r>
              <a:rPr sz="1600" dirty="0"/>
              <a:t> </a:t>
            </a:r>
            <a:r>
              <a:rPr sz="1600" dirty="0" err="1"/>
              <a:t>dengan</a:t>
            </a:r>
            <a:r>
              <a:rPr sz="1600" dirty="0"/>
              <a:t> </a:t>
            </a:r>
            <a:r>
              <a:rPr sz="1600" dirty="0" err="1"/>
              <a:t>rumus</a:t>
            </a:r>
            <a:r>
              <a:rPr sz="1600" dirty="0"/>
              <a:t>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rPr sz="1600" dirty="0" err="1"/>
              <a:t>Tahap</a:t>
            </a:r>
            <a:r>
              <a:rPr sz="1600" dirty="0"/>
              <a:t> 5: </a:t>
            </a:r>
            <a:r>
              <a:rPr sz="1600" dirty="0" err="1"/>
              <a:t>Tampilkan</a:t>
            </a:r>
            <a:r>
              <a:rPr sz="1600" dirty="0"/>
              <a:t> output &amp; </a:t>
            </a:r>
            <a:r>
              <a:rPr sz="1600" dirty="0" err="1"/>
              <a:t>tahan</a:t>
            </a:r>
            <a:r>
              <a:rPr sz="1600" dirty="0"/>
              <a:t> </a:t>
            </a:r>
            <a:r>
              <a:rPr sz="1600" dirty="0" err="1"/>
              <a:t>layar</a:t>
            </a:r>
            <a:r>
              <a:rPr sz="1600" dirty="0"/>
              <a:t> via </a:t>
            </a:r>
            <a:r>
              <a:rPr sz="1600" dirty="0" err="1"/>
              <a:t>Console.ReadKey</a:t>
            </a:r>
            <a:r>
              <a:rPr sz="1600" dirty="0"/>
              <a:t>().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04.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Langkah 1 &amp; 2: Ambil Input &amp; Konversi Variabel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475488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rPr sz="2000" dirty="0"/>
              <a:t>1. Buat </a:t>
            </a:r>
            <a:r>
              <a:rPr sz="2000" dirty="0" err="1"/>
              <a:t>Variabel</a:t>
            </a:r>
            <a:r>
              <a:rPr sz="2000" dirty="0"/>
              <a:t> String &amp; Ambil Input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rPr sz="1600" dirty="0"/>
              <a:t>Buat dua </a:t>
            </a:r>
            <a:r>
              <a:rPr sz="1600" dirty="0" err="1"/>
              <a:t>variabel</a:t>
            </a:r>
            <a:r>
              <a:rPr sz="1600" dirty="0"/>
              <a:t> </a:t>
            </a:r>
            <a:r>
              <a:rPr sz="1600" dirty="0" err="1"/>
              <a:t>bertipe</a:t>
            </a:r>
            <a:r>
              <a:rPr sz="1600" dirty="0"/>
              <a:t> string </a:t>
            </a:r>
            <a:r>
              <a:rPr sz="1600" dirty="0" err="1"/>
              <a:t>untuk</a:t>
            </a:r>
            <a:r>
              <a:rPr sz="1600" dirty="0"/>
              <a:t> </a:t>
            </a:r>
            <a:r>
              <a:rPr sz="1600" dirty="0" err="1"/>
              <a:t>menyimpan</a:t>
            </a:r>
            <a:r>
              <a:rPr sz="1600" dirty="0"/>
              <a:t> </a:t>
            </a:r>
            <a:r>
              <a:rPr sz="1600" dirty="0" err="1"/>
              <a:t>hasil</a:t>
            </a:r>
            <a:r>
              <a:rPr sz="1600" dirty="0"/>
              <a:t> </a:t>
            </a:r>
            <a:r>
              <a:rPr sz="1600" dirty="0" err="1"/>
              <a:t>mentah</a:t>
            </a:r>
            <a:r>
              <a:rPr sz="1600" dirty="0"/>
              <a:t> </a:t>
            </a:r>
            <a:r>
              <a:rPr sz="1600" dirty="0" err="1"/>
              <a:t>ketikan</a:t>
            </a:r>
            <a:r>
              <a:rPr sz="1600" dirty="0"/>
              <a:t> keyboard.</a:t>
            </a:r>
          </a:p>
          <a:p>
            <a:pPr>
              <a:spcBef>
                <a:spcPts val="1200"/>
              </a:spcBef>
              <a:defRPr sz="1200">
                <a:solidFill>
                  <a:srgbClr val="4ADE80"/>
                </a:solidFill>
                <a:latin typeface="Consolas"/>
              </a:defRPr>
            </a:pPr>
            <a:r>
              <a:rPr sz="1600" dirty="0"/>
              <a:t>// Prompt &amp; Ambil Input String</a:t>
            </a:r>
            <a:br>
              <a:rPr sz="1600" dirty="0"/>
            </a:br>
            <a:r>
              <a:rPr sz="1600" dirty="0" err="1"/>
              <a:t>Console.Write</a:t>
            </a:r>
            <a:r>
              <a:rPr sz="1600" dirty="0"/>
              <a:t>("Masukkan Panjang : ");</a:t>
            </a:r>
            <a:br>
              <a:rPr sz="1600" dirty="0"/>
            </a:br>
            <a:r>
              <a:rPr sz="1600" dirty="0"/>
              <a:t>string </a:t>
            </a:r>
            <a:r>
              <a:rPr sz="1600" dirty="0" err="1"/>
              <a:t>inputPanjang</a:t>
            </a:r>
            <a:r>
              <a:rPr sz="1600" dirty="0"/>
              <a:t> = </a:t>
            </a:r>
            <a:r>
              <a:rPr sz="1600" dirty="0" err="1"/>
              <a:t>Console.ReadLine</a:t>
            </a:r>
            <a:r>
              <a:rPr sz="1600" dirty="0"/>
              <a:t>();</a:t>
            </a:r>
            <a:br>
              <a:rPr sz="1600" dirty="0"/>
            </a:br>
            <a:br>
              <a:rPr sz="1600" dirty="0"/>
            </a:br>
            <a:r>
              <a:rPr sz="1600" dirty="0" err="1"/>
              <a:t>Console.Write</a:t>
            </a:r>
            <a:r>
              <a:rPr sz="1600" dirty="0"/>
              <a:t>("Masukkan Lebar   : ");</a:t>
            </a:r>
            <a:br>
              <a:rPr sz="1600" dirty="0"/>
            </a:br>
            <a:r>
              <a:rPr sz="1600" dirty="0"/>
              <a:t>string </a:t>
            </a:r>
            <a:r>
              <a:rPr sz="1600" dirty="0" err="1"/>
              <a:t>inputLebar</a:t>
            </a:r>
            <a:r>
              <a:rPr sz="1600" dirty="0"/>
              <a:t> = </a:t>
            </a:r>
            <a:r>
              <a:rPr sz="1600" dirty="0" err="1"/>
              <a:t>Console.ReadLine</a:t>
            </a:r>
            <a:r>
              <a:rPr sz="1600" dirty="0"/>
              <a:t>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843016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039112"/>
            <a:ext cx="5504688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rPr sz="2000" dirty="0"/>
              <a:t>2. Buat </a:t>
            </a:r>
            <a:r>
              <a:rPr sz="2000" dirty="0" err="1"/>
              <a:t>Variabel</a:t>
            </a:r>
            <a:r>
              <a:rPr sz="2000" dirty="0"/>
              <a:t> Double &amp; </a:t>
            </a:r>
            <a:r>
              <a:rPr sz="2000" dirty="0" err="1"/>
              <a:t>Konversi</a:t>
            </a:r>
            <a:endParaRPr sz="2000" dirty="0"/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rPr sz="1600" dirty="0"/>
              <a:t>Ubah </a:t>
            </a:r>
            <a:r>
              <a:rPr sz="1600" dirty="0" err="1"/>
              <a:t>variabel</a:t>
            </a:r>
            <a:r>
              <a:rPr sz="1600" dirty="0"/>
              <a:t> string </a:t>
            </a:r>
            <a:r>
              <a:rPr sz="1600" dirty="0" err="1"/>
              <a:t>tadi</a:t>
            </a:r>
            <a:r>
              <a:rPr sz="1600" dirty="0"/>
              <a:t> </a:t>
            </a:r>
            <a:r>
              <a:rPr sz="1600" dirty="0" err="1"/>
              <a:t>menjadi</a:t>
            </a:r>
            <a:r>
              <a:rPr sz="1600" dirty="0"/>
              <a:t> </a:t>
            </a:r>
            <a:r>
              <a:rPr sz="1600" dirty="0" err="1"/>
              <a:t>variabel</a:t>
            </a:r>
            <a:r>
              <a:rPr sz="1600" dirty="0"/>
              <a:t> </a:t>
            </a:r>
            <a:r>
              <a:rPr sz="1600" dirty="0" err="1"/>
              <a:t>bertipe</a:t>
            </a:r>
            <a:r>
              <a:rPr sz="1600" dirty="0"/>
              <a:t> double agar </a:t>
            </a:r>
            <a:r>
              <a:rPr sz="1600" dirty="0" err="1"/>
              <a:t>angka</a:t>
            </a:r>
            <a:r>
              <a:rPr sz="1600" dirty="0"/>
              <a:t> </a:t>
            </a:r>
            <a:r>
              <a:rPr sz="1600" dirty="0" err="1"/>
              <a:t>desimal</a:t>
            </a:r>
            <a:r>
              <a:rPr sz="1600" dirty="0"/>
              <a:t> </a:t>
            </a:r>
            <a:r>
              <a:rPr sz="1600" dirty="0" err="1"/>
              <a:t>bisa</a:t>
            </a:r>
            <a:r>
              <a:rPr sz="1600" dirty="0"/>
              <a:t> </a:t>
            </a:r>
            <a:r>
              <a:rPr sz="1600" dirty="0" err="1"/>
              <a:t>diproses</a:t>
            </a:r>
            <a:r>
              <a:rPr sz="1600" dirty="0"/>
              <a:t>.</a:t>
            </a:r>
          </a:p>
          <a:p>
            <a:pPr>
              <a:spcBef>
                <a:spcPts val="1200"/>
              </a:spcBef>
              <a:defRPr sz="1200">
                <a:solidFill>
                  <a:srgbClr val="4ADE80"/>
                </a:solidFill>
                <a:latin typeface="Consolas"/>
              </a:defRPr>
            </a:pPr>
            <a:r>
              <a:rPr sz="1600" dirty="0"/>
              <a:t>// Buat </a:t>
            </a:r>
            <a:r>
              <a:rPr sz="1600" dirty="0" err="1"/>
              <a:t>variabel</a:t>
            </a:r>
            <a:r>
              <a:rPr sz="1600" dirty="0"/>
              <a:t> double &amp; </a:t>
            </a:r>
            <a:r>
              <a:rPr sz="1600" dirty="0" err="1"/>
              <a:t>konversi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panjang</a:t>
            </a:r>
            <a:r>
              <a:rPr sz="1600" dirty="0"/>
              <a:t> =</a:t>
            </a:r>
            <a:r>
              <a:rPr lang="en-US" sz="1600" dirty="0"/>
              <a:t> </a:t>
            </a:r>
            <a:r>
              <a:rPr sz="1600" dirty="0" err="1"/>
              <a:t>double.Parse</a:t>
            </a:r>
            <a:r>
              <a:rPr sz="1600" dirty="0"/>
              <a:t>(</a:t>
            </a:r>
            <a:r>
              <a:rPr sz="1600" dirty="0" err="1"/>
              <a:t>inputPanjang</a:t>
            </a:r>
            <a:r>
              <a:rPr sz="1600" dirty="0"/>
              <a:t>);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lebar</a:t>
            </a:r>
            <a:r>
              <a:rPr sz="1600" dirty="0"/>
              <a:t>   = </a:t>
            </a:r>
            <a:r>
              <a:rPr sz="1600" dirty="0" err="1"/>
              <a:t>double.Parse</a:t>
            </a:r>
            <a:r>
              <a:rPr sz="1600" dirty="0"/>
              <a:t>(</a:t>
            </a:r>
            <a:r>
              <a:rPr sz="1600" dirty="0" err="1"/>
              <a:t>inputLebar</a:t>
            </a:r>
            <a:r>
              <a:rPr sz="1600" dirty="0"/>
              <a:t>);</a:t>
            </a:r>
            <a:br>
              <a:rPr sz="1600" dirty="0"/>
            </a:br>
            <a:br>
              <a:rPr sz="1600" dirty="0"/>
            </a:br>
            <a:r>
              <a:rPr sz="1600" dirty="0"/>
              <a:t>// </a:t>
            </a:r>
            <a:r>
              <a:rPr sz="1600" dirty="0" err="1"/>
              <a:t>Sekarang</a:t>
            </a:r>
            <a:r>
              <a:rPr sz="1600" dirty="0"/>
              <a:t> '</a:t>
            </a:r>
            <a:r>
              <a:rPr sz="1600" dirty="0" err="1"/>
              <a:t>panjang</a:t>
            </a:r>
            <a:r>
              <a:rPr sz="1600" dirty="0"/>
              <a:t>' &amp; '</a:t>
            </a:r>
            <a:r>
              <a:rPr sz="1600" dirty="0" err="1"/>
              <a:t>lebar</a:t>
            </a:r>
            <a:r>
              <a:rPr sz="1600" dirty="0"/>
              <a:t>' </a:t>
            </a:r>
            <a:br>
              <a:rPr sz="1600" dirty="0"/>
            </a:br>
            <a:r>
              <a:rPr sz="1600" dirty="0"/>
              <a:t>// </a:t>
            </a:r>
            <a:r>
              <a:rPr sz="1600" dirty="0" err="1"/>
              <a:t>sudah</a:t>
            </a:r>
            <a:r>
              <a:rPr sz="1600" dirty="0"/>
              <a:t> </a:t>
            </a:r>
            <a:r>
              <a:rPr sz="1600" dirty="0" err="1"/>
              <a:t>bisa</a:t>
            </a:r>
            <a:r>
              <a:rPr sz="1600" dirty="0"/>
              <a:t> </a:t>
            </a:r>
            <a:r>
              <a:rPr sz="1600" dirty="0" err="1"/>
              <a:t>dihitung</a:t>
            </a:r>
            <a:r>
              <a:rPr sz="1600" dirty="0"/>
              <a:t> </a:t>
            </a:r>
            <a:r>
              <a:rPr sz="1600" dirty="0" err="1"/>
              <a:t>secara</a:t>
            </a:r>
            <a:r>
              <a:rPr sz="1600" dirty="0"/>
              <a:t> </a:t>
            </a:r>
            <a:r>
              <a:rPr sz="1600" dirty="0" err="1"/>
              <a:t>matematika</a:t>
            </a:r>
            <a:r>
              <a:rPr sz="1600" dirty="0"/>
              <a:t>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05.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Langkah 3 &amp; 4: Hitung Rumus &amp; Tampilkan Hasil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20824"/>
            <a:ext cx="475488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rPr sz="2000" dirty="0"/>
              <a:t>3. </a:t>
            </a:r>
            <a:r>
              <a:rPr sz="2000" dirty="0" err="1"/>
              <a:t>Hitung</a:t>
            </a:r>
            <a:r>
              <a:rPr sz="2000" dirty="0"/>
              <a:t> Luas &amp; </a:t>
            </a:r>
            <a:r>
              <a:rPr sz="2000" dirty="0" err="1"/>
              <a:t>Keliling</a:t>
            </a:r>
            <a:endParaRPr sz="2000" dirty="0"/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rPr sz="1600" dirty="0"/>
              <a:t>Buat </a:t>
            </a:r>
            <a:r>
              <a:rPr sz="1600" dirty="0" err="1"/>
              <a:t>variabel</a:t>
            </a:r>
            <a:r>
              <a:rPr sz="1600" dirty="0"/>
              <a:t> </a:t>
            </a:r>
            <a:r>
              <a:rPr sz="1600" dirty="0" err="1"/>
              <a:t>penampung</a:t>
            </a:r>
            <a:r>
              <a:rPr sz="1600" dirty="0"/>
              <a:t> </a:t>
            </a:r>
            <a:r>
              <a:rPr sz="1600" dirty="0" err="1"/>
              <a:t>hasil</a:t>
            </a:r>
            <a:r>
              <a:rPr sz="1600" dirty="0"/>
              <a:t> </a:t>
            </a:r>
            <a:r>
              <a:rPr sz="1600" dirty="0" err="1"/>
              <a:t>hitung</a:t>
            </a:r>
            <a:r>
              <a:rPr sz="1600" dirty="0"/>
              <a:t> ('</a:t>
            </a:r>
            <a:r>
              <a:rPr sz="1600" dirty="0" err="1"/>
              <a:t>luas</a:t>
            </a:r>
            <a:r>
              <a:rPr sz="1600" dirty="0"/>
              <a:t>' dan '</a:t>
            </a:r>
            <a:r>
              <a:rPr sz="1600" dirty="0" err="1"/>
              <a:t>keliling</a:t>
            </a:r>
            <a:r>
              <a:rPr sz="1600" dirty="0"/>
              <a:t>') </a:t>
            </a:r>
            <a:r>
              <a:rPr sz="1600" dirty="0" err="1"/>
              <a:t>lalu</a:t>
            </a:r>
            <a:r>
              <a:rPr sz="1600" dirty="0"/>
              <a:t> </a:t>
            </a:r>
            <a:r>
              <a:rPr sz="1600" dirty="0" err="1"/>
              <a:t>terapkan</a:t>
            </a:r>
            <a:r>
              <a:rPr sz="1600" dirty="0"/>
              <a:t> </a:t>
            </a:r>
            <a:r>
              <a:rPr sz="1600" dirty="0" err="1"/>
              <a:t>rumus</a:t>
            </a:r>
            <a:r>
              <a:rPr sz="1600" dirty="0"/>
              <a:t> </a:t>
            </a:r>
            <a:r>
              <a:rPr sz="1600" dirty="0" err="1"/>
              <a:t>matematisnya</a:t>
            </a:r>
            <a:r>
              <a:rPr sz="1600" dirty="0"/>
              <a:t>.</a:t>
            </a:r>
          </a:p>
          <a:p>
            <a:pPr>
              <a:spcBef>
                <a:spcPts val="12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rPr sz="1600" dirty="0"/>
              <a:t>// </a:t>
            </a:r>
            <a:r>
              <a:rPr sz="1600" dirty="0" err="1"/>
              <a:t>Terapkan</a:t>
            </a:r>
            <a:r>
              <a:rPr sz="1600" dirty="0"/>
              <a:t> </a:t>
            </a:r>
            <a:r>
              <a:rPr sz="1600" dirty="0" err="1"/>
              <a:t>Rumus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luas</a:t>
            </a:r>
            <a:r>
              <a:rPr sz="1600" dirty="0"/>
              <a:t> = </a:t>
            </a:r>
            <a:r>
              <a:rPr sz="1600" dirty="0" err="1"/>
              <a:t>panjang</a:t>
            </a:r>
            <a:r>
              <a:rPr sz="1600" dirty="0"/>
              <a:t> * </a:t>
            </a:r>
            <a:r>
              <a:rPr sz="1600" dirty="0" err="1"/>
              <a:t>lebar</a:t>
            </a:r>
            <a:r>
              <a:rPr sz="1600" dirty="0"/>
              <a:t>;</a:t>
            </a:r>
            <a:br>
              <a:rPr sz="1600" dirty="0"/>
            </a:br>
            <a:br>
              <a:rPr sz="1600" dirty="0"/>
            </a:br>
            <a:r>
              <a:rPr sz="1600" dirty="0"/>
              <a:t>// Tanda </a:t>
            </a:r>
            <a:r>
              <a:rPr sz="1600" dirty="0" err="1"/>
              <a:t>kurung</a:t>
            </a:r>
            <a:r>
              <a:rPr sz="1600" dirty="0"/>
              <a:t> </a:t>
            </a:r>
            <a:r>
              <a:rPr sz="1600" dirty="0" err="1"/>
              <a:t>wajib</a:t>
            </a:r>
            <a:r>
              <a:rPr sz="1600" dirty="0"/>
              <a:t> agar </a:t>
            </a:r>
            <a:br>
              <a:rPr sz="1600" dirty="0"/>
            </a:br>
            <a:r>
              <a:rPr sz="1600" dirty="0"/>
              <a:t>// </a:t>
            </a:r>
            <a:r>
              <a:rPr sz="1600" dirty="0" err="1"/>
              <a:t>penjumlahan</a:t>
            </a:r>
            <a:r>
              <a:rPr sz="1600" dirty="0"/>
              <a:t> </a:t>
            </a:r>
            <a:r>
              <a:rPr sz="1600" dirty="0" err="1"/>
              <a:t>dikerjakan</a:t>
            </a:r>
            <a:r>
              <a:rPr sz="1600" dirty="0"/>
              <a:t> </a:t>
            </a:r>
            <a:r>
              <a:rPr sz="1600" dirty="0" err="1"/>
              <a:t>dulu</a:t>
            </a:r>
            <a:r>
              <a:rPr sz="1600" dirty="0"/>
              <a:t>!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keliling</a:t>
            </a:r>
            <a:r>
              <a:rPr sz="1600" dirty="0"/>
              <a:t> = 2 * (</a:t>
            </a:r>
            <a:r>
              <a:rPr sz="1600" dirty="0" err="1"/>
              <a:t>panjang</a:t>
            </a:r>
            <a:r>
              <a:rPr sz="1600" dirty="0"/>
              <a:t> + </a:t>
            </a:r>
            <a:r>
              <a:rPr sz="1600" dirty="0" err="1"/>
              <a:t>lebar</a:t>
            </a:r>
            <a:r>
              <a:rPr sz="1600" dirty="0"/>
              <a:t>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2020824"/>
            <a:ext cx="484632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rPr sz="2000" dirty="0"/>
              <a:t>4. Output &amp; Tahan Screen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rPr sz="1600" dirty="0" err="1"/>
              <a:t>Gunakan</a:t>
            </a:r>
            <a:r>
              <a:rPr sz="1600" dirty="0"/>
              <a:t> </a:t>
            </a:r>
            <a:r>
              <a:rPr sz="1600" dirty="0" err="1"/>
              <a:t>penggabungan</a:t>
            </a:r>
            <a:r>
              <a:rPr sz="1600" dirty="0"/>
              <a:t> </a:t>
            </a:r>
            <a:r>
              <a:rPr sz="1600" dirty="0" err="1"/>
              <a:t>teks</a:t>
            </a:r>
            <a:r>
              <a:rPr sz="1600" dirty="0"/>
              <a:t> (+) </a:t>
            </a:r>
            <a:r>
              <a:rPr sz="1600" dirty="0" err="1"/>
              <a:t>untuk</a:t>
            </a:r>
            <a:r>
              <a:rPr sz="1600" dirty="0"/>
              <a:t> </a:t>
            </a:r>
            <a:r>
              <a:rPr sz="1600" dirty="0" err="1"/>
              <a:t>mencetak</a:t>
            </a:r>
            <a:r>
              <a:rPr sz="1600" dirty="0"/>
              <a:t> </a:t>
            </a:r>
            <a:r>
              <a:rPr sz="1600" dirty="0" err="1"/>
              <a:t>hasil</a:t>
            </a:r>
            <a:r>
              <a:rPr sz="1600" dirty="0"/>
              <a:t> dan </a:t>
            </a:r>
            <a:r>
              <a:rPr sz="1600" dirty="0" err="1"/>
              <a:t>ReadKey</a:t>
            </a:r>
            <a:r>
              <a:rPr sz="1600" dirty="0"/>
              <a:t>() agar console </a:t>
            </a:r>
            <a:r>
              <a:rPr sz="1600" dirty="0" err="1"/>
              <a:t>tidak</a:t>
            </a:r>
            <a:r>
              <a:rPr sz="1600" dirty="0"/>
              <a:t> </a:t>
            </a:r>
            <a:r>
              <a:rPr sz="1600" dirty="0" err="1"/>
              <a:t>langsung</a:t>
            </a:r>
            <a:r>
              <a:rPr sz="1600" dirty="0"/>
              <a:t> exit.</a:t>
            </a:r>
          </a:p>
          <a:p>
            <a:pPr>
              <a:spcBef>
                <a:spcPts val="12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rPr sz="1600" dirty="0"/>
              <a:t>// </a:t>
            </a:r>
            <a:r>
              <a:rPr sz="1600" dirty="0" err="1"/>
              <a:t>Tampilkan</a:t>
            </a:r>
            <a:r>
              <a:rPr sz="1600" dirty="0"/>
              <a:t> Hasil Ke Terminal</a:t>
            </a:r>
            <a:br>
              <a:rPr sz="1600" dirty="0"/>
            </a:br>
            <a:r>
              <a:rPr sz="1600" dirty="0" err="1"/>
              <a:t>Console.WriteLine</a:t>
            </a:r>
            <a:r>
              <a:rPr sz="1600" dirty="0"/>
              <a:t>("Luas     : " + </a:t>
            </a:r>
            <a:r>
              <a:rPr sz="1600" dirty="0" err="1"/>
              <a:t>luas</a:t>
            </a:r>
            <a:r>
              <a:rPr sz="1600" dirty="0"/>
              <a:t>);</a:t>
            </a:r>
            <a:br>
              <a:rPr sz="1600" dirty="0"/>
            </a:br>
            <a:r>
              <a:rPr sz="1600" dirty="0" err="1"/>
              <a:t>Console.WriteLine</a:t>
            </a:r>
            <a:r>
              <a:rPr sz="1600" dirty="0"/>
              <a:t>("</a:t>
            </a:r>
            <a:r>
              <a:rPr sz="1600" dirty="0" err="1"/>
              <a:t>Keliling</a:t>
            </a:r>
            <a:r>
              <a:rPr sz="1600" dirty="0"/>
              <a:t> : " + </a:t>
            </a:r>
            <a:r>
              <a:rPr sz="1600" dirty="0" err="1"/>
              <a:t>keliling</a:t>
            </a:r>
            <a:r>
              <a:rPr sz="1600" dirty="0"/>
              <a:t>);</a:t>
            </a:r>
            <a:br>
              <a:rPr sz="1600" dirty="0"/>
            </a:br>
            <a:br>
              <a:rPr sz="1600" dirty="0"/>
            </a:br>
            <a:r>
              <a:rPr sz="1600" dirty="0"/>
              <a:t>// Tahan </a:t>
            </a:r>
            <a:r>
              <a:rPr sz="1600" dirty="0" err="1"/>
              <a:t>layar</a:t>
            </a:r>
            <a:r>
              <a:rPr sz="1600" dirty="0"/>
              <a:t> console</a:t>
            </a:r>
            <a:br>
              <a:rPr sz="1600" dirty="0"/>
            </a:br>
            <a:r>
              <a:rPr sz="1600" dirty="0" err="1"/>
              <a:t>Console.ReadKey</a:t>
            </a:r>
            <a:r>
              <a:rPr sz="1600" dirty="0"/>
              <a:t>();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06. FULL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Implementasi Code C# Lengkap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1872"/>
            <a:ext cx="103327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nsolas"/>
              </a:defRPr>
            </a:pPr>
            <a:r>
              <a:rPr sz="1600" dirty="0"/>
              <a:t>// 1. Ambil Input Keyboard (</a:t>
            </a:r>
            <a:r>
              <a:rPr sz="1600" dirty="0" err="1"/>
              <a:t>Bentuk</a:t>
            </a:r>
            <a:r>
              <a:rPr sz="1600" dirty="0"/>
              <a:t> String)</a:t>
            </a:r>
            <a:br>
              <a:rPr sz="1600" dirty="0"/>
            </a:br>
            <a:r>
              <a:rPr sz="1600" dirty="0" err="1"/>
              <a:t>Console.Write</a:t>
            </a:r>
            <a:r>
              <a:rPr sz="1600" dirty="0"/>
              <a:t>("Masukkan Panjang (cm) : ");</a:t>
            </a:r>
            <a:br>
              <a:rPr sz="1600" dirty="0"/>
            </a:br>
            <a:r>
              <a:rPr sz="1600" dirty="0"/>
              <a:t>string </a:t>
            </a:r>
            <a:r>
              <a:rPr sz="1600" dirty="0" err="1"/>
              <a:t>inputPanjang</a:t>
            </a:r>
            <a:r>
              <a:rPr sz="1600" dirty="0"/>
              <a:t> = </a:t>
            </a:r>
            <a:r>
              <a:rPr sz="1600" dirty="0" err="1"/>
              <a:t>Console.ReadLine</a:t>
            </a:r>
            <a:r>
              <a:rPr sz="1600" dirty="0"/>
              <a:t>();</a:t>
            </a:r>
            <a:br>
              <a:rPr sz="1600" dirty="0"/>
            </a:br>
            <a:br>
              <a:rPr sz="1600" dirty="0"/>
            </a:br>
            <a:r>
              <a:rPr sz="1600" dirty="0" err="1"/>
              <a:t>Console.Write</a:t>
            </a:r>
            <a:r>
              <a:rPr sz="1600" dirty="0"/>
              <a:t>("Masukkan Lebar   (cm) : ");</a:t>
            </a:r>
            <a:br>
              <a:rPr sz="1600" dirty="0"/>
            </a:br>
            <a:r>
              <a:rPr sz="1600" dirty="0"/>
              <a:t>string </a:t>
            </a:r>
            <a:r>
              <a:rPr sz="1600" dirty="0" err="1"/>
              <a:t>inputLebar</a:t>
            </a:r>
            <a:r>
              <a:rPr sz="1600" dirty="0"/>
              <a:t> = </a:t>
            </a:r>
            <a:r>
              <a:rPr sz="1600" dirty="0" err="1"/>
              <a:t>Console.ReadLine</a:t>
            </a:r>
            <a:r>
              <a:rPr sz="1600" dirty="0"/>
              <a:t>();</a:t>
            </a:r>
            <a:br>
              <a:rPr sz="1600" dirty="0"/>
            </a:br>
            <a:br>
              <a:rPr sz="1600" dirty="0"/>
            </a:br>
            <a:r>
              <a:rPr sz="1600" dirty="0"/>
              <a:t>// 2. </a:t>
            </a:r>
            <a:r>
              <a:rPr sz="1600" dirty="0" err="1"/>
              <a:t>Konversi</a:t>
            </a:r>
            <a:r>
              <a:rPr sz="1600" dirty="0"/>
              <a:t> String ke Double (Satu-</a:t>
            </a:r>
            <a:r>
              <a:rPr sz="1600" dirty="0" err="1"/>
              <a:t>satu</a:t>
            </a:r>
            <a:r>
              <a:rPr sz="1600" dirty="0"/>
              <a:t>)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panjang</a:t>
            </a:r>
            <a:r>
              <a:rPr sz="1600" dirty="0"/>
              <a:t> = </a:t>
            </a:r>
            <a:r>
              <a:rPr sz="1600" dirty="0" err="1"/>
              <a:t>double.Parse</a:t>
            </a:r>
            <a:r>
              <a:rPr sz="1600" dirty="0"/>
              <a:t>(</a:t>
            </a:r>
            <a:r>
              <a:rPr sz="1600" dirty="0" err="1"/>
              <a:t>inputPanjang</a:t>
            </a:r>
            <a:r>
              <a:rPr sz="1600" dirty="0"/>
              <a:t>);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lebar</a:t>
            </a:r>
            <a:r>
              <a:rPr sz="1600" dirty="0"/>
              <a:t>   = </a:t>
            </a:r>
            <a:r>
              <a:rPr sz="1600" dirty="0" err="1"/>
              <a:t>double.Parse</a:t>
            </a:r>
            <a:r>
              <a:rPr sz="1600" dirty="0"/>
              <a:t>(</a:t>
            </a:r>
            <a:r>
              <a:rPr sz="1600" dirty="0" err="1"/>
              <a:t>inputLebar</a:t>
            </a:r>
            <a:r>
              <a:rPr sz="1600" dirty="0"/>
              <a:t>);</a:t>
            </a:r>
            <a:br>
              <a:rPr sz="1600" dirty="0"/>
            </a:br>
            <a:br>
              <a:rPr sz="1600" dirty="0"/>
            </a:br>
            <a:r>
              <a:rPr sz="1600" dirty="0"/>
              <a:t>// 3. Proses </a:t>
            </a:r>
            <a:r>
              <a:rPr sz="1600" dirty="0" err="1"/>
              <a:t>Hitung</a:t>
            </a:r>
            <a:r>
              <a:rPr sz="1600" dirty="0"/>
              <a:t> </a:t>
            </a:r>
            <a:r>
              <a:rPr sz="1600" dirty="0" err="1"/>
              <a:t>Rumus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luas</a:t>
            </a:r>
            <a:r>
              <a:rPr sz="1600" dirty="0"/>
              <a:t>     = </a:t>
            </a:r>
            <a:r>
              <a:rPr sz="1600" dirty="0" err="1"/>
              <a:t>panjang</a:t>
            </a:r>
            <a:r>
              <a:rPr sz="1600" dirty="0"/>
              <a:t> * </a:t>
            </a:r>
            <a:r>
              <a:rPr sz="1600" dirty="0" err="1"/>
              <a:t>lebar</a:t>
            </a:r>
            <a:r>
              <a:rPr sz="1600" dirty="0"/>
              <a:t>;</a:t>
            </a:r>
            <a:br>
              <a:rPr sz="1600" dirty="0"/>
            </a:br>
            <a:r>
              <a:rPr sz="1600" dirty="0"/>
              <a:t>double </a:t>
            </a:r>
            <a:r>
              <a:rPr sz="1600" dirty="0" err="1"/>
              <a:t>keliling</a:t>
            </a:r>
            <a:r>
              <a:rPr sz="1600" dirty="0"/>
              <a:t> = 2 * (</a:t>
            </a:r>
            <a:r>
              <a:rPr sz="1600" dirty="0" err="1"/>
              <a:t>panjang</a:t>
            </a:r>
            <a:r>
              <a:rPr sz="1600" dirty="0"/>
              <a:t> + </a:t>
            </a:r>
            <a:r>
              <a:rPr sz="1600" dirty="0" err="1"/>
              <a:t>lebar</a:t>
            </a:r>
            <a:r>
              <a:rPr sz="1600" dirty="0"/>
              <a:t>);</a:t>
            </a:r>
            <a:br>
              <a:rPr sz="1600" dirty="0"/>
            </a:br>
            <a:br>
              <a:rPr sz="1600" dirty="0"/>
            </a:br>
            <a:r>
              <a:rPr sz="1600" dirty="0"/>
              <a:t>// 4. </a:t>
            </a:r>
            <a:r>
              <a:rPr sz="1600" dirty="0" err="1"/>
              <a:t>Tampilkan</a:t>
            </a:r>
            <a:r>
              <a:rPr sz="1600" dirty="0"/>
              <a:t> Hasil Ke Screen</a:t>
            </a:r>
            <a:br>
              <a:rPr sz="1600" dirty="0"/>
            </a:br>
            <a:r>
              <a:rPr sz="1600" dirty="0" err="1"/>
              <a:t>Console.WriteLine</a:t>
            </a:r>
            <a:r>
              <a:rPr sz="1600" dirty="0"/>
              <a:t>("</a:t>
            </a:r>
            <a:br>
              <a:rPr sz="1600" dirty="0"/>
            </a:br>
            <a:r>
              <a:rPr sz="1600" dirty="0"/>
              <a:t>--- HASIL PERHITUNGAN ---");</a:t>
            </a:r>
            <a:br>
              <a:rPr sz="1600" dirty="0"/>
            </a:br>
            <a:r>
              <a:rPr sz="1600" dirty="0" err="1"/>
              <a:t>Console.WriteLine</a:t>
            </a:r>
            <a:r>
              <a:rPr sz="1600" dirty="0"/>
              <a:t>("Luas </a:t>
            </a:r>
            <a:r>
              <a:rPr sz="1600" dirty="0" err="1"/>
              <a:t>Persegi</a:t>
            </a:r>
            <a:r>
              <a:rPr sz="1600" dirty="0"/>
              <a:t> Panjang     : " + </a:t>
            </a:r>
            <a:r>
              <a:rPr sz="1600" dirty="0" err="1"/>
              <a:t>luas</a:t>
            </a:r>
            <a:r>
              <a:rPr sz="1600" dirty="0"/>
              <a:t> + " cm²");</a:t>
            </a:r>
            <a:br>
              <a:rPr sz="1600" dirty="0"/>
            </a:br>
            <a:r>
              <a:rPr sz="1600" dirty="0" err="1"/>
              <a:t>Console.WriteLine</a:t>
            </a:r>
            <a:r>
              <a:rPr sz="1600" dirty="0"/>
              <a:t>("</a:t>
            </a:r>
            <a:r>
              <a:rPr sz="1600" dirty="0" err="1"/>
              <a:t>Keliling</a:t>
            </a:r>
            <a:r>
              <a:rPr sz="1600" dirty="0"/>
              <a:t> </a:t>
            </a:r>
            <a:r>
              <a:rPr sz="1600" dirty="0" err="1"/>
              <a:t>Persegi</a:t>
            </a:r>
            <a:r>
              <a:rPr sz="1600" dirty="0"/>
              <a:t> Panjang : " + </a:t>
            </a:r>
            <a:r>
              <a:rPr sz="1600" dirty="0" err="1"/>
              <a:t>keliling</a:t>
            </a:r>
            <a:r>
              <a:rPr sz="1600" dirty="0"/>
              <a:t> + " cm");</a:t>
            </a:r>
            <a:br>
              <a:rPr sz="1600" dirty="0"/>
            </a:br>
            <a:br>
              <a:rPr sz="1600" dirty="0"/>
            </a:br>
            <a:r>
              <a:rPr sz="1600" dirty="0" err="1"/>
              <a:t>Console.ReadKey</a:t>
            </a:r>
            <a:r>
              <a:rPr sz="1600" dirty="0"/>
              <a:t>(); // Tahan </a:t>
            </a:r>
            <a:r>
              <a:rPr sz="1600" dirty="0" err="1"/>
              <a:t>layar</a:t>
            </a:r>
            <a:endParaRPr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10050"/>
            <a:ext cx="11049000" cy="716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931789"/>
            <a:ext cx="11601450" cy="923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A3E635"/>
                </a:solidFill>
                <a:latin typeface="Inter"/>
              </a:rPr>
              <a:t>Sesi Tanya Jawab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255764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Pastikan kalian memahami materi ini sebelum kita melangkah lebih jauh.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400550"/>
            <a:ext cx="10287000" cy="33516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1" i="0" u="none">
                <a:solidFill>
                  <a:srgbClr val="38BDF8"/>
                </a:solidFill>
                <a:latin typeface="Inter"/>
              </a:rPr>
              <a:t>Materi Berikutnya: Meminta Input dari Pengguna (Console.ReadLine)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4457700"/>
            <a:ext cx="133350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2023</Words>
  <Application>Microsoft Office PowerPoint</Application>
  <PresentationFormat>Widescreen</PresentationFormat>
  <Paragraphs>197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Inter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ayyub -</cp:lastModifiedBy>
  <cp:revision>5</cp:revision>
  <dcterms:created xsi:type="dcterms:W3CDTF">2013-01-27T09:14:16Z</dcterms:created>
  <dcterms:modified xsi:type="dcterms:W3CDTF">2026-09-06T10:06:20Z</dcterms:modified>
  <cp:category/>
</cp:coreProperties>
</file>