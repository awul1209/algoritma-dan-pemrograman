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/>
      <p:bold r:id="rId9"/>
      <p:italic r:id="rId10"/>
    </p:embeddedFont>
    <p:embeddedFont>
      <p:font typeface="Space Grotesk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1674614"/>
            <a:ext cx="762000" cy="57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878585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2036564"/>
            <a:ext cx="9101137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Space Grotesk"/>
              </a:rPr>
              <a:t>Penanganan Error di C#:</a:t>
            </a:r>
            <a:r>
              <a:t>
</a:t>
            </a:r>
            <a:r>
              <a:rPr sz="5400" b="1" i="0" u="none">
                <a:solidFill>
                  <a:srgbClr val="F8FAFC"/>
                </a:solidFill>
                <a:latin typeface="Space Grotesk"/>
              </a:rPr>
              <a:t> Try dan Catch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773685"/>
            <a:ext cx="58102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94A3B8"/>
                </a:solidFill>
                <a:latin typeface="Inter"/>
              </a:rPr>
              <a:t>Mencegah aplikasi crash menggunakan mekanisme Exception Handling.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16685"/>
            <a:ext cx="4179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Praktikum Algoritma &amp; Pemrograman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949005"/>
            <a:ext cx="5029200" cy="1323975"/>
          </a:xfrm>
          <a:prstGeom prst="roundRect">
            <a:avLst>
              <a:gd name="adj" fmla="val 2877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3949005"/>
            <a:ext cx="57150" cy="13239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62000"/>
            <a:ext cx="5029200" cy="533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62000"/>
            <a:ext cx="5029200" cy="5334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4210942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585019"/>
            <a:ext cx="6286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F46E5"/>
                </a:solidFill>
                <a:latin typeface="Inter"/>
              </a:rPr>
              <a:t>MASALAH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37444"/>
            <a:ext cx="6600825" cy="639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Apa itu Exception?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82205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Error tidak terduga yang terjadi saat program sedang berjalan.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4587180"/>
            <a:ext cx="4610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7F1D1D"/>
                </a:solidFill>
                <a:latin typeface="Inter"/>
              </a:rPr>
              <a:t>Aplikasi berhenti mendadak (Crash) dan menutup paksa.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4177605"/>
            <a:ext cx="196274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91B1B"/>
                </a:solidFill>
                <a:latin typeface="Space Grotesk"/>
              </a:rPr>
              <a:t>Dampak Fatal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2500" y="1952625"/>
            <a:ext cx="4914900" cy="4143375"/>
          </a:xfrm>
          <a:prstGeom prst="roundRect">
            <a:avLst>
              <a:gd name="adj" fmla="val 367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1952625"/>
            <a:ext cx="4914900" cy="4143375"/>
          </a:xfrm>
          <a:prstGeom prst="roundRect">
            <a:avLst>
              <a:gd name="adj" fmla="val 367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00" y="1952625"/>
            <a:ext cx="4914900" cy="76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4600" y="1952625"/>
            <a:ext cx="49149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681412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4062412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68141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4291012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166687" y="762000"/>
            <a:ext cx="1252537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Space Grotesk"/>
              </a:rPr>
              <a:t>Anatomi Penanganan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9700" y="2486025"/>
            <a:ext cx="5250656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D4ED8"/>
                </a:solidFill>
                <a:latin typeface="Fira Code"/>
              </a:rPr>
              <a:t>try { ...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9700" y="3219450"/>
            <a:ext cx="525065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Inter"/>
              </a:rPr>
              <a:t>Zona Rawan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486025"/>
            <a:ext cx="5250656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47857"/>
                </a:solidFill>
                <a:latin typeface="Fira Code"/>
              </a:rPr>
              <a:t>catch () { ...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219450"/>
            <a:ext cx="525065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Jaring Pengaman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5450" y="3648075"/>
            <a:ext cx="4714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Menyimpan kode program utama.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5450" y="4029075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Berisi logika yang berpotensi memicu error.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648075"/>
            <a:ext cx="3790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Menangkap error agar aplikasi tidak crash.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257675"/>
            <a:ext cx="3790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Hanya dieksekusi JIKA terjadi kegagalan di blok 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762000"/>
            <a:ext cx="1276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F46E5"/>
                </a:solidFill>
                <a:latin typeface="Inter"/>
              </a:rPr>
              <a:t>SKENARIO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85750" y="1114425"/>
            <a:ext cx="127635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Space Grotesk"/>
              </a:rPr>
              <a:t>Kasus Parsing Tipe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5000" y="2838450"/>
            <a:ext cx="8382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2457450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457450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375" y="2457450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1225" y="2705100"/>
            <a:ext cx="3048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705100"/>
            <a:ext cx="3048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025" y="2705100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2239" y="3448050"/>
            <a:ext cx="216277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Sistem Meminta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343" y="3829050"/>
            <a:ext cx="29765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64748B"/>
                </a:solidFill>
                <a:latin typeface="Inter"/>
              </a:rPr>
              <a:t>"Masukkan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jumlah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barang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yang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dibeli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(Angka)"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896" y="3448050"/>
            <a:ext cx="16502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Human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7015" y="3829050"/>
            <a:ext cx="27979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Kasir salah mengetik huruf: </a:t>
            </a:r>
            <a:r>
              <a:t>
</a:t>
            </a:r>
            <a:r>
              <a:rPr sz="1350" b="1" i="0" u="none">
                <a:solidFill>
                  <a:srgbClr val="64748B"/>
                </a:solidFill>
                <a:latin typeface="Inter"/>
              </a:rPr>
              <a:t>"LIMA"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3265" y="3448050"/>
            <a:ext cx="17502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EF4444"/>
                </a:solidFill>
                <a:latin typeface="Space Grotesk"/>
              </a:rPr>
              <a:t>Sistem Gagal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0093" y="3829050"/>
            <a:ext cx="29765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Gagal merubah teks menjadi integer.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57350"/>
            <a:ext cx="10668000" cy="3343275"/>
          </a:xfrm>
          <a:prstGeom prst="roundRect">
            <a:avLst>
              <a:gd name="adj" fmla="val 341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5305425"/>
            <a:ext cx="10668000" cy="981075"/>
          </a:xfrm>
          <a:prstGeom prst="roundRect">
            <a:avLst>
              <a:gd name="adj" fmla="val 11650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5605462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1. Kode Tanpa Try-Catch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23950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Konversi data mentah secara langsung. Rawan terjadi kegagalan format.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4" y="2180188"/>
            <a:ext cx="10632281" cy="2314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5C07B"/>
                </a:solidFill>
                <a:latin typeface="Fira Code"/>
              </a:rPr>
              <a:t>Console</a:t>
            </a:r>
            <a:r>
              <a:rPr sz="1650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650" b="0" i="0" u="none" dirty="0" err="1">
                <a:solidFill>
                  <a:srgbClr val="61AFEF"/>
                </a:solidFill>
                <a:latin typeface="Fira Code"/>
              </a:rPr>
              <a:t>Write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(</a:t>
            </a:r>
            <a:r>
              <a:rPr sz="1650" b="0" i="0" u="none" dirty="0">
                <a:solidFill>
                  <a:srgbClr val="98C379"/>
                </a:solidFill>
                <a:latin typeface="Fira Code"/>
              </a:rPr>
              <a:t>"Masukkan </a:t>
            </a:r>
            <a:r>
              <a:rPr sz="1650" b="0" i="0" u="none" dirty="0" err="1">
                <a:solidFill>
                  <a:srgbClr val="98C379"/>
                </a:solidFill>
                <a:latin typeface="Fira Code"/>
              </a:rPr>
              <a:t>jumlah</a:t>
            </a:r>
            <a:r>
              <a:rPr sz="1650" b="0" i="0" u="none" dirty="0">
                <a:solidFill>
                  <a:srgbClr val="98C379"/>
                </a:solidFill>
                <a:latin typeface="Fira Code"/>
              </a:rPr>
              <a:t> </a:t>
            </a:r>
            <a:r>
              <a:rPr sz="1650" b="0" i="0" u="none" dirty="0" err="1">
                <a:solidFill>
                  <a:srgbClr val="98C379"/>
                </a:solidFill>
                <a:latin typeface="Fira Code"/>
              </a:rPr>
              <a:t>beli</a:t>
            </a:r>
            <a:r>
              <a:rPr sz="1650" b="0" i="0" u="none" dirty="0">
                <a:solidFill>
                  <a:srgbClr val="98C379"/>
                </a:solidFill>
                <a:latin typeface="Fira Code"/>
              </a:rPr>
              <a:t>: "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); </a:t>
            </a:r>
            <a:endParaRPr lang="en-US" sz="1650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640"/>
              </a:lnSpc>
            </a:pPr>
            <a:endParaRPr lang="en-US" sz="1650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678DD"/>
                </a:solidFill>
                <a:latin typeface="Fira Code"/>
              </a:rPr>
              <a:t>string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 </a:t>
            </a:r>
            <a:r>
              <a:rPr sz="1650" b="0" i="0" u="none" dirty="0">
                <a:solidFill>
                  <a:srgbClr val="E06C75"/>
                </a:solidFill>
                <a:latin typeface="Fira Code"/>
              </a:rPr>
              <a:t>input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 = </a:t>
            </a:r>
            <a:r>
              <a:rPr sz="1650" b="0" i="0" u="none" dirty="0" err="1">
                <a:solidFill>
                  <a:srgbClr val="E5C07B"/>
                </a:solidFill>
                <a:latin typeface="Fira Code"/>
              </a:rPr>
              <a:t>Console</a:t>
            </a:r>
            <a:r>
              <a:rPr sz="1650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650" b="0" i="0" u="none" dirty="0" err="1">
                <a:solidFill>
                  <a:srgbClr val="61AFEF"/>
                </a:solidFill>
                <a:latin typeface="Fira Code"/>
              </a:rPr>
              <a:t>ReadLine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(); </a:t>
            </a:r>
            <a:r>
              <a:rPr sz="1650" b="0" i="1" u="none" dirty="0">
                <a:solidFill>
                  <a:srgbClr val="7F848E"/>
                </a:solidFill>
                <a:latin typeface="Fira Code"/>
              </a:rPr>
              <a:t>Baris ini </a:t>
            </a:r>
            <a:r>
              <a:rPr sz="1650" b="0" i="1" u="none" dirty="0" err="1">
                <a:solidFill>
                  <a:srgbClr val="7F848E"/>
                </a:solidFill>
                <a:latin typeface="Fira Code"/>
              </a:rPr>
              <a:t>memicu</a:t>
            </a:r>
            <a:r>
              <a:rPr sz="1650" b="0" i="1" u="none" dirty="0">
                <a:solidFill>
                  <a:srgbClr val="7F848E"/>
                </a:solidFill>
                <a:latin typeface="Fira Code"/>
              </a:rPr>
              <a:t> </a:t>
            </a:r>
            <a:r>
              <a:rPr lang="en-US" sz="1650" b="0" i="1" u="none" dirty="0" err="1">
                <a:solidFill>
                  <a:srgbClr val="7F848E"/>
                </a:solidFill>
                <a:latin typeface="Fira Code"/>
              </a:rPr>
              <a:t>eror</a:t>
            </a:r>
            <a:r>
              <a:rPr sz="1650" b="0" i="1" u="none" dirty="0">
                <a:solidFill>
                  <a:srgbClr val="7F848E"/>
                </a:solidFill>
                <a:latin typeface="Fira Code"/>
              </a:rPr>
              <a:t> </a:t>
            </a:r>
            <a:r>
              <a:rPr sz="1650" b="0" i="1" u="none" dirty="0" err="1">
                <a:solidFill>
                  <a:srgbClr val="7F848E"/>
                </a:solidFill>
                <a:latin typeface="Fira Code"/>
              </a:rPr>
              <a:t>jika</a:t>
            </a:r>
            <a:r>
              <a:rPr sz="1650" b="0" i="1" u="none" dirty="0">
                <a:solidFill>
                  <a:srgbClr val="7F848E"/>
                </a:solidFill>
                <a:latin typeface="Fira Code"/>
              </a:rPr>
              <a:t> input </a:t>
            </a:r>
            <a:r>
              <a:rPr sz="1650" b="0" i="1" u="none" dirty="0" err="1">
                <a:solidFill>
                  <a:srgbClr val="7F848E"/>
                </a:solidFill>
                <a:latin typeface="Fira Code"/>
              </a:rPr>
              <a:t>berupa</a:t>
            </a:r>
            <a:r>
              <a:rPr sz="1650" b="0" i="1" u="none" dirty="0">
                <a:solidFill>
                  <a:srgbClr val="7F848E"/>
                </a:solidFill>
                <a:latin typeface="Fira Code"/>
              </a:rPr>
              <a:t> </a:t>
            </a:r>
            <a:r>
              <a:rPr sz="1650" b="0" i="1" u="none" dirty="0" err="1">
                <a:solidFill>
                  <a:srgbClr val="7F848E"/>
                </a:solidFill>
                <a:latin typeface="Fira Code"/>
              </a:rPr>
              <a:t>huruf</a:t>
            </a:r>
            <a:r>
              <a:rPr sz="1650" b="0" i="1" u="none" dirty="0">
                <a:solidFill>
                  <a:srgbClr val="7F848E"/>
                </a:solidFill>
                <a:latin typeface="Fira Code"/>
              </a:rPr>
              <a:t>!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 </a:t>
            </a:r>
            <a:endParaRPr lang="en-US" sz="1650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640"/>
              </a:lnSpc>
            </a:pPr>
            <a:endParaRPr lang="en-US" sz="1650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678DD"/>
                </a:solidFill>
                <a:latin typeface="Fira Code"/>
              </a:rPr>
              <a:t>int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 </a:t>
            </a:r>
            <a:r>
              <a:rPr sz="1650" b="0" i="0" u="none" dirty="0" err="1">
                <a:solidFill>
                  <a:srgbClr val="E06C75"/>
                </a:solidFill>
                <a:latin typeface="Fira Code"/>
              </a:rPr>
              <a:t>jumlah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 = </a:t>
            </a:r>
            <a:r>
              <a:rPr sz="1650" b="0" i="0" u="none" dirty="0" err="1">
                <a:solidFill>
                  <a:srgbClr val="C678DD"/>
                </a:solidFill>
                <a:latin typeface="Fira Code"/>
              </a:rPr>
              <a:t>int</a:t>
            </a:r>
            <a:r>
              <a:rPr sz="1650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650" b="0" i="0" u="none" dirty="0" err="1">
                <a:solidFill>
                  <a:srgbClr val="61AFEF"/>
                </a:solidFill>
                <a:latin typeface="Fira Code"/>
              </a:rPr>
              <a:t>Parse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(</a:t>
            </a:r>
            <a:r>
              <a:rPr sz="1650" b="0" i="0" u="none" dirty="0">
                <a:solidFill>
                  <a:srgbClr val="E06C75"/>
                </a:solidFill>
                <a:latin typeface="Fira Code"/>
              </a:rPr>
              <a:t>input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); </a:t>
            </a:r>
            <a:endParaRPr lang="en-US" sz="1650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640"/>
              </a:lnSpc>
            </a:pPr>
            <a:endParaRPr lang="en-US" sz="1650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5C07B"/>
                </a:solidFill>
                <a:latin typeface="Fira Code"/>
              </a:rPr>
              <a:t>Console</a:t>
            </a:r>
            <a:r>
              <a:rPr sz="1650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650" b="0" i="0" u="none" dirty="0" err="1">
                <a:solidFill>
                  <a:srgbClr val="61AFEF"/>
                </a:solidFill>
                <a:latin typeface="Fira Code"/>
              </a:rPr>
              <a:t>WriteLine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(</a:t>
            </a:r>
            <a:r>
              <a:rPr sz="1650" b="0" i="0" u="none" dirty="0">
                <a:solidFill>
                  <a:srgbClr val="98C379"/>
                </a:solidFill>
                <a:latin typeface="Fira Code"/>
              </a:rPr>
              <a:t>"Anda </a:t>
            </a:r>
            <a:r>
              <a:rPr sz="1650" b="0" i="0" u="none" dirty="0" err="1">
                <a:solidFill>
                  <a:srgbClr val="98C379"/>
                </a:solidFill>
                <a:latin typeface="Fira Code"/>
              </a:rPr>
              <a:t>membeli</a:t>
            </a:r>
            <a:r>
              <a:rPr sz="1650" b="0" i="0" u="none" dirty="0">
                <a:solidFill>
                  <a:srgbClr val="98C379"/>
                </a:solidFill>
                <a:latin typeface="Fira Code"/>
              </a:rPr>
              <a:t> "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 + </a:t>
            </a:r>
            <a:r>
              <a:rPr sz="1650" b="0" i="0" u="none" dirty="0" err="1">
                <a:solidFill>
                  <a:srgbClr val="E06C75"/>
                </a:solidFill>
                <a:latin typeface="Fira Code"/>
              </a:rPr>
              <a:t>jumlah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 + </a:t>
            </a:r>
            <a:r>
              <a:rPr sz="1650" b="0" i="0" u="none" dirty="0">
                <a:solidFill>
                  <a:srgbClr val="98C379"/>
                </a:solidFill>
                <a:latin typeface="Fira Code"/>
              </a:rPr>
              <a:t>" </a:t>
            </a:r>
            <a:r>
              <a:rPr sz="1650" b="0" i="0" u="none" dirty="0" err="1">
                <a:solidFill>
                  <a:srgbClr val="98C379"/>
                </a:solidFill>
                <a:latin typeface="Fira Code"/>
              </a:rPr>
              <a:t>barang</a:t>
            </a:r>
            <a:r>
              <a:rPr sz="1650" b="0" i="0" u="none" dirty="0">
                <a:solidFill>
                  <a:srgbClr val="98C379"/>
                </a:solidFill>
                <a:latin typeface="Fira Code"/>
              </a:rPr>
              <a:t>."</a:t>
            </a:r>
            <a:r>
              <a:rPr sz="1650" b="0" i="0" u="none" dirty="0">
                <a:solidFill>
                  <a:srgbClr val="ABB2BF"/>
                </a:solidFill>
                <a:latin typeface="Fira Code"/>
              </a:rP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150" y="5553075"/>
            <a:ext cx="100512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Inter"/>
              </a:rPr>
              <a:t>Aplikasi Crash!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150" y="5838825"/>
            <a:ext cx="957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B91C1C"/>
                </a:solidFill>
                <a:latin typeface="Inter"/>
              </a:rPr>
              <a:t>System.FormatException: Input string was not in a correct format. Program langsung terhenti.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57350"/>
            <a:ext cx="10668000" cy="3343275"/>
          </a:xfrm>
          <a:prstGeom prst="roundRect">
            <a:avLst>
              <a:gd name="adj" fmla="val 341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5305425"/>
            <a:ext cx="10668000" cy="981075"/>
          </a:xfrm>
          <a:prstGeom prst="roundRect">
            <a:avLst>
              <a:gd name="adj" fmla="val 11650"/>
            </a:avLst>
          </a:prstGeom>
          <a:solidFill>
            <a:srgbClr val="ECFDF5"/>
          </a:solidFill>
          <a:ln w="1905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5605462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2. Kode Dengan Try-Catch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23950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Membungkus proses konversi ke dalam zona pengaman.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" y="1759744"/>
            <a:ext cx="10398728" cy="2752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sz="1575" b="0" i="0" u="none" dirty="0">
                <a:solidFill>
                  <a:srgbClr val="C678DD"/>
                </a:solidFill>
                <a:latin typeface="Fira Code"/>
              </a:rPr>
              <a:t>try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 </a:t>
            </a:r>
            <a:endParaRPr lang="en-US" sz="1575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362"/>
              </a:lnSpc>
            </a:pPr>
            <a:r>
              <a:rPr sz="1575" b="0" i="0" u="none" dirty="0">
                <a:solidFill>
                  <a:srgbClr val="ABB2BF"/>
                </a:solidFill>
                <a:latin typeface="Fira Code"/>
              </a:rPr>
              <a:t>{ </a:t>
            </a:r>
            <a:endParaRPr lang="en-US" sz="1575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362"/>
              </a:lnSpc>
            </a:pPr>
            <a:r>
              <a:rPr sz="1575" b="0" i="0" u="none" dirty="0" err="1">
                <a:solidFill>
                  <a:srgbClr val="E5C07B"/>
                </a:solidFill>
                <a:latin typeface="Fira Code"/>
              </a:rPr>
              <a:t>Console</a:t>
            </a:r>
            <a:r>
              <a:rPr sz="1575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575" b="0" i="0" u="none" dirty="0" err="1">
                <a:solidFill>
                  <a:srgbClr val="61AFEF"/>
                </a:solidFill>
                <a:latin typeface="Fira Code"/>
              </a:rPr>
              <a:t>Write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(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"Masukkan </a:t>
            </a:r>
            <a:r>
              <a:rPr sz="1575" b="0" i="0" u="none" dirty="0" err="1">
                <a:solidFill>
                  <a:srgbClr val="98C379"/>
                </a:solidFill>
                <a:latin typeface="Fira Code"/>
              </a:rPr>
              <a:t>jumlah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 </a:t>
            </a:r>
            <a:r>
              <a:rPr sz="1575" b="0" i="0" u="none" dirty="0" err="1">
                <a:solidFill>
                  <a:srgbClr val="98C379"/>
                </a:solidFill>
                <a:latin typeface="Fira Code"/>
              </a:rPr>
              <a:t>beli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: "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); </a:t>
            </a:r>
            <a:endParaRPr lang="en-US" sz="1575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362"/>
              </a:lnSpc>
            </a:pPr>
            <a:r>
              <a:rPr sz="1575" b="0" i="0" u="none" dirty="0">
                <a:solidFill>
                  <a:srgbClr val="C678DD"/>
                </a:solidFill>
                <a:latin typeface="Fira Code"/>
              </a:rPr>
              <a:t>int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 </a:t>
            </a:r>
            <a:r>
              <a:rPr sz="1575" b="0" i="0" u="none" dirty="0" err="1">
                <a:solidFill>
                  <a:srgbClr val="E06C75"/>
                </a:solidFill>
                <a:latin typeface="Fira Code"/>
              </a:rPr>
              <a:t>jumlah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 = </a:t>
            </a:r>
            <a:r>
              <a:rPr sz="1575" b="0" i="0" u="none" dirty="0" err="1">
                <a:solidFill>
                  <a:srgbClr val="C678DD"/>
                </a:solidFill>
                <a:latin typeface="Fira Code"/>
              </a:rPr>
              <a:t>int</a:t>
            </a:r>
            <a:r>
              <a:rPr sz="1575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575" b="0" i="0" u="none" dirty="0" err="1">
                <a:solidFill>
                  <a:srgbClr val="61AFEF"/>
                </a:solidFill>
                <a:latin typeface="Fira Code"/>
              </a:rPr>
              <a:t>Parse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(</a:t>
            </a:r>
            <a:r>
              <a:rPr sz="1575" b="0" i="0" u="none" dirty="0" err="1">
                <a:solidFill>
                  <a:srgbClr val="E5C07B"/>
                </a:solidFill>
                <a:latin typeface="Fira Code"/>
              </a:rPr>
              <a:t>Console</a:t>
            </a:r>
            <a:r>
              <a:rPr sz="1575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575" b="0" i="0" u="none" dirty="0" err="1">
                <a:solidFill>
                  <a:srgbClr val="61AFEF"/>
                </a:solidFill>
                <a:latin typeface="Fira Code"/>
              </a:rPr>
              <a:t>ReadLine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()); </a:t>
            </a:r>
            <a:endParaRPr lang="en-US" sz="1575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362"/>
              </a:lnSpc>
            </a:pPr>
            <a:r>
              <a:rPr sz="1575" b="0" i="0" u="none" dirty="0" err="1">
                <a:solidFill>
                  <a:srgbClr val="E5C07B"/>
                </a:solidFill>
                <a:latin typeface="Fira Code"/>
              </a:rPr>
              <a:t>Console</a:t>
            </a:r>
            <a:r>
              <a:rPr sz="1575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575" b="0" i="0" u="none" dirty="0" err="1">
                <a:solidFill>
                  <a:srgbClr val="61AFEF"/>
                </a:solidFill>
                <a:latin typeface="Fira Code"/>
              </a:rPr>
              <a:t>WriteLine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(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"Anda </a:t>
            </a:r>
            <a:r>
              <a:rPr sz="1575" b="0" i="0" u="none" dirty="0" err="1">
                <a:solidFill>
                  <a:srgbClr val="98C379"/>
                </a:solidFill>
                <a:latin typeface="Fira Code"/>
              </a:rPr>
              <a:t>membeli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 "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 + </a:t>
            </a:r>
            <a:r>
              <a:rPr sz="1575" b="0" i="0" u="none" dirty="0" err="1">
                <a:solidFill>
                  <a:srgbClr val="E06C75"/>
                </a:solidFill>
                <a:latin typeface="Fira Code"/>
              </a:rPr>
              <a:t>jumlah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 + 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" </a:t>
            </a:r>
            <a:r>
              <a:rPr sz="1575" b="0" i="0" u="none" dirty="0" err="1">
                <a:solidFill>
                  <a:srgbClr val="98C379"/>
                </a:solidFill>
                <a:latin typeface="Fira Code"/>
              </a:rPr>
              <a:t>barang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."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); </a:t>
            </a:r>
            <a:endParaRPr lang="en-US" sz="1575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362"/>
              </a:lnSpc>
            </a:pPr>
            <a:r>
              <a:rPr sz="1575" b="0" i="0" u="none" dirty="0">
                <a:solidFill>
                  <a:srgbClr val="ABB2BF"/>
                </a:solidFill>
                <a:latin typeface="Fira Code"/>
              </a:rPr>
              <a:t>} </a:t>
            </a:r>
            <a:endParaRPr lang="en-US" sz="1575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362"/>
              </a:lnSpc>
            </a:pPr>
            <a:r>
              <a:rPr sz="1575" b="0" i="0" u="none" dirty="0">
                <a:solidFill>
                  <a:srgbClr val="C678DD"/>
                </a:solidFill>
                <a:latin typeface="Fira Code"/>
              </a:rPr>
              <a:t>catch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 (</a:t>
            </a:r>
            <a:r>
              <a:rPr sz="1575" b="0" i="0" u="none" dirty="0" err="1">
                <a:solidFill>
                  <a:srgbClr val="E5C07B"/>
                </a:solidFill>
                <a:latin typeface="Fira Code"/>
              </a:rPr>
              <a:t>FormatException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) { </a:t>
            </a:r>
            <a:r>
              <a:rPr sz="1575" b="0" i="1" u="none" dirty="0">
                <a:solidFill>
                  <a:srgbClr val="7F848E"/>
                </a:solidFill>
                <a:latin typeface="Fira Code"/>
              </a:rPr>
              <a:t>// </a:t>
            </a:r>
            <a:r>
              <a:rPr sz="1575" b="0" i="1" u="none" dirty="0" err="1">
                <a:solidFill>
                  <a:srgbClr val="7F848E"/>
                </a:solidFill>
                <a:latin typeface="Fira Code"/>
              </a:rPr>
              <a:t>Menangkap</a:t>
            </a:r>
            <a:r>
              <a:rPr sz="1575" b="0" i="1" u="none" dirty="0">
                <a:solidFill>
                  <a:srgbClr val="7F848E"/>
                </a:solidFill>
                <a:latin typeface="Fira Code"/>
              </a:rPr>
              <a:t> error format dan </a:t>
            </a:r>
            <a:r>
              <a:rPr sz="1575" b="0" i="1" u="none" dirty="0" err="1">
                <a:solidFill>
                  <a:srgbClr val="7F848E"/>
                </a:solidFill>
                <a:latin typeface="Fira Code"/>
              </a:rPr>
              <a:t>mencegah</a:t>
            </a:r>
            <a:r>
              <a:rPr sz="1575" b="0" i="1" u="none" dirty="0">
                <a:solidFill>
                  <a:srgbClr val="7F848E"/>
                </a:solidFill>
                <a:latin typeface="Fira Code"/>
              </a:rPr>
              <a:t> crash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 </a:t>
            </a:r>
            <a:r>
              <a:rPr sz="1575" b="0" i="0" u="none" dirty="0" err="1">
                <a:solidFill>
                  <a:srgbClr val="E5C07B"/>
                </a:solidFill>
                <a:latin typeface="Fira Code"/>
              </a:rPr>
              <a:t>Console</a:t>
            </a:r>
            <a:r>
              <a:rPr sz="1575" b="0" i="0" u="none" dirty="0" err="1">
                <a:solidFill>
                  <a:srgbClr val="ABB2BF"/>
                </a:solidFill>
                <a:latin typeface="Fira Code"/>
              </a:rPr>
              <a:t>.</a:t>
            </a:r>
            <a:r>
              <a:rPr sz="1575" b="0" i="0" u="none" dirty="0" err="1">
                <a:solidFill>
                  <a:srgbClr val="61AFEF"/>
                </a:solidFill>
                <a:latin typeface="Fira Code"/>
              </a:rPr>
              <a:t>WriteLine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(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"Maaf, input salah! Harap </a:t>
            </a:r>
            <a:r>
              <a:rPr sz="1575" b="0" i="0" u="none" dirty="0" err="1">
                <a:solidFill>
                  <a:srgbClr val="98C379"/>
                </a:solidFill>
                <a:latin typeface="Fira Code"/>
              </a:rPr>
              <a:t>masukkan</a:t>
            </a:r>
            <a:r>
              <a:rPr sz="1575" b="0" i="0" u="none" dirty="0">
                <a:solidFill>
                  <a:srgbClr val="98C379"/>
                </a:solidFill>
                <a:latin typeface="Fira Code"/>
              </a:rPr>
              <a:t> ANGKA."</a:t>
            </a:r>
            <a:r>
              <a:rPr sz="1575" b="0" i="0" u="none" dirty="0">
                <a:solidFill>
                  <a:srgbClr val="ABB2BF"/>
                </a:solidFill>
                <a:latin typeface="Fira Code"/>
              </a:rPr>
              <a:t>); </a:t>
            </a:r>
            <a:endParaRPr lang="en-US" sz="1575" b="0" i="0" u="none" dirty="0">
              <a:solidFill>
                <a:srgbClr val="ABB2BF"/>
              </a:solidFill>
              <a:latin typeface="Fira Code"/>
            </a:endParaRPr>
          </a:p>
          <a:p>
            <a:pPr algn="l">
              <a:lnSpc>
                <a:spcPts val="2362"/>
              </a:lnSpc>
            </a:pPr>
            <a:r>
              <a:rPr sz="1575" b="0" i="0" u="none" dirty="0">
                <a:solidFill>
                  <a:srgbClr val="ABB2BF"/>
                </a:solidFill>
                <a:latin typeface="Fira Code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150" y="5553075"/>
            <a:ext cx="1021377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65F46"/>
                </a:solidFill>
                <a:latin typeface="Inter"/>
              </a:rPr>
              <a:t>Aplikasi Tetap Aman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150" y="5838825"/>
            <a:ext cx="9727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47857"/>
                </a:solidFill>
                <a:latin typeface="Inter"/>
              </a:rPr>
              <a:t>Program tidak crash. Menampilkan pesan error khusus yang lebih mudah dimengerti oleh kasir.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28912"/>
            <a:ext cx="3352800" cy="259080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728912"/>
            <a:ext cx="3352800" cy="259080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28912"/>
            <a:ext cx="3352800" cy="259080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728912"/>
            <a:ext cx="33528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9600" y="2728912"/>
            <a:ext cx="33528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728912"/>
            <a:ext cx="3352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148012"/>
            <a:ext cx="42862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148012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48012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39280" y="1538287"/>
            <a:ext cx="7513439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Space Grotesk"/>
              </a:rPr>
              <a:t>Kesimpulan &amp; Aturan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719512"/>
            <a:ext cx="36004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1F5F9"/>
                </a:solidFill>
                <a:latin typeface="Space Grotesk"/>
              </a:rPr>
              <a:t>Proteksi Interaksi Luar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167187"/>
            <a:ext cx="2838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Wajib digunakan pada input user, pembacaan file, atau koneksi database.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3719512"/>
            <a:ext cx="36004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1F5F9"/>
                </a:solidFill>
                <a:latin typeface="Space Grotesk"/>
              </a:rPr>
              <a:t>Bukan Plester Logika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4167187"/>
            <a:ext cx="2838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Jangan gunakan catch untuk menyembunyikan cacat atau kesalahan algoritma program.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3719512"/>
            <a:ext cx="36004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1F5F9"/>
                </a:solidFill>
                <a:latin typeface="Space Grotesk"/>
              </a:rPr>
              <a:t>Komunikasi Elegan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4167187"/>
            <a:ext cx="2838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Beri tahu letak kesalahan kepada user dengan bahasa yang manusiawi dan jelas.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355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Space Grotesk</vt:lpstr>
      <vt:lpstr>Inter</vt:lpstr>
      <vt:lpstr>Fira Code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ayyub -</cp:lastModifiedBy>
  <cp:revision>3</cp:revision>
  <dcterms:created xsi:type="dcterms:W3CDTF">2013-01-27T09:14:16Z</dcterms:created>
  <dcterms:modified xsi:type="dcterms:W3CDTF">2026-09-29T02:07:44Z</dcterms:modified>
  <cp:category/>
</cp:coreProperties>
</file>