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ndahuluan" id="{B2C1D825-F931-A2A4-DF81-430A0DBF362B}">
          <p14:sldIdLst>
            <p14:sldId id="256"/>
            <p14:sldId id="257"/>
            <p14:sldId id="258"/>
          </p14:sldIdLst>
        </p14:section>
        <p14:section name="for" id="{57802A47-EFA7-7144-921C-94D690254AB4}">
          <p14:sldIdLst>
            <p14:sldId id="259"/>
            <p14:sldId id="260"/>
            <p14:sldId id="261"/>
            <p14:sldId id="262"/>
          </p14:sldIdLst>
        </p14:section>
        <p14:section name="while" id="{DCE19D95-C464-C6EF-F445-4E4ECDEBD798}">
          <p14:sldIdLst>
            <p14:sldId id="263"/>
            <p14:sldId id="264"/>
            <p14:sldId id="265"/>
            <p14:sldId id="266"/>
          </p14:sldIdLst>
        </p14:section>
        <p14:section name="do while" id="{CAC2C9C8-E87A-D700-054D-0E4129DB1D33}">
          <p14:sldIdLst>
            <p14:sldId id="267"/>
            <p14:sldId id="268"/>
            <p14:sldId id="269"/>
            <p14:sldId id="270"/>
          </p14:sldIdLst>
        </p14:section>
        <p14:section name="Perbandingan &amp; Latihan" id="{4D4D0657-3F1D-D300-9EA6-4C4F00952F88}">
          <p14:sldIdLst>
            <p14:sldId id="271"/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4280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Pembuka praktikum. Tujuan: mahasiswa memahami tiga jenis perulangan di C# (for, while, do while), komponen masing-masing, dan kapan memakainya.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Tunjukkan bahwa tanpa perulangan kita menulis perintah yang sama berkali-kali. Dengan perulangan cukup satu blok kode.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Ringkasan tiga jenis perulangan. Detail tiap jenis dibahas di bagian berikutnya.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Inisialisasi hanya dijalankan sekali. Setelah itu urutannya: cek kondisi, jalankan isi, ubah nilai (increment/decrement), lalu kembali ke cek kondisi.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Pada sintaks, tiga bagian dipisah per baris hanya agar jelas. Dalam praktik biasanya ditulis dalam satu baris seperti pada contoh.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Minta mahasiswa menebak output sebelum dijalankan. Perhatikan i berhenti di 6 karena kondisi i &lt;= 5 bernilai false.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Decrement dipakai untuk hitung mundur; i += n untuk langkah selain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Inisialisasi ditulis sebelum while. Increment/decrement ditulis di dalam isi perulangan, bukan di dalam kurung.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Bedakan dengan for: ketiga komponen tersebar di tiga tempat. Mudah lupa menulis i++ sehingga terjadi infinite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Bandingkan hasilnya dengan contoh for pada materi sebelumnya: outputnya sama, hanya cara menulisnya yang berbeda.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Inilah situasi ketika while lebih tepat daripada for: kita tidak tahu berapa kali pengguna akan mengetik.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Perbedaan utamanya dengan while: urutan isi dan pengecekan kondisi terbalik.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Tekankan titik koma setelah while(kondisi) pada do while. Ini sering terlupa.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Contoh 2 adalah inti perbedaan do while: walaupun kondisi salah dari awal, blok tetap dijalankan sekali.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Menu adalah contoh klasik do while karena menu harus ditampilkan dulu sebelum pilihan pengguna bisa dicek.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Gunakan tabel ini sebagai rangkuman. Pilih for jika jumlah putaran jelas, while jika bergantung kondisi, do while jika isi harus berjalan dulu.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Minta mahasiswa menyengaja membuat kesalahan ini di Visual Studio lalu mengamati hasilnya. Hentikan infinite loop dengan Ctrl +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Kerjakan berurutan. Soal 5 adalah tantangan tambahan bagi yang sudah selesai.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Tutup dengan menegaskan kapan memakai tiap perulangan, lalu arahkan ke latihan.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371600"/>
            <a:ext cx="44805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 materi"/>
          <p:cNvSpPr txBox="1"/>
          <p:nvPr/>
        </p:nvSpPr>
        <p:spPr>
          <a:xfrm>
            <a:off x="548640" y="868680"/>
            <a:ext cx="201168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chemeClr val="bg1"/>
                </a:solidFill>
              </a:rPr>
              <a:t>MATERI PRAKTIKUM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371600"/>
            <a:ext cx="4480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Perulangan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(Looping) pada C#</a:t>
            </a:r>
            <a:endParaRPr lang="en-US" sz="3400" dirty="0"/>
          </a:p>
        </p:txBody>
      </p:sp>
      <p:sp>
        <p:nvSpPr>
          <p:cNvPr id="4" name="Subjudul"/>
          <p:cNvSpPr txBox="1"/>
          <p:nvPr/>
        </p:nvSpPr>
        <p:spPr>
          <a:xfrm>
            <a:off x="548640" y="27889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4A3FF"/>
                </a:solidFill>
              </a:rPr>
              <a:t>for  •  while  •  do while</a:t>
            </a:r>
            <a:endParaRPr lang="en-US" sz="2000" dirty="0"/>
          </a:p>
        </p:txBody>
      </p:sp>
      <p:sp>
        <p:nvSpPr>
          <p:cNvPr id="5" name="Keterangan"/>
          <p:cNvSpPr txBox="1"/>
          <p:nvPr/>
        </p:nvSpPr>
        <p:spPr>
          <a:xfrm>
            <a:off x="548640" y="4114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9AEE0"/>
                </a:solidFill>
              </a:rPr>
              <a:t>Pemrograman C# (aplikasi konsol)</a:t>
            </a:r>
            <a:endParaRPr lang="en-US" sz="1400" dirty="0"/>
          </a:p>
        </p:txBody>
      </p:sp>
      <p:sp>
        <p:nvSpPr>
          <p:cNvPr id="6" name="Panel kode"/>
          <p:cNvSpPr/>
          <p:nvPr/>
        </p:nvSpPr>
        <p:spPr>
          <a:xfrm>
            <a:off x="5120640" y="1280160"/>
            <a:ext cx="3566160" cy="1316736"/>
          </a:xfrm>
          <a:prstGeom prst="roundRect">
            <a:avLst>
              <a:gd name="adj" fmla="val 5556"/>
            </a:avLst>
          </a:prstGeom>
          <a:solidFill>
            <a:schemeClr val="tx2"/>
          </a:solidFill>
          <a:ln/>
        </p:spPr>
      </p:sp>
      <p:sp>
        <p:nvSpPr>
          <p:cNvPr id="7" name="Label panel"/>
          <p:cNvSpPr txBox="1"/>
          <p:nvPr/>
        </p:nvSpPr>
        <p:spPr>
          <a:xfrm>
            <a:off x="5303520" y="135331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9AEE0"/>
                </a:solidFill>
              </a:rPr>
              <a:t>CONTOH</a:t>
            </a:r>
            <a:endParaRPr lang="en-US" sz="1100" dirty="0"/>
          </a:p>
        </p:txBody>
      </p:sp>
      <p:sp>
        <p:nvSpPr>
          <p:cNvPr id="8" name="Kode"/>
          <p:cNvSpPr txBox="1"/>
          <p:nvPr/>
        </p:nvSpPr>
        <p:spPr>
          <a:xfrm>
            <a:off x="5303520" y="1591056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4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400" b="1" dirty="0">
                <a:solidFill>
                  <a:srgbClr val="5FE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i = 1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r>
              <a:rPr lang="en-US" sz="1400" b="1" dirty="0">
                <a:solidFill>
                  <a:srgbClr val="FFC2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&lt;= 3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r>
              <a:rPr lang="en-US" sz="1400" b="1" dirty="0">
                <a:solidFill>
                  <a:srgbClr val="FF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i++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00" dirty="0">
                <a:solidFill>
                  <a:srgbClr val="8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9" name="Panel output"/>
          <p:cNvSpPr/>
          <p:nvPr/>
        </p:nvSpPr>
        <p:spPr>
          <a:xfrm>
            <a:off x="5120640" y="2706624"/>
            <a:ext cx="356616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</p:sp>
      <p:sp>
        <p:nvSpPr>
          <p:cNvPr id="10" name="Teks output"/>
          <p:cNvSpPr txBox="1"/>
          <p:nvPr/>
        </p:nvSpPr>
        <p:spPr>
          <a:xfrm>
            <a:off x="5303520" y="270662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3DCF2"/>
                </a:solidFill>
              </a:rPr>
              <a:t>OUTPUT   </a:t>
            </a: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1  2  3</a:t>
            </a:r>
            <a:endParaRPr lang="en-US" sz="1200" dirty="0"/>
          </a:p>
        </p:txBody>
      </p:sp>
      <p:sp>
        <p:nvSpPr>
          <p:cNvPr id="11" name="Label jenis"/>
          <p:cNvSpPr txBox="1"/>
          <p:nvPr/>
        </p:nvSpPr>
        <p:spPr>
          <a:xfrm>
            <a:off x="5120640" y="3566160"/>
            <a:ext cx="109728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endParaRPr lang="en-US" sz="1400" dirty="0"/>
          </a:p>
        </p:txBody>
      </p:sp>
      <p:sp>
        <p:nvSpPr>
          <p:cNvPr id="12" name="Label jenis"/>
          <p:cNvSpPr txBox="1"/>
          <p:nvPr/>
        </p:nvSpPr>
        <p:spPr>
          <a:xfrm>
            <a:off x="6355080" y="3566160"/>
            <a:ext cx="109728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endParaRPr lang="en-US" sz="1400" dirty="0"/>
          </a:p>
        </p:txBody>
      </p:sp>
      <p:sp>
        <p:nvSpPr>
          <p:cNvPr id="13" name="Label jenis"/>
          <p:cNvSpPr txBox="1"/>
          <p:nvPr/>
        </p:nvSpPr>
        <p:spPr>
          <a:xfrm>
            <a:off x="7589520" y="3566160"/>
            <a:ext cx="109728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while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Apa itu Perulangan?</a:t>
            </a:r>
            <a:endParaRPr lang="en-US" sz="3600" dirty="0"/>
          </a:p>
        </p:txBody>
      </p:sp>
      <p:sp>
        <p:nvSpPr>
          <p:cNvPr id="3" name="Pengertian"/>
          <p:cNvSpPr txBox="1"/>
          <p:nvPr/>
        </p:nvSpPr>
        <p:spPr>
          <a:xfrm>
            <a:off x="457200" y="10972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Perulangan (looping) adalah struktur kontrol yang menjalankan blok kode yang sama berulang kali selama suatu kondisi bernilai true. Kedua kode di bawah menghasilkan output yang sama.</a:t>
            </a:r>
            <a:endParaRPr lang="en-US" sz="1600" dirty="0"/>
          </a:p>
        </p:txBody>
      </p:sp>
      <p:sp>
        <p:nvSpPr>
          <p:cNvPr id="4" name="Label tanpa perulangan"/>
          <p:cNvSpPr txBox="1"/>
          <p:nvPr/>
        </p:nvSpPr>
        <p:spPr>
          <a:xfrm>
            <a:off x="457200" y="2011680"/>
            <a:ext cx="2011680" cy="29260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Tanpa perulangan</a:t>
            </a:r>
            <a:endParaRPr lang="en-US" sz="1400" dirty="0"/>
          </a:p>
        </p:txBody>
      </p:sp>
      <p:sp>
        <p:nvSpPr>
          <p:cNvPr id="5" name="Label dengan perulangan"/>
          <p:cNvSpPr txBox="1"/>
          <p:nvPr/>
        </p:nvSpPr>
        <p:spPr>
          <a:xfrm>
            <a:off x="4663440" y="2011680"/>
            <a:ext cx="2194560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Dengan perulangan</a:t>
            </a:r>
            <a:endParaRPr lang="en-US" sz="1400" dirty="0"/>
          </a:p>
        </p:txBody>
      </p:sp>
      <p:sp>
        <p:nvSpPr>
          <p:cNvPr id="6" name="Panel kode"/>
          <p:cNvSpPr/>
          <p:nvPr/>
        </p:nvSpPr>
        <p:spPr>
          <a:xfrm>
            <a:off x="457200" y="2395728"/>
            <a:ext cx="4023360" cy="1371600"/>
          </a:xfrm>
          <a:prstGeom prst="roundRect">
            <a:avLst>
              <a:gd name="adj" fmla="val 5333"/>
            </a:avLst>
          </a:prstGeom>
          <a:solidFill>
            <a:schemeClr val="tx1"/>
          </a:solidFill>
          <a:ln/>
        </p:spPr>
      </p:sp>
      <p:sp>
        <p:nvSpPr>
          <p:cNvPr id="7" name="Kode"/>
          <p:cNvSpPr txBox="1"/>
          <p:nvPr/>
        </p:nvSpPr>
        <p:spPr>
          <a:xfrm>
            <a:off x="640080" y="2532888"/>
            <a:ext cx="3703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dirty="0">
                <a:solidFill>
                  <a:srgbClr val="F5B5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"Halo"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dirty="0">
                <a:solidFill>
                  <a:srgbClr val="F5B5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"Halo"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dirty="0">
                <a:solidFill>
                  <a:srgbClr val="F5B5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"Halo"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dirty="0">
                <a:solidFill>
                  <a:srgbClr val="F5B5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"Halo"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dirty="0">
                <a:solidFill>
                  <a:srgbClr val="F5B5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"Halo"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00" dirty="0"/>
          </a:p>
        </p:txBody>
      </p:sp>
      <p:sp>
        <p:nvSpPr>
          <p:cNvPr id="8" name="Panel kode"/>
          <p:cNvSpPr/>
          <p:nvPr/>
        </p:nvSpPr>
        <p:spPr>
          <a:xfrm>
            <a:off x="4663440" y="2395728"/>
            <a:ext cx="4023360" cy="1371600"/>
          </a:xfrm>
          <a:prstGeom prst="roundRect">
            <a:avLst>
              <a:gd name="adj" fmla="val 5333"/>
            </a:avLst>
          </a:prstGeom>
          <a:solidFill>
            <a:schemeClr val="tx1"/>
          </a:solidFill>
          <a:ln/>
        </p:spPr>
      </p:sp>
      <p:sp>
        <p:nvSpPr>
          <p:cNvPr id="9" name="Kode"/>
          <p:cNvSpPr txBox="1"/>
          <p:nvPr/>
        </p:nvSpPr>
        <p:spPr>
          <a:xfrm>
            <a:off x="4846320" y="2532888"/>
            <a:ext cx="3703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4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400" b="1" dirty="0">
                <a:solidFill>
                  <a:srgbClr val="5FE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i = 0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r>
              <a:rPr lang="en-US" sz="1400" b="1" dirty="0">
                <a:solidFill>
                  <a:srgbClr val="FFC2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&lt; 5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r>
              <a:rPr lang="en-US" sz="1400" b="1" dirty="0">
                <a:solidFill>
                  <a:srgbClr val="FF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i++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00" dirty="0">
                <a:solidFill>
                  <a:srgbClr val="8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dirty="0">
                <a:solidFill>
                  <a:srgbClr val="F5B5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"Halo"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10" name="Catatan kiri"/>
          <p:cNvSpPr txBox="1"/>
          <p:nvPr/>
        </p:nvSpPr>
        <p:spPr>
          <a:xfrm>
            <a:off x="457200" y="385876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Kode panjang, diulang manual, dan sulit diubah jumlahnya.</a:t>
            </a:r>
            <a:endParaRPr lang="en-US" sz="1400" dirty="0"/>
          </a:p>
        </p:txBody>
      </p:sp>
      <p:sp>
        <p:nvSpPr>
          <p:cNvPr id="11" name="Catatan kanan"/>
          <p:cNvSpPr txBox="1"/>
          <p:nvPr/>
        </p:nvSpPr>
        <p:spPr>
          <a:xfrm>
            <a:off x="4663440" y="385876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Ringkas: cukup ubah angka 5 untuk mengatur jumlah pengulangan.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Jenis Perulangan di C#</a:t>
            </a:r>
            <a:endParaRPr lang="en-US" sz="3600" dirty="0"/>
          </a:p>
        </p:txBody>
      </p:sp>
      <p:sp>
        <p:nvSpPr>
          <p:cNvPr id="3" name="Kartu jenis for"/>
          <p:cNvSpPr/>
          <p:nvPr/>
        </p:nvSpPr>
        <p:spPr>
          <a:xfrm>
            <a:off x="457200" y="1143000"/>
            <a:ext cx="2606040" cy="310896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/>
        </p:spPr>
      </p:sp>
      <p:sp>
        <p:nvSpPr>
          <p:cNvPr id="4" name="Lingkaran ikon"/>
          <p:cNvSpPr/>
          <p:nvPr/>
        </p:nvSpPr>
        <p:spPr>
          <a:xfrm>
            <a:off x="685800" y="13716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ListO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1543050"/>
            <a:ext cx="342900" cy="342900"/>
          </a:xfrm>
          <a:prstGeom prst="rect">
            <a:avLst/>
          </a:prstGeom>
        </p:spPr>
      </p:pic>
      <p:sp>
        <p:nvSpPr>
          <p:cNvPr id="6" name="Nama jenis"/>
          <p:cNvSpPr txBox="1"/>
          <p:nvPr/>
        </p:nvSpPr>
        <p:spPr>
          <a:xfrm>
            <a:off x="685800" y="216712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endParaRPr lang="en-US" sz="2400" dirty="0"/>
          </a:p>
        </p:txBody>
      </p:sp>
      <p:sp>
        <p:nvSpPr>
          <p:cNvPr id="7" name="Label kapan"/>
          <p:cNvSpPr txBox="1"/>
          <p:nvPr/>
        </p:nvSpPr>
        <p:spPr>
          <a:xfrm>
            <a:off x="685800" y="26974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chemeClr val="accent6"/>
                </a:solidFill>
              </a:rPr>
              <a:t>KAPAN DIPAKAI</a:t>
            </a:r>
            <a:endParaRPr lang="en-US" sz="1100" dirty="0"/>
          </a:p>
        </p:txBody>
      </p:sp>
      <p:sp>
        <p:nvSpPr>
          <p:cNvPr id="8" name="Isi kapan"/>
          <p:cNvSpPr txBox="1"/>
          <p:nvPr/>
        </p:nvSpPr>
        <p:spPr>
          <a:xfrm>
            <a:off x="685800" y="2916936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Jumlah perulangan sudah diketahui</a:t>
            </a:r>
            <a:endParaRPr lang="en-US" sz="1400" dirty="0"/>
          </a:p>
        </p:txBody>
      </p:sp>
      <p:sp>
        <p:nvSpPr>
          <p:cNvPr id="9" name="Label cek"/>
          <p:cNvSpPr txBox="1"/>
          <p:nvPr/>
        </p:nvSpPr>
        <p:spPr>
          <a:xfrm>
            <a:off x="685800" y="363016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chemeClr val="accent6"/>
                </a:solidFill>
              </a:rPr>
              <a:t>PENGECEKAN KONDISI</a:t>
            </a:r>
            <a:endParaRPr lang="en-US" sz="1100" dirty="0"/>
          </a:p>
        </p:txBody>
      </p:sp>
      <p:sp>
        <p:nvSpPr>
          <p:cNvPr id="10" name="Isi cek"/>
          <p:cNvSpPr txBox="1"/>
          <p:nvPr/>
        </p:nvSpPr>
        <p:spPr>
          <a:xfrm>
            <a:off x="685800" y="384962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Di awal</a:t>
            </a:r>
            <a:endParaRPr lang="en-US" sz="1400" dirty="0"/>
          </a:p>
        </p:txBody>
      </p:sp>
      <p:sp>
        <p:nvSpPr>
          <p:cNvPr id="11" name="Kartu jenis while"/>
          <p:cNvSpPr/>
          <p:nvPr/>
        </p:nvSpPr>
        <p:spPr>
          <a:xfrm>
            <a:off x="3268980" y="1143000"/>
            <a:ext cx="2606040" cy="310896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/>
        </p:spPr>
      </p:sp>
      <p:sp>
        <p:nvSpPr>
          <p:cNvPr id="12" name="Lingkaran ikon"/>
          <p:cNvSpPr/>
          <p:nvPr/>
        </p:nvSpPr>
        <p:spPr>
          <a:xfrm>
            <a:off x="3497580" y="13716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1" descr="QuestionCirc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9030" y="1543050"/>
            <a:ext cx="342900" cy="342900"/>
          </a:xfrm>
          <a:prstGeom prst="rect">
            <a:avLst/>
          </a:prstGeom>
        </p:spPr>
      </p:pic>
      <p:sp>
        <p:nvSpPr>
          <p:cNvPr id="14" name="Nama jenis"/>
          <p:cNvSpPr txBox="1"/>
          <p:nvPr/>
        </p:nvSpPr>
        <p:spPr>
          <a:xfrm>
            <a:off x="3497580" y="216712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endParaRPr lang="en-US" sz="2400" dirty="0"/>
          </a:p>
        </p:txBody>
      </p:sp>
      <p:sp>
        <p:nvSpPr>
          <p:cNvPr id="15" name="Label kapan"/>
          <p:cNvSpPr txBox="1"/>
          <p:nvPr/>
        </p:nvSpPr>
        <p:spPr>
          <a:xfrm>
            <a:off x="3497580" y="26974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chemeClr val="accent6"/>
                </a:solidFill>
              </a:rPr>
              <a:t>KAPAN DIPAKAI</a:t>
            </a:r>
            <a:endParaRPr lang="en-US" sz="1100" dirty="0"/>
          </a:p>
        </p:txBody>
      </p:sp>
      <p:sp>
        <p:nvSpPr>
          <p:cNvPr id="16" name="Isi kapan"/>
          <p:cNvSpPr txBox="1"/>
          <p:nvPr/>
        </p:nvSpPr>
        <p:spPr>
          <a:xfrm>
            <a:off x="3497580" y="2916936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Jumlah perulangan belum pasti, bergantung kondisi</a:t>
            </a:r>
            <a:endParaRPr lang="en-US" sz="1400" dirty="0"/>
          </a:p>
        </p:txBody>
      </p:sp>
      <p:sp>
        <p:nvSpPr>
          <p:cNvPr id="17" name="Label cek"/>
          <p:cNvSpPr txBox="1"/>
          <p:nvPr/>
        </p:nvSpPr>
        <p:spPr>
          <a:xfrm>
            <a:off x="3497580" y="363016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chemeClr val="accent6"/>
                </a:solidFill>
              </a:rPr>
              <a:t>PENGECEKAN KONDISI</a:t>
            </a:r>
            <a:endParaRPr lang="en-US" sz="1100" dirty="0"/>
          </a:p>
        </p:txBody>
      </p:sp>
      <p:sp>
        <p:nvSpPr>
          <p:cNvPr id="18" name="Isi cek"/>
          <p:cNvSpPr txBox="1"/>
          <p:nvPr/>
        </p:nvSpPr>
        <p:spPr>
          <a:xfrm>
            <a:off x="3497580" y="384962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Di awal</a:t>
            </a:r>
            <a:endParaRPr lang="en-US" sz="1400" dirty="0"/>
          </a:p>
        </p:txBody>
      </p:sp>
      <p:sp>
        <p:nvSpPr>
          <p:cNvPr id="19" name="Kartu jenis do while"/>
          <p:cNvSpPr/>
          <p:nvPr/>
        </p:nvSpPr>
        <p:spPr>
          <a:xfrm>
            <a:off x="6080760" y="1143000"/>
            <a:ext cx="2606040" cy="310896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/>
        </p:spPr>
      </p:sp>
      <p:sp>
        <p:nvSpPr>
          <p:cNvPr id="20" name="Lingkaran ikon"/>
          <p:cNvSpPr/>
          <p:nvPr/>
        </p:nvSpPr>
        <p:spPr>
          <a:xfrm>
            <a:off x="6309360" y="13716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mage 2" descr="Pla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0810" y="1543050"/>
            <a:ext cx="342900" cy="342900"/>
          </a:xfrm>
          <a:prstGeom prst="rect">
            <a:avLst/>
          </a:prstGeom>
        </p:spPr>
      </p:pic>
      <p:sp>
        <p:nvSpPr>
          <p:cNvPr id="22" name="Nama jenis"/>
          <p:cNvSpPr txBox="1"/>
          <p:nvPr/>
        </p:nvSpPr>
        <p:spPr>
          <a:xfrm>
            <a:off x="6309360" y="216712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while</a:t>
            </a:r>
            <a:endParaRPr lang="en-US" sz="2400" dirty="0"/>
          </a:p>
        </p:txBody>
      </p:sp>
      <p:sp>
        <p:nvSpPr>
          <p:cNvPr id="23" name="Label kapan"/>
          <p:cNvSpPr txBox="1"/>
          <p:nvPr/>
        </p:nvSpPr>
        <p:spPr>
          <a:xfrm>
            <a:off x="6309360" y="26974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chemeClr val="accent6"/>
                </a:solidFill>
              </a:rPr>
              <a:t>KAPAN DIPAKAI</a:t>
            </a:r>
            <a:endParaRPr lang="en-US" sz="1100" dirty="0"/>
          </a:p>
        </p:txBody>
      </p:sp>
      <p:sp>
        <p:nvSpPr>
          <p:cNvPr id="24" name="Isi kapan"/>
          <p:cNvSpPr txBox="1"/>
          <p:nvPr/>
        </p:nvSpPr>
        <p:spPr>
          <a:xfrm>
            <a:off x="6309360" y="2916936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Isi harus dijalankan minimal satu kali</a:t>
            </a:r>
            <a:endParaRPr lang="en-US" sz="1400" dirty="0"/>
          </a:p>
        </p:txBody>
      </p:sp>
      <p:sp>
        <p:nvSpPr>
          <p:cNvPr id="25" name="Label cek"/>
          <p:cNvSpPr txBox="1"/>
          <p:nvPr/>
        </p:nvSpPr>
        <p:spPr>
          <a:xfrm>
            <a:off x="6309360" y="363016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chemeClr val="accent6"/>
                </a:solidFill>
              </a:rPr>
              <a:t>PENGECEKAN KONDISI</a:t>
            </a:r>
            <a:endParaRPr lang="en-US" sz="1100" dirty="0"/>
          </a:p>
        </p:txBody>
      </p:sp>
      <p:sp>
        <p:nvSpPr>
          <p:cNvPr id="26" name="Isi cek"/>
          <p:cNvSpPr txBox="1"/>
          <p:nvPr/>
        </p:nvSpPr>
        <p:spPr>
          <a:xfrm>
            <a:off x="6309360" y="384962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Di akhir</a:t>
            </a:r>
            <a:endParaRPr lang="en-US" sz="1400" dirty="0"/>
          </a:p>
        </p:txBody>
      </p:sp>
      <p:sp>
        <p:nvSpPr>
          <p:cNvPr id="27" name="Catatan foreach"/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foreach (untuk array dan koleksi) dibahas pada materi berikutnya.</a:t>
            </a:r>
            <a:endParaRPr lang="en-US" sz="12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for: Pengertian &amp; Kegunaan</a:t>
            </a:r>
            <a:endParaRPr lang="en-US" sz="3600" dirty="0"/>
          </a:p>
        </p:txBody>
      </p:sp>
      <p:sp>
        <p:nvSpPr>
          <p:cNvPr id="3" name="Pengertian"/>
          <p:cNvSpPr txBox="1"/>
          <p:nvPr/>
        </p:nvSpPr>
        <p:spPr>
          <a:xfrm>
            <a:off x="457200" y="109728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Perulangan for dipakai saat jumlah perulangan sudah diketahui atau bisa dihitung sejak awal. Seluruh pengaturan perulangan ditulis rapi dalam satu baris.</a:t>
            </a:r>
            <a:endParaRPr lang="en-US" sz="1600" dirty="0"/>
          </a:p>
        </p:txBody>
      </p:sp>
      <p:sp>
        <p:nvSpPr>
          <p:cNvPr id="4" name="Poin penting"/>
          <p:cNvSpPr/>
          <p:nvPr/>
        </p:nvSpPr>
        <p:spPr>
          <a:xfrm>
            <a:off x="457200" y="2331720"/>
            <a:ext cx="475488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5" name="Lingkaran ikon"/>
          <p:cNvSpPr/>
          <p:nvPr/>
        </p:nvSpPr>
        <p:spPr>
          <a:xfrm>
            <a:off x="640080" y="25603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Lightbulb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2674620"/>
            <a:ext cx="228600" cy="228600"/>
          </a:xfrm>
          <a:prstGeom prst="rect">
            <a:avLst/>
          </a:prstGeom>
        </p:spPr>
      </p:pic>
      <p:sp>
        <p:nvSpPr>
          <p:cNvPr id="7" name="Teks poin penting"/>
          <p:cNvSpPr txBox="1"/>
          <p:nvPr/>
        </p:nvSpPr>
        <p:spPr>
          <a:xfrm>
            <a:off x="1280160" y="233172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Inisialisasi, kondisi, dan increment/decrement berada dalam satu baris, sehingga alurnya mudah dibaca.</a:t>
            </a:r>
            <a:endParaRPr lang="en-US" sz="1400" dirty="0"/>
          </a:p>
        </p:txBody>
      </p:sp>
      <p:sp>
        <p:nvSpPr>
          <p:cNvPr id="8" name="Judul kegunaan"/>
          <p:cNvSpPr txBox="1"/>
          <p:nvPr/>
        </p:nvSpPr>
        <p:spPr>
          <a:xfrm>
            <a:off x="5577840" y="10972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Cocok untuk</a:t>
            </a:r>
            <a:endParaRPr lang="en-US" sz="1600" dirty="0"/>
          </a:p>
        </p:txBody>
      </p:sp>
      <p:pic>
        <p:nvPicPr>
          <p:cNvPr id="9" name="Image 1" descr="centa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1645920"/>
            <a:ext cx="237744" cy="237744"/>
          </a:xfrm>
          <a:prstGeom prst="rect">
            <a:avLst/>
          </a:prstGeom>
        </p:spPr>
      </p:pic>
      <p:sp>
        <p:nvSpPr>
          <p:cNvPr id="10" name="Kegunaan 1"/>
          <p:cNvSpPr txBox="1"/>
          <p:nvPr/>
        </p:nvSpPr>
        <p:spPr>
          <a:xfrm>
            <a:off x="5943600" y="155448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Mencetak deret angka</a:t>
            </a:r>
            <a:endParaRPr lang="en-US" sz="1400" dirty="0"/>
          </a:p>
        </p:txBody>
      </p:sp>
      <p:pic>
        <p:nvPicPr>
          <p:cNvPr id="11" name="Image 2" descr="centa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2103120"/>
            <a:ext cx="237744" cy="237744"/>
          </a:xfrm>
          <a:prstGeom prst="rect">
            <a:avLst/>
          </a:prstGeom>
        </p:spPr>
      </p:pic>
      <p:sp>
        <p:nvSpPr>
          <p:cNvPr id="12" name="Kegunaan 2"/>
          <p:cNvSpPr txBox="1"/>
          <p:nvPr/>
        </p:nvSpPr>
        <p:spPr>
          <a:xfrm>
            <a:off x="5943600" y="201168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Menjumlahkan data berurutan</a:t>
            </a:r>
            <a:endParaRPr lang="en-US" sz="1400" dirty="0"/>
          </a:p>
        </p:txBody>
      </p:sp>
      <p:pic>
        <p:nvPicPr>
          <p:cNvPr id="13" name="Image 3" descr="centa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2560320"/>
            <a:ext cx="237744" cy="237744"/>
          </a:xfrm>
          <a:prstGeom prst="rect">
            <a:avLst/>
          </a:prstGeom>
        </p:spPr>
      </p:pic>
      <p:sp>
        <p:nvSpPr>
          <p:cNvPr id="14" name="Kegunaan 3"/>
          <p:cNvSpPr txBox="1"/>
          <p:nvPr/>
        </p:nvSpPr>
        <p:spPr>
          <a:xfrm>
            <a:off x="5943600" y="246888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Mengakses array lewat indeks</a:t>
            </a:r>
            <a:endParaRPr lang="en-US" sz="1400" dirty="0"/>
          </a:p>
        </p:txBody>
      </p:sp>
      <p:pic>
        <p:nvPicPr>
          <p:cNvPr id="15" name="Image 4" descr="centa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3017520"/>
            <a:ext cx="237744" cy="237744"/>
          </a:xfrm>
          <a:prstGeom prst="rect">
            <a:avLst/>
          </a:prstGeom>
        </p:spPr>
      </p:pic>
      <p:sp>
        <p:nvSpPr>
          <p:cNvPr id="16" name="Kegunaan 4"/>
          <p:cNvSpPr txBox="1"/>
          <p:nvPr/>
        </p:nvSpPr>
        <p:spPr>
          <a:xfrm>
            <a:off x="5943600" y="292608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Membuat pola dan tabel perkalian</a:t>
            </a:r>
            <a:endParaRPr lang="en-US" sz="1400" dirty="0"/>
          </a:p>
        </p:txBody>
      </p:sp>
      <p:sp>
        <p:nvSpPr>
          <p:cNvPr id="17" name="Langkah 1"/>
          <p:cNvSpPr txBox="1"/>
          <p:nvPr/>
        </p:nvSpPr>
        <p:spPr>
          <a:xfrm>
            <a:off x="457200" y="3611880"/>
            <a:ext cx="1737360" cy="594360"/>
          </a:xfrm>
          <a:prstGeom prst="roundRect">
            <a:avLst>
              <a:gd name="adj" fmla="val 12308"/>
            </a:avLst>
          </a:prstGeom>
          <a:solidFill>
            <a:schemeClr val="accent2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1. Inisialisasi</a:t>
            </a:r>
            <a:endParaRPr lang="en-US" sz="1400" dirty="0"/>
          </a:p>
        </p:txBody>
      </p:sp>
      <p:sp>
        <p:nvSpPr>
          <p:cNvPr id="18" name="Panah"/>
          <p:cNvSpPr/>
          <p:nvPr/>
        </p:nvSpPr>
        <p:spPr>
          <a:xfrm>
            <a:off x="2240280" y="3909060"/>
            <a:ext cx="33528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9" name="Langkah 2"/>
          <p:cNvSpPr txBox="1"/>
          <p:nvPr/>
        </p:nvSpPr>
        <p:spPr>
          <a:xfrm>
            <a:off x="2621280" y="3611880"/>
            <a:ext cx="1737360" cy="594360"/>
          </a:xfrm>
          <a:prstGeom prst="roundRect">
            <a:avLst>
              <a:gd name="adj" fmla="val 12308"/>
            </a:avLst>
          </a:prstGeom>
          <a:solidFill>
            <a:schemeClr val="accent3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2. Kondisi?</a:t>
            </a:r>
            <a:endParaRPr lang="en-US" sz="1400" dirty="0"/>
          </a:p>
        </p:txBody>
      </p:sp>
      <p:sp>
        <p:nvSpPr>
          <p:cNvPr id="20" name="Panah"/>
          <p:cNvSpPr/>
          <p:nvPr/>
        </p:nvSpPr>
        <p:spPr>
          <a:xfrm>
            <a:off x="4404360" y="3909060"/>
            <a:ext cx="33528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1" name="Langkah 3"/>
          <p:cNvSpPr txBox="1"/>
          <p:nvPr/>
        </p:nvSpPr>
        <p:spPr>
          <a:xfrm>
            <a:off x="4785360" y="3611880"/>
            <a:ext cx="1737360" cy="594360"/>
          </a:xfrm>
          <a:prstGeom prst="roundRect">
            <a:avLst>
              <a:gd name="adj" fmla="val 12308"/>
            </a:avLst>
          </a:prstGeom>
          <a:solidFill>
            <a:schemeClr val="accent1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3. Isi perulangan</a:t>
            </a:r>
            <a:endParaRPr lang="en-US" sz="1400" dirty="0"/>
          </a:p>
        </p:txBody>
      </p:sp>
      <p:sp>
        <p:nvSpPr>
          <p:cNvPr id="22" name="Panah"/>
          <p:cNvSpPr/>
          <p:nvPr/>
        </p:nvSpPr>
        <p:spPr>
          <a:xfrm>
            <a:off x="6568440" y="3909060"/>
            <a:ext cx="33528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3" name="Langkah 4"/>
          <p:cNvSpPr txBox="1"/>
          <p:nvPr/>
        </p:nvSpPr>
        <p:spPr>
          <a:xfrm>
            <a:off x="6949440" y="3611880"/>
            <a:ext cx="1737360" cy="594360"/>
          </a:xfrm>
          <a:prstGeom prst="roundRect">
            <a:avLst>
              <a:gd name="adj" fmla="val 12308"/>
            </a:avLst>
          </a:prstGeom>
          <a:solidFill>
            <a:schemeClr val="accent4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4. i++ / i--</a:t>
            </a:r>
            <a:endParaRPr lang="en-US" sz="1400" dirty="0"/>
          </a:p>
        </p:txBody>
      </p:sp>
      <p:sp>
        <p:nvSpPr>
          <p:cNvPr id="24" name="Garis balik"/>
          <p:cNvSpPr/>
          <p:nvPr/>
        </p:nvSpPr>
        <p:spPr>
          <a:xfrm>
            <a:off x="7818120" y="4206240"/>
            <a:ext cx="0" cy="201168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25" name="Garis balik"/>
          <p:cNvSpPr/>
          <p:nvPr/>
        </p:nvSpPr>
        <p:spPr>
          <a:xfrm>
            <a:off x="3489960" y="4407408"/>
            <a:ext cx="432816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26" name="Panah balik"/>
          <p:cNvSpPr/>
          <p:nvPr/>
        </p:nvSpPr>
        <p:spPr>
          <a:xfrm flipV="1">
            <a:off x="3489960" y="4206240"/>
            <a:ext cx="0" cy="201168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7" name="Keterangan alur"/>
          <p:cNvSpPr txBox="1"/>
          <p:nvPr/>
        </p:nvSpPr>
        <p:spPr>
          <a:xfrm>
            <a:off x="3916680" y="444398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kondisi true: ulangi lagi  |  false: keluar</a:t>
            </a:r>
            <a:endParaRPr lang="en-US" sz="12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for: Sintaks &amp; Komponen</a:t>
            </a:r>
            <a:endParaRPr lang="en-US" sz="3600" dirty="0"/>
          </a:p>
        </p:txBody>
      </p:sp>
      <p:sp>
        <p:nvSpPr>
          <p:cNvPr id="3" name="Panel kode"/>
          <p:cNvSpPr/>
          <p:nvPr/>
        </p:nvSpPr>
        <p:spPr>
          <a:xfrm>
            <a:off x="457200" y="1097280"/>
            <a:ext cx="4023360" cy="2002536"/>
          </a:xfrm>
          <a:prstGeom prst="roundRect">
            <a:avLst>
              <a:gd name="adj" fmla="val 3653"/>
            </a:avLst>
          </a:prstGeom>
          <a:solidFill>
            <a:schemeClr val="tx1"/>
          </a:solidFill>
          <a:ln/>
        </p:spPr>
      </p:sp>
      <p:sp>
        <p:nvSpPr>
          <p:cNvPr id="4" name="Label panel"/>
          <p:cNvSpPr txBox="1"/>
          <p:nvPr/>
        </p:nvSpPr>
        <p:spPr>
          <a:xfrm>
            <a:off x="640080" y="117043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9AEE0"/>
                </a:solidFill>
              </a:rPr>
              <a:t>SINTAKS</a:t>
            </a:r>
            <a:endParaRPr lang="en-US" sz="1100" dirty="0"/>
          </a:p>
        </p:txBody>
      </p:sp>
      <p:sp>
        <p:nvSpPr>
          <p:cNvPr id="5" name="Kode"/>
          <p:cNvSpPr txBox="1"/>
          <p:nvPr/>
        </p:nvSpPr>
        <p:spPr>
          <a:xfrm>
            <a:off x="640080" y="1408176"/>
            <a:ext cx="3703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4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400" b="1" dirty="0">
                <a:solidFill>
                  <a:srgbClr val="5FE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inisialisasi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1400" b="1" dirty="0">
                <a:solidFill>
                  <a:srgbClr val="FFC2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kondisi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1400" b="1" dirty="0">
                <a:solidFill>
                  <a:srgbClr val="FF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increment/decrement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00" dirty="0">
                <a:solidFill>
                  <a:srgbClr val="9A9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isi perulangan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Panel kode"/>
          <p:cNvSpPr/>
          <p:nvPr/>
        </p:nvSpPr>
        <p:spPr>
          <a:xfrm>
            <a:off x="4663440" y="1097280"/>
            <a:ext cx="4023360" cy="2002536"/>
          </a:xfrm>
          <a:prstGeom prst="roundRect">
            <a:avLst>
              <a:gd name="adj" fmla="val 3653"/>
            </a:avLst>
          </a:prstGeom>
          <a:solidFill>
            <a:schemeClr val="tx1"/>
          </a:solidFill>
          <a:ln/>
        </p:spPr>
      </p:sp>
      <p:sp>
        <p:nvSpPr>
          <p:cNvPr id="7" name="Label panel"/>
          <p:cNvSpPr txBox="1"/>
          <p:nvPr/>
        </p:nvSpPr>
        <p:spPr>
          <a:xfrm>
            <a:off x="4846320" y="117043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9AEE0"/>
                </a:solidFill>
              </a:rPr>
              <a:t>CONTOH</a:t>
            </a:r>
            <a:endParaRPr lang="en-US" sz="1100" dirty="0"/>
          </a:p>
        </p:txBody>
      </p:sp>
      <p:sp>
        <p:nvSpPr>
          <p:cNvPr id="8" name="Kode"/>
          <p:cNvSpPr txBox="1"/>
          <p:nvPr/>
        </p:nvSpPr>
        <p:spPr>
          <a:xfrm>
            <a:off x="4846320" y="1408176"/>
            <a:ext cx="3703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4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400" b="1" dirty="0">
                <a:solidFill>
                  <a:srgbClr val="5FE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i = 1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r>
              <a:rPr lang="en-US" sz="1400" b="1" dirty="0">
                <a:solidFill>
                  <a:srgbClr val="FFC2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&lt;= 5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r>
              <a:rPr lang="en-US" sz="1400" b="1" dirty="0">
                <a:solidFill>
                  <a:srgbClr val="FF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i++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00" dirty="0">
                <a:solidFill>
                  <a:srgbClr val="8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9" name="Kartu komponen"/>
          <p:cNvSpPr/>
          <p:nvPr/>
        </p:nvSpPr>
        <p:spPr>
          <a:xfrm>
            <a:off x="457200" y="3236976"/>
            <a:ext cx="2651760" cy="1389888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10" name="Penanda warna"/>
          <p:cNvSpPr/>
          <p:nvPr/>
        </p:nvSpPr>
        <p:spPr>
          <a:xfrm>
            <a:off x="594360" y="3419856"/>
            <a:ext cx="182880" cy="1828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Judul komponen"/>
          <p:cNvSpPr txBox="1"/>
          <p:nvPr/>
        </p:nvSpPr>
        <p:spPr>
          <a:xfrm>
            <a:off x="868680" y="334670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Inisialisasi</a:t>
            </a:r>
            <a:endParaRPr lang="en-US" sz="1500" dirty="0"/>
          </a:p>
        </p:txBody>
      </p:sp>
      <p:sp>
        <p:nvSpPr>
          <p:cNvPr id="12" name="Deskripsi komponen"/>
          <p:cNvSpPr txBox="1"/>
          <p:nvPr/>
        </p:nvSpPr>
        <p:spPr>
          <a:xfrm>
            <a:off x="594360" y="3712464"/>
            <a:ext cx="2395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Nilai awal variabel penghitung, dijalankan sekali di awal.</a:t>
            </a:r>
            <a:endParaRPr lang="en-US" sz="1400" dirty="0"/>
          </a:p>
        </p:txBody>
      </p:sp>
      <p:sp>
        <p:nvSpPr>
          <p:cNvPr id="13" name="Contoh komponen"/>
          <p:cNvSpPr txBox="1"/>
          <p:nvPr/>
        </p:nvSpPr>
        <p:spPr>
          <a:xfrm>
            <a:off x="594360" y="4242816"/>
            <a:ext cx="2377440" cy="310896"/>
          </a:xfrm>
          <a:prstGeom prst="roundRect">
            <a:avLst>
              <a:gd name="adj" fmla="val 17647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i = 1</a:t>
            </a:r>
            <a:endParaRPr lang="en-US" sz="1400" dirty="0"/>
          </a:p>
        </p:txBody>
      </p:sp>
      <p:sp>
        <p:nvSpPr>
          <p:cNvPr id="14" name="Kartu komponen"/>
          <p:cNvSpPr/>
          <p:nvPr/>
        </p:nvSpPr>
        <p:spPr>
          <a:xfrm>
            <a:off x="3246120" y="3236976"/>
            <a:ext cx="2651760" cy="1389888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15" name="Penanda warna"/>
          <p:cNvSpPr/>
          <p:nvPr/>
        </p:nvSpPr>
        <p:spPr>
          <a:xfrm>
            <a:off x="3383280" y="3419856"/>
            <a:ext cx="182880" cy="18288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6" name="Judul komponen"/>
          <p:cNvSpPr txBox="1"/>
          <p:nvPr/>
        </p:nvSpPr>
        <p:spPr>
          <a:xfrm>
            <a:off x="3657600" y="334670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Kondisi</a:t>
            </a:r>
            <a:endParaRPr lang="en-US" sz="1500" dirty="0"/>
          </a:p>
        </p:txBody>
      </p:sp>
      <p:sp>
        <p:nvSpPr>
          <p:cNvPr id="17" name="Deskripsi komponen"/>
          <p:cNvSpPr txBox="1"/>
          <p:nvPr/>
        </p:nvSpPr>
        <p:spPr>
          <a:xfrm>
            <a:off x="3383280" y="3712464"/>
            <a:ext cx="2395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Dicek tiap putaran: true lanjut, false berhenti.</a:t>
            </a:r>
            <a:endParaRPr lang="en-US" sz="1400" dirty="0"/>
          </a:p>
        </p:txBody>
      </p:sp>
      <p:sp>
        <p:nvSpPr>
          <p:cNvPr id="18" name="Contoh komponen"/>
          <p:cNvSpPr txBox="1"/>
          <p:nvPr/>
        </p:nvSpPr>
        <p:spPr>
          <a:xfrm>
            <a:off x="3383280" y="4242816"/>
            <a:ext cx="2377440" cy="310896"/>
          </a:xfrm>
          <a:prstGeom prst="roundRect">
            <a:avLst>
              <a:gd name="adj" fmla="val 17647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&lt;= 5</a:t>
            </a:r>
            <a:endParaRPr lang="en-US" sz="1400" dirty="0"/>
          </a:p>
        </p:txBody>
      </p:sp>
      <p:sp>
        <p:nvSpPr>
          <p:cNvPr id="19" name="Kartu komponen"/>
          <p:cNvSpPr/>
          <p:nvPr/>
        </p:nvSpPr>
        <p:spPr>
          <a:xfrm>
            <a:off x="6035040" y="3236976"/>
            <a:ext cx="2651760" cy="1389888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20" name="Penanda warna"/>
          <p:cNvSpPr/>
          <p:nvPr/>
        </p:nvSpPr>
        <p:spPr>
          <a:xfrm>
            <a:off x="6172200" y="3419856"/>
            <a:ext cx="182880" cy="18288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1" name="Judul komponen"/>
          <p:cNvSpPr txBox="1"/>
          <p:nvPr/>
        </p:nvSpPr>
        <p:spPr>
          <a:xfrm>
            <a:off x="6446520" y="334670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Increment / Decrement</a:t>
            </a:r>
            <a:endParaRPr lang="en-US" sz="1500" dirty="0"/>
          </a:p>
        </p:txBody>
      </p:sp>
      <p:sp>
        <p:nvSpPr>
          <p:cNvPr id="22" name="Deskripsi komponen"/>
          <p:cNvSpPr txBox="1"/>
          <p:nvPr/>
        </p:nvSpPr>
        <p:spPr>
          <a:xfrm>
            <a:off x="6172200" y="3712464"/>
            <a:ext cx="2395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Mengubah nilai tiap putaran: i++ naik 1, i-- turun 1.</a:t>
            </a:r>
            <a:endParaRPr lang="en-US" sz="1400" dirty="0"/>
          </a:p>
        </p:txBody>
      </p:sp>
      <p:sp>
        <p:nvSpPr>
          <p:cNvPr id="23" name="Contoh komponen"/>
          <p:cNvSpPr txBox="1"/>
          <p:nvPr/>
        </p:nvSpPr>
        <p:spPr>
          <a:xfrm>
            <a:off x="6172200" y="4242816"/>
            <a:ext cx="2377440" cy="310896"/>
          </a:xfrm>
          <a:prstGeom prst="roundRect">
            <a:avLst>
              <a:gd name="adj" fmla="val 17647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i++   atau   i--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for: Contoh Increment</a:t>
            </a:r>
            <a:endParaRPr lang="en-US" sz="3600" dirty="0"/>
          </a:p>
        </p:txBody>
      </p:sp>
      <p:sp>
        <p:nvSpPr>
          <p:cNvPr id="3" name="Judul contoh"/>
          <p:cNvSpPr txBox="1"/>
          <p:nvPr/>
        </p:nvSpPr>
        <p:spPr>
          <a:xfrm>
            <a:off x="457200" y="10972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Contoh 1: cetak 1 sampai 5</a:t>
            </a:r>
            <a:endParaRPr lang="en-US" sz="1600" dirty="0"/>
          </a:p>
        </p:txBody>
      </p:sp>
      <p:sp>
        <p:nvSpPr>
          <p:cNvPr id="4" name="Panel kode"/>
          <p:cNvSpPr/>
          <p:nvPr/>
        </p:nvSpPr>
        <p:spPr>
          <a:xfrm>
            <a:off x="457200" y="1481328"/>
            <a:ext cx="4023360" cy="1600200"/>
          </a:xfrm>
          <a:prstGeom prst="roundRect">
            <a:avLst>
              <a:gd name="adj" fmla="val 4571"/>
            </a:avLst>
          </a:prstGeom>
          <a:solidFill>
            <a:schemeClr val="tx1"/>
          </a:solidFill>
          <a:ln/>
        </p:spPr>
      </p:sp>
      <p:sp>
        <p:nvSpPr>
          <p:cNvPr id="5" name="Kode"/>
          <p:cNvSpPr txBox="1"/>
          <p:nvPr/>
        </p:nvSpPr>
        <p:spPr>
          <a:xfrm>
            <a:off x="640080" y="1618488"/>
            <a:ext cx="3703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4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400" b="1" dirty="0">
                <a:solidFill>
                  <a:srgbClr val="5FE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i = 1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r>
              <a:rPr lang="en-US" sz="1400" b="1" dirty="0">
                <a:solidFill>
                  <a:srgbClr val="FFC2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&lt;= 5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r>
              <a:rPr lang="en-US" sz="1400" b="1" dirty="0">
                <a:solidFill>
                  <a:srgbClr val="FF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i++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00" dirty="0">
                <a:solidFill>
                  <a:srgbClr val="8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 + </a:t>
            </a:r>
            <a:r>
              <a:rPr lang="en-US" sz="1400" dirty="0">
                <a:solidFill>
                  <a:srgbClr val="F5B5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"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Panel output"/>
          <p:cNvSpPr/>
          <p:nvPr/>
        </p:nvSpPr>
        <p:spPr>
          <a:xfrm>
            <a:off x="457200" y="3191256"/>
            <a:ext cx="402336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/>
        </p:spPr>
      </p:sp>
      <p:sp>
        <p:nvSpPr>
          <p:cNvPr id="7" name="Teks output"/>
          <p:cNvSpPr txBox="1"/>
          <p:nvPr/>
        </p:nvSpPr>
        <p:spPr>
          <a:xfrm>
            <a:off x="640080" y="3191256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OUTPUT   </a:t>
            </a: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1 2 3 4 5</a:t>
            </a:r>
            <a:endParaRPr lang="en-US" sz="1200" dirty="0"/>
          </a:p>
        </p:txBody>
      </p:sp>
      <p:sp>
        <p:nvSpPr>
          <p:cNvPr id="8" name="Catatan contoh"/>
          <p:cNvSpPr txBox="1"/>
          <p:nvPr/>
        </p:nvSpPr>
        <p:spPr>
          <a:xfrm>
            <a:off x="457200" y="3785616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 naik 1 tiap putaran. Saat i = 6 kondisi bernilai false, perulangan berhenti.</a:t>
            </a:r>
            <a:endParaRPr lang="en-US" sz="1400" dirty="0"/>
          </a:p>
        </p:txBody>
      </p:sp>
      <p:sp>
        <p:nvSpPr>
          <p:cNvPr id="9" name="Judul contoh"/>
          <p:cNvSpPr txBox="1"/>
          <p:nvPr/>
        </p:nvSpPr>
        <p:spPr>
          <a:xfrm>
            <a:off x="4663440" y="10972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Contoh 2: jumlah 1 sampai 10</a:t>
            </a:r>
            <a:endParaRPr lang="en-US" sz="1600" dirty="0"/>
          </a:p>
        </p:txBody>
      </p:sp>
      <p:sp>
        <p:nvSpPr>
          <p:cNvPr id="10" name="Panel kode"/>
          <p:cNvSpPr/>
          <p:nvPr/>
        </p:nvSpPr>
        <p:spPr>
          <a:xfrm>
            <a:off x="4663440" y="1481328"/>
            <a:ext cx="4023360" cy="1600200"/>
          </a:xfrm>
          <a:prstGeom prst="roundRect">
            <a:avLst>
              <a:gd name="adj" fmla="val 4571"/>
            </a:avLst>
          </a:prstGeom>
          <a:solidFill>
            <a:schemeClr val="tx1"/>
          </a:solidFill>
          <a:ln/>
        </p:spPr>
      </p:sp>
      <p:sp>
        <p:nvSpPr>
          <p:cNvPr id="11" name="Kode"/>
          <p:cNvSpPr txBox="1"/>
          <p:nvPr/>
        </p:nvSpPr>
        <p:spPr>
          <a:xfrm>
            <a:off x="4846320" y="1618488"/>
            <a:ext cx="3703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4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total = </a:t>
            </a:r>
            <a:r>
              <a:rPr lang="en-US" sz="1400" dirty="0">
                <a:solidFill>
                  <a:srgbClr val="7FDC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4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400" b="1" dirty="0">
                <a:solidFill>
                  <a:srgbClr val="5FE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i = 1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r>
              <a:rPr lang="en-US" sz="1400" b="1" dirty="0">
                <a:solidFill>
                  <a:srgbClr val="FFC2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&lt;= 10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r>
              <a:rPr lang="en-US" sz="1400" b="1" dirty="0">
                <a:solidFill>
                  <a:srgbClr val="FF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i++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+= i;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(total);</a:t>
            </a:r>
            <a:endParaRPr lang="en-US" sz="1400" dirty="0"/>
          </a:p>
        </p:txBody>
      </p:sp>
      <p:sp>
        <p:nvSpPr>
          <p:cNvPr id="12" name="Panel output"/>
          <p:cNvSpPr/>
          <p:nvPr/>
        </p:nvSpPr>
        <p:spPr>
          <a:xfrm>
            <a:off x="4663440" y="3191256"/>
            <a:ext cx="402336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/>
        </p:spPr>
      </p:sp>
      <p:sp>
        <p:nvSpPr>
          <p:cNvPr id="13" name="Teks output"/>
          <p:cNvSpPr txBox="1"/>
          <p:nvPr/>
        </p:nvSpPr>
        <p:spPr>
          <a:xfrm>
            <a:off x="4846320" y="3191256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OUTPUT   </a:t>
            </a: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</a:t>
            </a:r>
            <a:endParaRPr lang="en-US" sz="1200" dirty="0"/>
          </a:p>
        </p:txBody>
      </p:sp>
      <p:sp>
        <p:nvSpPr>
          <p:cNvPr id="14" name="Catatan contoh"/>
          <p:cNvSpPr txBox="1"/>
          <p:nvPr/>
        </p:nvSpPr>
        <p:spPr>
          <a:xfrm>
            <a:off x="4663440" y="3785616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Variabel total menampung hasil penjumlahan 1 + 2 + ... + 10.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for: Decrement &amp; Step</a:t>
            </a:r>
            <a:endParaRPr lang="en-US" sz="3600" dirty="0"/>
          </a:p>
        </p:txBody>
      </p:sp>
      <p:sp>
        <p:nvSpPr>
          <p:cNvPr id="3" name="Judul contoh"/>
          <p:cNvSpPr txBox="1"/>
          <p:nvPr/>
        </p:nvSpPr>
        <p:spPr>
          <a:xfrm>
            <a:off x="457200" y="10972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Contoh 1: hitung mundur (decrement)</a:t>
            </a:r>
            <a:endParaRPr lang="en-US" sz="1600" dirty="0"/>
          </a:p>
        </p:txBody>
      </p:sp>
      <p:sp>
        <p:nvSpPr>
          <p:cNvPr id="4" name="Panel kode"/>
          <p:cNvSpPr/>
          <p:nvPr/>
        </p:nvSpPr>
        <p:spPr>
          <a:xfrm>
            <a:off x="457200" y="1481328"/>
            <a:ext cx="4023360" cy="1143000"/>
          </a:xfrm>
          <a:prstGeom prst="roundRect">
            <a:avLst>
              <a:gd name="adj" fmla="val 6400"/>
            </a:avLst>
          </a:prstGeom>
          <a:solidFill>
            <a:schemeClr val="tx1"/>
          </a:solidFill>
          <a:ln/>
        </p:spPr>
      </p:sp>
      <p:sp>
        <p:nvSpPr>
          <p:cNvPr id="5" name="Kode"/>
          <p:cNvSpPr txBox="1"/>
          <p:nvPr/>
        </p:nvSpPr>
        <p:spPr>
          <a:xfrm>
            <a:off x="640080" y="1618488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4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400" b="1" dirty="0">
                <a:solidFill>
                  <a:srgbClr val="5FE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i = 5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r>
              <a:rPr lang="en-US" sz="1400" b="1" dirty="0">
                <a:solidFill>
                  <a:srgbClr val="FFC2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&gt;= 1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r>
              <a:rPr lang="en-US" sz="1400" b="1" dirty="0">
                <a:solidFill>
                  <a:srgbClr val="FF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i--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00" dirty="0">
                <a:solidFill>
                  <a:srgbClr val="8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 + </a:t>
            </a:r>
            <a:r>
              <a:rPr lang="en-US" sz="1400" dirty="0">
                <a:solidFill>
                  <a:srgbClr val="F5B5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"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Panel output"/>
          <p:cNvSpPr/>
          <p:nvPr/>
        </p:nvSpPr>
        <p:spPr>
          <a:xfrm>
            <a:off x="457200" y="2734056"/>
            <a:ext cx="402336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/>
        </p:spPr>
      </p:sp>
      <p:sp>
        <p:nvSpPr>
          <p:cNvPr id="7" name="Teks output"/>
          <p:cNvSpPr txBox="1"/>
          <p:nvPr/>
        </p:nvSpPr>
        <p:spPr>
          <a:xfrm>
            <a:off x="640080" y="2734056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OUTPUT   </a:t>
            </a: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5 4 3 2 1</a:t>
            </a:r>
            <a:endParaRPr lang="en-US" sz="1200" dirty="0"/>
          </a:p>
        </p:txBody>
      </p:sp>
      <p:sp>
        <p:nvSpPr>
          <p:cNvPr id="8" name="Catatan contoh"/>
          <p:cNvSpPr txBox="1"/>
          <p:nvPr/>
        </p:nvSpPr>
        <p:spPr>
          <a:xfrm>
            <a:off x="457200" y="3328416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i-- mengurangi 1 tiap putaran. Kondisi memakai &gt;= karena nilainya turun.</a:t>
            </a:r>
            <a:endParaRPr lang="en-US" sz="1400" dirty="0"/>
          </a:p>
        </p:txBody>
      </p:sp>
      <p:sp>
        <p:nvSpPr>
          <p:cNvPr id="9" name="Judul contoh"/>
          <p:cNvSpPr txBox="1"/>
          <p:nvPr/>
        </p:nvSpPr>
        <p:spPr>
          <a:xfrm>
            <a:off x="4663440" y="10972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Contoh 2: langkah 2 (step)</a:t>
            </a:r>
            <a:endParaRPr lang="en-US" sz="1600" dirty="0"/>
          </a:p>
        </p:txBody>
      </p:sp>
      <p:sp>
        <p:nvSpPr>
          <p:cNvPr id="10" name="Panel kode"/>
          <p:cNvSpPr/>
          <p:nvPr/>
        </p:nvSpPr>
        <p:spPr>
          <a:xfrm>
            <a:off x="4663440" y="1481328"/>
            <a:ext cx="4023360" cy="1143000"/>
          </a:xfrm>
          <a:prstGeom prst="roundRect">
            <a:avLst>
              <a:gd name="adj" fmla="val 6400"/>
            </a:avLst>
          </a:prstGeom>
          <a:solidFill>
            <a:schemeClr val="tx1"/>
          </a:solidFill>
          <a:ln/>
        </p:spPr>
      </p:sp>
      <p:sp>
        <p:nvSpPr>
          <p:cNvPr id="11" name="Kode"/>
          <p:cNvSpPr txBox="1"/>
          <p:nvPr/>
        </p:nvSpPr>
        <p:spPr>
          <a:xfrm>
            <a:off x="4846320" y="1618488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4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400" b="1" dirty="0">
                <a:solidFill>
                  <a:srgbClr val="5FE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i = 0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r>
              <a:rPr lang="en-US" sz="1400" b="1" dirty="0">
                <a:solidFill>
                  <a:srgbClr val="FFC2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&lt;= 10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r>
              <a:rPr lang="en-US" sz="1400" b="1" dirty="0">
                <a:solidFill>
                  <a:srgbClr val="FF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+= 2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00" dirty="0">
                <a:solidFill>
                  <a:srgbClr val="8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 + </a:t>
            </a:r>
            <a:r>
              <a:rPr lang="en-US" sz="1400" dirty="0">
                <a:solidFill>
                  <a:srgbClr val="F5B5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"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12" name="Panel output"/>
          <p:cNvSpPr/>
          <p:nvPr/>
        </p:nvSpPr>
        <p:spPr>
          <a:xfrm>
            <a:off x="4663440" y="2734056"/>
            <a:ext cx="402336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/>
        </p:spPr>
      </p:sp>
      <p:sp>
        <p:nvSpPr>
          <p:cNvPr id="13" name="Teks output"/>
          <p:cNvSpPr txBox="1"/>
          <p:nvPr/>
        </p:nvSpPr>
        <p:spPr>
          <a:xfrm>
            <a:off x="4846320" y="2734056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OUTPUT   </a:t>
            </a: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0 2 4 6 8 10</a:t>
            </a:r>
            <a:endParaRPr lang="en-US" sz="1200" dirty="0"/>
          </a:p>
        </p:txBody>
      </p:sp>
      <p:sp>
        <p:nvSpPr>
          <p:cNvPr id="14" name="Catatan contoh"/>
          <p:cNvSpPr txBox="1"/>
          <p:nvPr/>
        </p:nvSpPr>
        <p:spPr>
          <a:xfrm>
            <a:off x="4663440" y="3328416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 += 2 menambah 2 tiap putaran. Besar langkah bisa diatur bebas.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while: Pengertian &amp; Kegunaan</a:t>
            </a:r>
            <a:endParaRPr lang="en-US" sz="3600" dirty="0"/>
          </a:p>
        </p:txBody>
      </p:sp>
      <p:sp>
        <p:nvSpPr>
          <p:cNvPr id="3" name="Pengertian"/>
          <p:cNvSpPr txBox="1"/>
          <p:nvPr/>
        </p:nvSpPr>
        <p:spPr>
          <a:xfrm>
            <a:off x="457200" y="109728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Perulangan while mengulang isi blok selama kondisinya bernilai true. Dipakai saat jumlah perulangan belum pasti dan bergantung pada suatu kondisi.</a:t>
            </a:r>
            <a:endParaRPr lang="en-US" sz="1600" dirty="0"/>
          </a:p>
        </p:txBody>
      </p:sp>
      <p:sp>
        <p:nvSpPr>
          <p:cNvPr id="4" name="Poin penting"/>
          <p:cNvSpPr/>
          <p:nvPr/>
        </p:nvSpPr>
        <p:spPr>
          <a:xfrm>
            <a:off x="457200" y="2331720"/>
            <a:ext cx="475488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5" name="Lingkaran ikon"/>
          <p:cNvSpPr/>
          <p:nvPr/>
        </p:nvSpPr>
        <p:spPr>
          <a:xfrm>
            <a:off x="640080" y="25603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Lightbulb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2674620"/>
            <a:ext cx="228600" cy="228600"/>
          </a:xfrm>
          <a:prstGeom prst="rect">
            <a:avLst/>
          </a:prstGeom>
        </p:spPr>
      </p:pic>
      <p:sp>
        <p:nvSpPr>
          <p:cNvPr id="7" name="Teks poin penting"/>
          <p:cNvSpPr txBox="1"/>
          <p:nvPr/>
        </p:nvSpPr>
        <p:spPr>
          <a:xfrm>
            <a:off x="1280160" y="233172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Kondisi dicek di awal. Jika langsung false, isi perulangan tidak dijalankan sama sekali.</a:t>
            </a:r>
            <a:endParaRPr lang="en-US" sz="1400" dirty="0"/>
          </a:p>
        </p:txBody>
      </p:sp>
      <p:sp>
        <p:nvSpPr>
          <p:cNvPr id="8" name="Judul kegunaan"/>
          <p:cNvSpPr txBox="1"/>
          <p:nvPr/>
        </p:nvSpPr>
        <p:spPr>
          <a:xfrm>
            <a:off x="5577840" y="10972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Cocok untuk</a:t>
            </a:r>
            <a:endParaRPr lang="en-US" sz="1600" dirty="0"/>
          </a:p>
        </p:txBody>
      </p:sp>
      <p:pic>
        <p:nvPicPr>
          <p:cNvPr id="9" name="Image 1" descr="centa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1645920"/>
            <a:ext cx="237744" cy="237744"/>
          </a:xfrm>
          <a:prstGeom prst="rect">
            <a:avLst/>
          </a:prstGeom>
        </p:spPr>
      </p:pic>
      <p:sp>
        <p:nvSpPr>
          <p:cNvPr id="10" name="Kegunaan 1"/>
          <p:cNvSpPr txBox="1"/>
          <p:nvPr/>
        </p:nvSpPr>
        <p:spPr>
          <a:xfrm>
            <a:off x="5943600" y="155448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Validasi input sampai benar</a:t>
            </a:r>
            <a:endParaRPr lang="en-US" sz="1400" dirty="0"/>
          </a:p>
        </p:txBody>
      </p:sp>
      <p:pic>
        <p:nvPicPr>
          <p:cNvPr id="11" name="Image 2" descr="centa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2103120"/>
            <a:ext cx="237744" cy="237744"/>
          </a:xfrm>
          <a:prstGeom prst="rect">
            <a:avLst/>
          </a:prstGeom>
        </p:spPr>
      </p:pic>
      <p:sp>
        <p:nvSpPr>
          <p:cNvPr id="12" name="Kegunaan 2"/>
          <p:cNvSpPr txBox="1"/>
          <p:nvPr/>
        </p:nvSpPr>
        <p:spPr>
          <a:xfrm>
            <a:off x="5943600" y="201168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Menu berulang sampai keluar</a:t>
            </a:r>
            <a:endParaRPr lang="en-US" sz="1400" dirty="0"/>
          </a:p>
        </p:txBody>
      </p:sp>
      <p:pic>
        <p:nvPicPr>
          <p:cNvPr id="13" name="Image 3" descr="centa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2560320"/>
            <a:ext cx="237744" cy="237744"/>
          </a:xfrm>
          <a:prstGeom prst="rect">
            <a:avLst/>
          </a:prstGeom>
        </p:spPr>
      </p:pic>
      <p:sp>
        <p:nvSpPr>
          <p:cNvPr id="14" name="Kegunaan 3"/>
          <p:cNvSpPr txBox="1"/>
          <p:nvPr/>
        </p:nvSpPr>
        <p:spPr>
          <a:xfrm>
            <a:off x="5943600" y="246888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Membaca data sampai habis</a:t>
            </a:r>
            <a:endParaRPr lang="en-US" sz="1400" dirty="0"/>
          </a:p>
        </p:txBody>
      </p:sp>
      <p:pic>
        <p:nvPicPr>
          <p:cNvPr id="15" name="Image 4" descr="centa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3017520"/>
            <a:ext cx="237744" cy="237744"/>
          </a:xfrm>
          <a:prstGeom prst="rect">
            <a:avLst/>
          </a:prstGeom>
        </p:spPr>
      </p:pic>
      <p:sp>
        <p:nvSpPr>
          <p:cNvPr id="16" name="Kegunaan 4"/>
          <p:cNvSpPr txBox="1"/>
          <p:nvPr/>
        </p:nvSpPr>
        <p:spPr>
          <a:xfrm>
            <a:off x="5943600" y="292608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Putaran yang jumlahnya tak pasti</a:t>
            </a:r>
            <a:endParaRPr lang="en-US" sz="1400" dirty="0"/>
          </a:p>
        </p:txBody>
      </p:sp>
      <p:sp>
        <p:nvSpPr>
          <p:cNvPr id="17" name="Langkah 1"/>
          <p:cNvSpPr txBox="1"/>
          <p:nvPr/>
        </p:nvSpPr>
        <p:spPr>
          <a:xfrm>
            <a:off x="457200" y="3611880"/>
            <a:ext cx="1737360" cy="594360"/>
          </a:xfrm>
          <a:prstGeom prst="roundRect">
            <a:avLst>
              <a:gd name="adj" fmla="val 12308"/>
            </a:avLst>
          </a:prstGeom>
          <a:solidFill>
            <a:schemeClr val="accent2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1. Inisialisasi</a:t>
            </a:r>
            <a:endParaRPr lang="en-US" sz="1400" dirty="0"/>
          </a:p>
        </p:txBody>
      </p:sp>
      <p:sp>
        <p:nvSpPr>
          <p:cNvPr id="18" name="Panah"/>
          <p:cNvSpPr/>
          <p:nvPr/>
        </p:nvSpPr>
        <p:spPr>
          <a:xfrm>
            <a:off x="2240280" y="3909060"/>
            <a:ext cx="33528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9" name="Langkah 2"/>
          <p:cNvSpPr txBox="1"/>
          <p:nvPr/>
        </p:nvSpPr>
        <p:spPr>
          <a:xfrm>
            <a:off x="2621280" y="3611880"/>
            <a:ext cx="1737360" cy="594360"/>
          </a:xfrm>
          <a:prstGeom prst="roundRect">
            <a:avLst>
              <a:gd name="adj" fmla="val 12308"/>
            </a:avLst>
          </a:prstGeom>
          <a:solidFill>
            <a:schemeClr val="accent3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2. Kondisi?</a:t>
            </a:r>
            <a:endParaRPr lang="en-US" sz="1400" dirty="0"/>
          </a:p>
        </p:txBody>
      </p:sp>
      <p:sp>
        <p:nvSpPr>
          <p:cNvPr id="20" name="Panah"/>
          <p:cNvSpPr/>
          <p:nvPr/>
        </p:nvSpPr>
        <p:spPr>
          <a:xfrm>
            <a:off x="4404360" y="3909060"/>
            <a:ext cx="33528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1" name="Langkah 3"/>
          <p:cNvSpPr txBox="1"/>
          <p:nvPr/>
        </p:nvSpPr>
        <p:spPr>
          <a:xfrm>
            <a:off x="4785360" y="3611880"/>
            <a:ext cx="1737360" cy="594360"/>
          </a:xfrm>
          <a:prstGeom prst="roundRect">
            <a:avLst>
              <a:gd name="adj" fmla="val 12308"/>
            </a:avLst>
          </a:prstGeom>
          <a:solidFill>
            <a:schemeClr val="accent1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3. Isi perulangan</a:t>
            </a:r>
            <a:endParaRPr lang="en-US" sz="1400" dirty="0"/>
          </a:p>
        </p:txBody>
      </p:sp>
      <p:sp>
        <p:nvSpPr>
          <p:cNvPr id="22" name="Panah"/>
          <p:cNvSpPr/>
          <p:nvPr/>
        </p:nvSpPr>
        <p:spPr>
          <a:xfrm>
            <a:off x="6568440" y="3909060"/>
            <a:ext cx="33528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3" name="Langkah 4"/>
          <p:cNvSpPr txBox="1"/>
          <p:nvPr/>
        </p:nvSpPr>
        <p:spPr>
          <a:xfrm>
            <a:off x="6949440" y="3611880"/>
            <a:ext cx="1737360" cy="594360"/>
          </a:xfrm>
          <a:prstGeom prst="roundRect">
            <a:avLst>
              <a:gd name="adj" fmla="val 12308"/>
            </a:avLst>
          </a:prstGeom>
          <a:solidFill>
            <a:schemeClr val="accent4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4. i++ / i--</a:t>
            </a:r>
            <a:endParaRPr lang="en-US" sz="1400" dirty="0"/>
          </a:p>
        </p:txBody>
      </p:sp>
      <p:sp>
        <p:nvSpPr>
          <p:cNvPr id="24" name="Garis balik"/>
          <p:cNvSpPr/>
          <p:nvPr/>
        </p:nvSpPr>
        <p:spPr>
          <a:xfrm>
            <a:off x="7818120" y="4206240"/>
            <a:ext cx="0" cy="201168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25" name="Garis balik"/>
          <p:cNvSpPr/>
          <p:nvPr/>
        </p:nvSpPr>
        <p:spPr>
          <a:xfrm>
            <a:off x="3489960" y="4407408"/>
            <a:ext cx="432816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26" name="Panah balik"/>
          <p:cNvSpPr/>
          <p:nvPr/>
        </p:nvSpPr>
        <p:spPr>
          <a:xfrm flipV="1">
            <a:off x="3489960" y="4206240"/>
            <a:ext cx="0" cy="201168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7" name="Keterangan alur"/>
          <p:cNvSpPr txBox="1"/>
          <p:nvPr/>
        </p:nvSpPr>
        <p:spPr>
          <a:xfrm>
            <a:off x="3916680" y="444398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kondisi true: ulangi lagi  |  false: keluar</a:t>
            </a:r>
            <a:endParaRPr lang="en-US" sz="12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while: Sintaks &amp; Komponen</a:t>
            </a:r>
            <a:endParaRPr lang="en-US" sz="3600" dirty="0"/>
          </a:p>
        </p:txBody>
      </p:sp>
      <p:sp>
        <p:nvSpPr>
          <p:cNvPr id="3" name="Panel kode"/>
          <p:cNvSpPr/>
          <p:nvPr/>
        </p:nvSpPr>
        <p:spPr>
          <a:xfrm>
            <a:off x="457200" y="1097280"/>
            <a:ext cx="4023360" cy="2002536"/>
          </a:xfrm>
          <a:prstGeom prst="roundRect">
            <a:avLst>
              <a:gd name="adj" fmla="val 3653"/>
            </a:avLst>
          </a:prstGeom>
          <a:solidFill>
            <a:schemeClr val="tx1"/>
          </a:solidFill>
          <a:ln/>
        </p:spPr>
      </p:sp>
      <p:sp>
        <p:nvSpPr>
          <p:cNvPr id="4" name="Label panel"/>
          <p:cNvSpPr txBox="1"/>
          <p:nvPr/>
        </p:nvSpPr>
        <p:spPr>
          <a:xfrm>
            <a:off x="640080" y="117043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9AEE0"/>
                </a:solidFill>
              </a:rPr>
              <a:t>SINTAKS</a:t>
            </a:r>
            <a:endParaRPr lang="en-US" sz="1100" dirty="0"/>
          </a:p>
        </p:txBody>
      </p:sp>
      <p:sp>
        <p:nvSpPr>
          <p:cNvPr id="5" name="Kode"/>
          <p:cNvSpPr txBox="1"/>
          <p:nvPr/>
        </p:nvSpPr>
        <p:spPr>
          <a:xfrm>
            <a:off x="640080" y="1408176"/>
            <a:ext cx="3703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5FE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inisialisasi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4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400" b="1" dirty="0">
                <a:solidFill>
                  <a:srgbClr val="FFC2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kondisi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00" dirty="0">
                <a:solidFill>
                  <a:srgbClr val="9A9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isi perulangan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00" b="1" dirty="0">
                <a:solidFill>
                  <a:srgbClr val="FF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increment/decrement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Panel kode"/>
          <p:cNvSpPr/>
          <p:nvPr/>
        </p:nvSpPr>
        <p:spPr>
          <a:xfrm>
            <a:off x="4663440" y="1097280"/>
            <a:ext cx="4023360" cy="2002536"/>
          </a:xfrm>
          <a:prstGeom prst="roundRect">
            <a:avLst>
              <a:gd name="adj" fmla="val 3653"/>
            </a:avLst>
          </a:prstGeom>
          <a:solidFill>
            <a:schemeClr val="tx1"/>
          </a:solidFill>
          <a:ln/>
        </p:spPr>
      </p:sp>
      <p:sp>
        <p:nvSpPr>
          <p:cNvPr id="7" name="Label panel"/>
          <p:cNvSpPr txBox="1"/>
          <p:nvPr/>
        </p:nvSpPr>
        <p:spPr>
          <a:xfrm>
            <a:off x="4846320" y="117043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9AEE0"/>
                </a:solidFill>
              </a:rPr>
              <a:t>CONTOH</a:t>
            </a:r>
            <a:endParaRPr lang="en-US" sz="1100" dirty="0"/>
          </a:p>
        </p:txBody>
      </p:sp>
      <p:sp>
        <p:nvSpPr>
          <p:cNvPr id="8" name="Kode"/>
          <p:cNvSpPr txBox="1"/>
          <p:nvPr/>
        </p:nvSpPr>
        <p:spPr>
          <a:xfrm>
            <a:off x="4846320" y="1408176"/>
            <a:ext cx="3703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5FE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i = 1;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4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400" b="1" dirty="0">
                <a:solidFill>
                  <a:srgbClr val="FFC2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&lt;= 5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00" dirty="0">
                <a:solidFill>
                  <a:srgbClr val="8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00" b="1" dirty="0">
                <a:solidFill>
                  <a:srgbClr val="FF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i++;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9" name="Kartu komponen"/>
          <p:cNvSpPr/>
          <p:nvPr/>
        </p:nvSpPr>
        <p:spPr>
          <a:xfrm>
            <a:off x="457200" y="3236976"/>
            <a:ext cx="2651760" cy="1389888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10" name="Penanda warna"/>
          <p:cNvSpPr/>
          <p:nvPr/>
        </p:nvSpPr>
        <p:spPr>
          <a:xfrm>
            <a:off x="594360" y="3419856"/>
            <a:ext cx="182880" cy="1828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Judul komponen"/>
          <p:cNvSpPr txBox="1"/>
          <p:nvPr/>
        </p:nvSpPr>
        <p:spPr>
          <a:xfrm>
            <a:off x="868680" y="334670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Inisialisasi</a:t>
            </a:r>
            <a:endParaRPr lang="en-US" sz="1500" dirty="0"/>
          </a:p>
        </p:txBody>
      </p:sp>
      <p:sp>
        <p:nvSpPr>
          <p:cNvPr id="12" name="Deskripsi komponen"/>
          <p:cNvSpPr txBox="1"/>
          <p:nvPr/>
        </p:nvSpPr>
        <p:spPr>
          <a:xfrm>
            <a:off x="594360" y="3712464"/>
            <a:ext cx="2395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Ditulis sebelum while: nilai awal variabel penghitung.</a:t>
            </a:r>
            <a:endParaRPr lang="en-US" sz="1400" dirty="0"/>
          </a:p>
        </p:txBody>
      </p:sp>
      <p:sp>
        <p:nvSpPr>
          <p:cNvPr id="13" name="Contoh komponen"/>
          <p:cNvSpPr txBox="1"/>
          <p:nvPr/>
        </p:nvSpPr>
        <p:spPr>
          <a:xfrm>
            <a:off x="594360" y="4242816"/>
            <a:ext cx="2377440" cy="310896"/>
          </a:xfrm>
          <a:prstGeom prst="roundRect">
            <a:avLst>
              <a:gd name="adj" fmla="val 17647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i = 1</a:t>
            </a:r>
            <a:endParaRPr lang="en-US" sz="1400" dirty="0"/>
          </a:p>
        </p:txBody>
      </p:sp>
      <p:sp>
        <p:nvSpPr>
          <p:cNvPr id="14" name="Kartu komponen"/>
          <p:cNvSpPr/>
          <p:nvPr/>
        </p:nvSpPr>
        <p:spPr>
          <a:xfrm>
            <a:off x="3246120" y="3236976"/>
            <a:ext cx="2651760" cy="1389888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15" name="Penanda warna"/>
          <p:cNvSpPr/>
          <p:nvPr/>
        </p:nvSpPr>
        <p:spPr>
          <a:xfrm>
            <a:off x="3383280" y="3419856"/>
            <a:ext cx="182880" cy="18288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6" name="Judul komponen"/>
          <p:cNvSpPr txBox="1"/>
          <p:nvPr/>
        </p:nvSpPr>
        <p:spPr>
          <a:xfrm>
            <a:off x="3657600" y="334670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Kondisi</a:t>
            </a:r>
            <a:endParaRPr lang="en-US" sz="1500" dirty="0"/>
          </a:p>
        </p:txBody>
      </p:sp>
      <p:sp>
        <p:nvSpPr>
          <p:cNvPr id="17" name="Deskripsi komponen"/>
          <p:cNvSpPr txBox="1"/>
          <p:nvPr/>
        </p:nvSpPr>
        <p:spPr>
          <a:xfrm>
            <a:off x="3383280" y="3712464"/>
            <a:ext cx="2395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Di dalam tanda kurung: true lanjut, false berhenti.</a:t>
            </a:r>
            <a:endParaRPr lang="en-US" sz="1400" dirty="0"/>
          </a:p>
        </p:txBody>
      </p:sp>
      <p:sp>
        <p:nvSpPr>
          <p:cNvPr id="18" name="Contoh komponen"/>
          <p:cNvSpPr txBox="1"/>
          <p:nvPr/>
        </p:nvSpPr>
        <p:spPr>
          <a:xfrm>
            <a:off x="3383280" y="4242816"/>
            <a:ext cx="2377440" cy="310896"/>
          </a:xfrm>
          <a:prstGeom prst="roundRect">
            <a:avLst>
              <a:gd name="adj" fmla="val 17647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&lt;= 5</a:t>
            </a:r>
            <a:endParaRPr lang="en-US" sz="1400" dirty="0"/>
          </a:p>
        </p:txBody>
      </p:sp>
      <p:sp>
        <p:nvSpPr>
          <p:cNvPr id="19" name="Kartu komponen"/>
          <p:cNvSpPr/>
          <p:nvPr/>
        </p:nvSpPr>
        <p:spPr>
          <a:xfrm>
            <a:off x="6035040" y="3236976"/>
            <a:ext cx="2651760" cy="1389888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20" name="Penanda warna"/>
          <p:cNvSpPr/>
          <p:nvPr/>
        </p:nvSpPr>
        <p:spPr>
          <a:xfrm>
            <a:off x="6172200" y="3419856"/>
            <a:ext cx="182880" cy="18288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1" name="Judul komponen"/>
          <p:cNvSpPr txBox="1"/>
          <p:nvPr/>
        </p:nvSpPr>
        <p:spPr>
          <a:xfrm>
            <a:off x="6446520" y="334670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Increment / Decrement</a:t>
            </a:r>
            <a:endParaRPr lang="en-US" sz="1500" dirty="0"/>
          </a:p>
        </p:txBody>
      </p:sp>
      <p:sp>
        <p:nvSpPr>
          <p:cNvPr id="22" name="Deskripsi komponen"/>
          <p:cNvSpPr txBox="1"/>
          <p:nvPr/>
        </p:nvSpPr>
        <p:spPr>
          <a:xfrm>
            <a:off x="6172200" y="3712464"/>
            <a:ext cx="2395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Ditulis di dalam isi; tanpa ini terjadi infinite loop.</a:t>
            </a:r>
            <a:endParaRPr lang="en-US" sz="1400" dirty="0"/>
          </a:p>
        </p:txBody>
      </p:sp>
      <p:sp>
        <p:nvSpPr>
          <p:cNvPr id="23" name="Contoh komponen"/>
          <p:cNvSpPr txBox="1"/>
          <p:nvPr/>
        </p:nvSpPr>
        <p:spPr>
          <a:xfrm>
            <a:off x="6172200" y="4242816"/>
            <a:ext cx="2377440" cy="310896"/>
          </a:xfrm>
          <a:prstGeom prst="roundRect">
            <a:avLst>
              <a:gd name="adj" fmla="val 17647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i++   atau   i--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while: Contoh Kode</a:t>
            </a:r>
            <a:endParaRPr lang="en-US" sz="3600" dirty="0"/>
          </a:p>
        </p:txBody>
      </p:sp>
      <p:sp>
        <p:nvSpPr>
          <p:cNvPr id="3" name="Judul contoh"/>
          <p:cNvSpPr txBox="1"/>
          <p:nvPr/>
        </p:nvSpPr>
        <p:spPr>
          <a:xfrm>
            <a:off x="457200" y="10972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Contoh 1: cetak 1 sampai 5</a:t>
            </a:r>
            <a:endParaRPr lang="en-US" sz="1600" dirty="0"/>
          </a:p>
        </p:txBody>
      </p:sp>
      <p:sp>
        <p:nvSpPr>
          <p:cNvPr id="4" name="Panel kode"/>
          <p:cNvSpPr/>
          <p:nvPr/>
        </p:nvSpPr>
        <p:spPr>
          <a:xfrm>
            <a:off x="457200" y="1481328"/>
            <a:ext cx="4023360" cy="1600200"/>
          </a:xfrm>
          <a:prstGeom prst="roundRect">
            <a:avLst>
              <a:gd name="adj" fmla="val 4571"/>
            </a:avLst>
          </a:prstGeom>
          <a:solidFill>
            <a:schemeClr val="tx1"/>
          </a:solidFill>
          <a:ln/>
        </p:spPr>
      </p:sp>
      <p:sp>
        <p:nvSpPr>
          <p:cNvPr id="5" name="Kode"/>
          <p:cNvSpPr txBox="1"/>
          <p:nvPr/>
        </p:nvSpPr>
        <p:spPr>
          <a:xfrm>
            <a:off x="640080" y="1618488"/>
            <a:ext cx="3703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5FE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i = 1;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4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400" b="1" dirty="0">
                <a:solidFill>
                  <a:srgbClr val="FFC2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&lt;= 5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00" dirty="0">
                <a:solidFill>
                  <a:srgbClr val="8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 + </a:t>
            </a:r>
            <a:r>
              <a:rPr lang="en-US" sz="1400" dirty="0">
                <a:solidFill>
                  <a:srgbClr val="F5B5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"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00" b="1" dirty="0">
                <a:solidFill>
                  <a:srgbClr val="FF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i++;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Panel output"/>
          <p:cNvSpPr/>
          <p:nvPr/>
        </p:nvSpPr>
        <p:spPr>
          <a:xfrm>
            <a:off x="457200" y="3191256"/>
            <a:ext cx="402336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/>
        </p:spPr>
      </p:sp>
      <p:sp>
        <p:nvSpPr>
          <p:cNvPr id="7" name="Teks output"/>
          <p:cNvSpPr txBox="1"/>
          <p:nvPr/>
        </p:nvSpPr>
        <p:spPr>
          <a:xfrm>
            <a:off x="640080" y="3191256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OUTPUT   </a:t>
            </a: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1 2 3 4 5</a:t>
            </a:r>
            <a:endParaRPr lang="en-US" sz="1200" dirty="0"/>
          </a:p>
        </p:txBody>
      </p:sp>
      <p:sp>
        <p:nvSpPr>
          <p:cNvPr id="8" name="Catatan contoh"/>
          <p:cNvSpPr txBox="1"/>
          <p:nvPr/>
        </p:nvSpPr>
        <p:spPr>
          <a:xfrm>
            <a:off x="457200" y="3785616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Saat i = 6 kondisi false sehingga while berhenti.</a:t>
            </a:r>
            <a:endParaRPr lang="en-US" sz="1400" dirty="0"/>
          </a:p>
        </p:txBody>
      </p:sp>
      <p:sp>
        <p:nvSpPr>
          <p:cNvPr id="9" name="Judul contoh"/>
          <p:cNvSpPr txBox="1"/>
          <p:nvPr/>
        </p:nvSpPr>
        <p:spPr>
          <a:xfrm>
            <a:off x="4663440" y="10972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Contoh 2: hitung mundur</a:t>
            </a:r>
            <a:endParaRPr lang="en-US" sz="1600" dirty="0"/>
          </a:p>
        </p:txBody>
      </p:sp>
      <p:sp>
        <p:nvSpPr>
          <p:cNvPr id="10" name="Panel kode"/>
          <p:cNvSpPr/>
          <p:nvPr/>
        </p:nvSpPr>
        <p:spPr>
          <a:xfrm>
            <a:off x="4663440" y="1481328"/>
            <a:ext cx="4023360" cy="1600200"/>
          </a:xfrm>
          <a:prstGeom prst="roundRect">
            <a:avLst>
              <a:gd name="adj" fmla="val 4571"/>
            </a:avLst>
          </a:prstGeom>
          <a:solidFill>
            <a:schemeClr val="tx1"/>
          </a:solidFill>
          <a:ln/>
        </p:spPr>
      </p:sp>
      <p:sp>
        <p:nvSpPr>
          <p:cNvPr id="11" name="Kode"/>
          <p:cNvSpPr txBox="1"/>
          <p:nvPr/>
        </p:nvSpPr>
        <p:spPr>
          <a:xfrm>
            <a:off x="4846320" y="1618488"/>
            <a:ext cx="3703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5FE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n = 5;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4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400" b="1" dirty="0">
                <a:solidFill>
                  <a:srgbClr val="FFC2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&gt;= 1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00" dirty="0">
                <a:solidFill>
                  <a:srgbClr val="8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 + </a:t>
            </a:r>
            <a:r>
              <a:rPr lang="en-US" sz="1400" dirty="0">
                <a:solidFill>
                  <a:srgbClr val="F5B5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"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00" b="1" dirty="0">
                <a:solidFill>
                  <a:srgbClr val="FF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n--;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12" name="Panel output"/>
          <p:cNvSpPr/>
          <p:nvPr/>
        </p:nvSpPr>
        <p:spPr>
          <a:xfrm>
            <a:off x="4663440" y="3191256"/>
            <a:ext cx="402336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/>
        </p:spPr>
      </p:sp>
      <p:sp>
        <p:nvSpPr>
          <p:cNvPr id="13" name="Teks output"/>
          <p:cNvSpPr txBox="1"/>
          <p:nvPr/>
        </p:nvSpPr>
        <p:spPr>
          <a:xfrm>
            <a:off x="4846320" y="3191256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OUTPUT   </a:t>
            </a: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5 4 3 2 1</a:t>
            </a:r>
            <a:endParaRPr lang="en-US" sz="1200" dirty="0"/>
          </a:p>
        </p:txBody>
      </p:sp>
      <p:sp>
        <p:nvSpPr>
          <p:cNvPr id="14" name="Catatan contoh"/>
          <p:cNvSpPr txBox="1"/>
          <p:nvPr/>
        </p:nvSpPr>
        <p:spPr>
          <a:xfrm>
            <a:off x="4663440" y="3785616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n-- dipakai karena nilainya turun; kondisi memakai &gt;=.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while: Putaran Tak Pasti</a:t>
            </a:r>
            <a:endParaRPr lang="en-US" sz="3600" dirty="0"/>
          </a:p>
        </p:txBody>
      </p:sp>
      <p:sp>
        <p:nvSpPr>
          <p:cNvPr id="3" name="Panel kode"/>
          <p:cNvSpPr/>
          <p:nvPr/>
        </p:nvSpPr>
        <p:spPr>
          <a:xfrm>
            <a:off x="457200" y="1097280"/>
            <a:ext cx="5120640" cy="2002536"/>
          </a:xfrm>
          <a:prstGeom prst="roundRect">
            <a:avLst>
              <a:gd name="adj" fmla="val 3653"/>
            </a:avLst>
          </a:prstGeom>
          <a:solidFill>
            <a:schemeClr val="tx1"/>
          </a:solidFill>
          <a:ln/>
        </p:spPr>
      </p:sp>
      <p:sp>
        <p:nvSpPr>
          <p:cNvPr id="4" name="Label panel"/>
          <p:cNvSpPr txBox="1"/>
          <p:nvPr/>
        </p:nvSpPr>
        <p:spPr>
          <a:xfrm>
            <a:off x="640080" y="1170432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9AEE0"/>
                </a:solidFill>
              </a:rPr>
              <a:t>CONTOH</a:t>
            </a:r>
            <a:endParaRPr lang="en-US" sz="1100" dirty="0"/>
          </a:p>
        </p:txBody>
      </p:sp>
      <p:sp>
        <p:nvSpPr>
          <p:cNvPr id="5" name="Kode"/>
          <p:cNvSpPr txBox="1"/>
          <p:nvPr/>
        </p:nvSpPr>
        <p:spPr>
          <a:xfrm>
            <a:off x="640080" y="1408176"/>
            <a:ext cx="4800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5FE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kata = "";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4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400" b="1" dirty="0">
                <a:solidFill>
                  <a:srgbClr val="FFC2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kata != "selesai"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00" dirty="0">
                <a:solidFill>
                  <a:srgbClr val="8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dirty="0">
                <a:solidFill>
                  <a:srgbClr val="F5B5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"Ketik kata: "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00" b="1" dirty="0">
                <a:solidFill>
                  <a:srgbClr val="FF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kata = Console.ReadLine();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dirty="0">
                <a:solidFill>
                  <a:srgbClr val="F5B5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"Program berhenti"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00" dirty="0"/>
          </a:p>
        </p:txBody>
      </p:sp>
      <p:sp>
        <p:nvSpPr>
          <p:cNvPr id="6" name="Panel jalannya program"/>
          <p:cNvSpPr/>
          <p:nvPr/>
        </p:nvSpPr>
        <p:spPr>
          <a:xfrm>
            <a:off x="457200" y="3218688"/>
            <a:ext cx="5120640" cy="1408176"/>
          </a:xfrm>
          <a:prstGeom prst="roundRect">
            <a:avLst>
              <a:gd name="adj" fmla="val 5195"/>
            </a:avLst>
          </a:prstGeom>
          <a:solidFill>
            <a:schemeClr val="bg2"/>
          </a:solidFill>
          <a:ln/>
        </p:spPr>
      </p:sp>
      <p:sp>
        <p:nvSpPr>
          <p:cNvPr id="7" name="Label jalannya program"/>
          <p:cNvSpPr txBox="1"/>
          <p:nvPr/>
        </p:nvSpPr>
        <p:spPr>
          <a:xfrm>
            <a:off x="640080" y="329184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chemeClr val="accent6"/>
                </a:solidFill>
              </a:rPr>
              <a:t>CONTOH JALANNYA PROGRAM</a:t>
            </a:r>
            <a:endParaRPr lang="en-US" sz="1100" dirty="0"/>
          </a:p>
        </p:txBody>
      </p:sp>
      <p:sp>
        <p:nvSpPr>
          <p:cNvPr id="8" name="Jalannya program"/>
          <p:cNvSpPr txBox="1"/>
          <p:nvPr/>
        </p:nvSpPr>
        <p:spPr>
          <a:xfrm>
            <a:off x="640080" y="3529584"/>
            <a:ext cx="475488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Ketik kata: halo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Ketik kata: csharp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Ketik kata: selesai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 berhenti</a:t>
            </a:r>
            <a:endParaRPr lang="en-US" sz="1400" dirty="0"/>
          </a:p>
        </p:txBody>
      </p:sp>
      <p:sp>
        <p:nvSpPr>
          <p:cNvPr id="9" name="Kartu penjelasan"/>
          <p:cNvSpPr/>
          <p:nvPr/>
        </p:nvSpPr>
        <p:spPr>
          <a:xfrm>
            <a:off x="5760720" y="1097280"/>
            <a:ext cx="292608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0" name="Lingkaran nomor"/>
          <p:cNvSpPr/>
          <p:nvPr/>
        </p:nvSpPr>
        <p:spPr>
          <a:xfrm>
            <a:off x="5897880" y="123444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Nomor"/>
          <p:cNvSpPr txBox="1"/>
          <p:nvPr/>
        </p:nvSpPr>
        <p:spPr>
          <a:xfrm>
            <a:off x="589788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2" name="Teks penjelasan"/>
          <p:cNvSpPr txBox="1"/>
          <p:nvPr/>
        </p:nvSpPr>
        <p:spPr>
          <a:xfrm>
            <a:off x="6400800" y="1170432"/>
            <a:ext cx="21488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Variabel kata diberi nilai awal agar kondisi bisa dicek pertama kali.</a:t>
            </a:r>
            <a:endParaRPr lang="en-US" sz="1400" dirty="0"/>
          </a:p>
        </p:txBody>
      </p:sp>
      <p:sp>
        <p:nvSpPr>
          <p:cNvPr id="13" name="Kartu penjelasan"/>
          <p:cNvSpPr/>
          <p:nvPr/>
        </p:nvSpPr>
        <p:spPr>
          <a:xfrm>
            <a:off x="5760720" y="2313432"/>
            <a:ext cx="292608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4" name="Lingkaran nomor"/>
          <p:cNvSpPr/>
          <p:nvPr/>
        </p:nvSpPr>
        <p:spPr>
          <a:xfrm>
            <a:off x="5897880" y="245059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Nomor"/>
          <p:cNvSpPr txBox="1"/>
          <p:nvPr/>
        </p:nvSpPr>
        <p:spPr>
          <a:xfrm>
            <a:off x="5897880" y="2450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ks penjelasan"/>
          <p:cNvSpPr txBox="1"/>
          <p:nvPr/>
        </p:nvSpPr>
        <p:spPr>
          <a:xfrm>
            <a:off x="6400800" y="2386584"/>
            <a:ext cx="21488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Selama kata belum sama dengan selesai, program terus meminta input.</a:t>
            </a:r>
            <a:endParaRPr lang="en-US" sz="1400" dirty="0"/>
          </a:p>
        </p:txBody>
      </p:sp>
      <p:sp>
        <p:nvSpPr>
          <p:cNvPr id="17" name="Kartu penjelasan"/>
          <p:cNvSpPr/>
          <p:nvPr/>
        </p:nvSpPr>
        <p:spPr>
          <a:xfrm>
            <a:off x="5760720" y="3529584"/>
            <a:ext cx="292608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8" name="Lingkaran nomor"/>
          <p:cNvSpPr/>
          <p:nvPr/>
        </p:nvSpPr>
        <p:spPr>
          <a:xfrm>
            <a:off x="5897880" y="366674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Nomor"/>
          <p:cNvSpPr txBox="1"/>
          <p:nvPr/>
        </p:nvSpPr>
        <p:spPr>
          <a:xfrm>
            <a:off x="5897880" y="36667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ks penjelasan"/>
          <p:cNvSpPr txBox="1"/>
          <p:nvPr/>
        </p:nvSpPr>
        <p:spPr>
          <a:xfrm>
            <a:off x="6400800" y="3602736"/>
            <a:ext cx="21488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Jumlah putaran tidak pasti. Variabel berubah lewat ReadLine(), bukan i++.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do while: Pengertian</a:t>
            </a:r>
            <a:endParaRPr lang="en-US" sz="3600" dirty="0"/>
          </a:p>
        </p:txBody>
      </p:sp>
      <p:sp>
        <p:nvSpPr>
          <p:cNvPr id="3" name="Pengertian"/>
          <p:cNvSpPr txBox="1"/>
          <p:nvPr/>
        </p:nvSpPr>
        <p:spPr>
          <a:xfrm>
            <a:off x="457200" y="109728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Perulangan do while mirip while, tetapi isi blok dijalankan terlebih dahulu, baru kondisi dicek. Dipakai saat blok harus berjalan minimal satu kali.</a:t>
            </a:r>
            <a:endParaRPr lang="en-US" sz="1600" dirty="0"/>
          </a:p>
        </p:txBody>
      </p:sp>
      <p:sp>
        <p:nvSpPr>
          <p:cNvPr id="4" name="Poin penting"/>
          <p:cNvSpPr/>
          <p:nvPr/>
        </p:nvSpPr>
        <p:spPr>
          <a:xfrm>
            <a:off x="457200" y="2331720"/>
            <a:ext cx="475488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5" name="Lingkaran ikon"/>
          <p:cNvSpPr/>
          <p:nvPr/>
        </p:nvSpPr>
        <p:spPr>
          <a:xfrm>
            <a:off x="640080" y="25603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Lightbulb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2674620"/>
            <a:ext cx="228600" cy="228600"/>
          </a:xfrm>
          <a:prstGeom prst="rect">
            <a:avLst/>
          </a:prstGeom>
        </p:spPr>
      </p:pic>
      <p:sp>
        <p:nvSpPr>
          <p:cNvPr id="7" name="Teks poin penting"/>
          <p:cNvSpPr txBox="1"/>
          <p:nvPr/>
        </p:nvSpPr>
        <p:spPr>
          <a:xfrm>
            <a:off x="1280160" y="233172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Isi dijalankan dulu, kondisi dicek di akhir. Karena itu isi selalu tereksekusi minimal 1 kali.</a:t>
            </a:r>
            <a:endParaRPr lang="en-US" sz="1400" dirty="0"/>
          </a:p>
        </p:txBody>
      </p:sp>
      <p:sp>
        <p:nvSpPr>
          <p:cNvPr id="8" name="Judul kegunaan"/>
          <p:cNvSpPr txBox="1"/>
          <p:nvPr/>
        </p:nvSpPr>
        <p:spPr>
          <a:xfrm>
            <a:off x="5577840" y="10972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Cocok untuk</a:t>
            </a:r>
            <a:endParaRPr lang="en-US" sz="1600" dirty="0"/>
          </a:p>
        </p:txBody>
      </p:sp>
      <p:pic>
        <p:nvPicPr>
          <p:cNvPr id="9" name="Image 1" descr="centa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1645920"/>
            <a:ext cx="237744" cy="237744"/>
          </a:xfrm>
          <a:prstGeom prst="rect">
            <a:avLst/>
          </a:prstGeom>
        </p:spPr>
      </p:pic>
      <p:sp>
        <p:nvSpPr>
          <p:cNvPr id="10" name="Kegunaan 1"/>
          <p:cNvSpPr txBox="1"/>
          <p:nvPr/>
        </p:nvSpPr>
        <p:spPr>
          <a:xfrm>
            <a:off x="5943600" y="155448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Menu yang tampil minimal sekali</a:t>
            </a:r>
            <a:endParaRPr lang="en-US" sz="1400" dirty="0"/>
          </a:p>
        </p:txBody>
      </p:sp>
      <p:pic>
        <p:nvPicPr>
          <p:cNvPr id="11" name="Image 2" descr="centa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2103120"/>
            <a:ext cx="237744" cy="237744"/>
          </a:xfrm>
          <a:prstGeom prst="rect">
            <a:avLst/>
          </a:prstGeom>
        </p:spPr>
      </p:pic>
      <p:sp>
        <p:nvSpPr>
          <p:cNvPr id="12" name="Kegunaan 2"/>
          <p:cNvSpPr txBox="1"/>
          <p:nvPr/>
        </p:nvSpPr>
        <p:spPr>
          <a:xfrm>
            <a:off x="5943600" y="201168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Input yang harus diminta dulu</a:t>
            </a:r>
            <a:endParaRPr lang="en-US" sz="1400" dirty="0"/>
          </a:p>
        </p:txBody>
      </p:sp>
      <p:pic>
        <p:nvPicPr>
          <p:cNvPr id="13" name="Image 3" descr="centa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2560320"/>
            <a:ext cx="237744" cy="237744"/>
          </a:xfrm>
          <a:prstGeom prst="rect">
            <a:avLst/>
          </a:prstGeom>
        </p:spPr>
      </p:pic>
      <p:sp>
        <p:nvSpPr>
          <p:cNvPr id="14" name="Kegunaan 3"/>
          <p:cNvSpPr txBox="1"/>
          <p:nvPr/>
        </p:nvSpPr>
        <p:spPr>
          <a:xfrm>
            <a:off x="5943600" y="246888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Game tebak angka</a:t>
            </a:r>
            <a:endParaRPr lang="en-US" sz="1400" dirty="0"/>
          </a:p>
        </p:txBody>
      </p:sp>
      <p:pic>
        <p:nvPicPr>
          <p:cNvPr id="15" name="Image 4" descr="centa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3017520"/>
            <a:ext cx="237744" cy="237744"/>
          </a:xfrm>
          <a:prstGeom prst="rect">
            <a:avLst/>
          </a:prstGeom>
        </p:spPr>
      </p:pic>
      <p:sp>
        <p:nvSpPr>
          <p:cNvPr id="16" name="Kegunaan 4"/>
          <p:cNvSpPr txBox="1"/>
          <p:nvPr/>
        </p:nvSpPr>
        <p:spPr>
          <a:xfrm>
            <a:off x="5943600" y="292608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Konfirmasi ulangi program (y/n)</a:t>
            </a:r>
            <a:endParaRPr lang="en-US" sz="1400" dirty="0"/>
          </a:p>
        </p:txBody>
      </p:sp>
      <p:sp>
        <p:nvSpPr>
          <p:cNvPr id="17" name="Langkah 1"/>
          <p:cNvSpPr txBox="1"/>
          <p:nvPr/>
        </p:nvSpPr>
        <p:spPr>
          <a:xfrm>
            <a:off x="457200" y="3611880"/>
            <a:ext cx="1737360" cy="594360"/>
          </a:xfrm>
          <a:prstGeom prst="roundRect">
            <a:avLst>
              <a:gd name="adj" fmla="val 12308"/>
            </a:avLst>
          </a:prstGeom>
          <a:solidFill>
            <a:schemeClr val="accent2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1. Inisialisasi</a:t>
            </a:r>
            <a:endParaRPr lang="en-US" sz="1400" dirty="0"/>
          </a:p>
        </p:txBody>
      </p:sp>
      <p:sp>
        <p:nvSpPr>
          <p:cNvPr id="18" name="Panah"/>
          <p:cNvSpPr/>
          <p:nvPr/>
        </p:nvSpPr>
        <p:spPr>
          <a:xfrm>
            <a:off x="2240280" y="3909060"/>
            <a:ext cx="33528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9" name="Langkah 2"/>
          <p:cNvSpPr txBox="1"/>
          <p:nvPr/>
        </p:nvSpPr>
        <p:spPr>
          <a:xfrm>
            <a:off x="2621280" y="3611880"/>
            <a:ext cx="1737360" cy="594360"/>
          </a:xfrm>
          <a:prstGeom prst="roundRect">
            <a:avLst>
              <a:gd name="adj" fmla="val 12308"/>
            </a:avLst>
          </a:prstGeom>
          <a:solidFill>
            <a:schemeClr val="accent1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2. Isi perulangan</a:t>
            </a:r>
            <a:endParaRPr lang="en-US" sz="1400" dirty="0"/>
          </a:p>
        </p:txBody>
      </p:sp>
      <p:sp>
        <p:nvSpPr>
          <p:cNvPr id="20" name="Panah"/>
          <p:cNvSpPr/>
          <p:nvPr/>
        </p:nvSpPr>
        <p:spPr>
          <a:xfrm>
            <a:off x="4404360" y="3909060"/>
            <a:ext cx="33528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1" name="Langkah 3"/>
          <p:cNvSpPr txBox="1"/>
          <p:nvPr/>
        </p:nvSpPr>
        <p:spPr>
          <a:xfrm>
            <a:off x="4785360" y="3611880"/>
            <a:ext cx="1737360" cy="594360"/>
          </a:xfrm>
          <a:prstGeom prst="roundRect">
            <a:avLst>
              <a:gd name="adj" fmla="val 12308"/>
            </a:avLst>
          </a:prstGeom>
          <a:solidFill>
            <a:schemeClr val="accent4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3. i++ / i--</a:t>
            </a:r>
            <a:endParaRPr lang="en-US" sz="1400" dirty="0"/>
          </a:p>
        </p:txBody>
      </p:sp>
      <p:sp>
        <p:nvSpPr>
          <p:cNvPr id="22" name="Panah"/>
          <p:cNvSpPr/>
          <p:nvPr/>
        </p:nvSpPr>
        <p:spPr>
          <a:xfrm>
            <a:off x="6568440" y="3909060"/>
            <a:ext cx="33528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3" name="Langkah 4"/>
          <p:cNvSpPr txBox="1"/>
          <p:nvPr/>
        </p:nvSpPr>
        <p:spPr>
          <a:xfrm>
            <a:off x="6949440" y="3611880"/>
            <a:ext cx="1737360" cy="594360"/>
          </a:xfrm>
          <a:prstGeom prst="roundRect">
            <a:avLst>
              <a:gd name="adj" fmla="val 12308"/>
            </a:avLst>
          </a:prstGeom>
          <a:solidFill>
            <a:schemeClr val="accent3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4. Kondisi?</a:t>
            </a:r>
            <a:endParaRPr lang="en-US" sz="1400" dirty="0"/>
          </a:p>
        </p:txBody>
      </p:sp>
      <p:sp>
        <p:nvSpPr>
          <p:cNvPr id="24" name="Garis balik"/>
          <p:cNvSpPr/>
          <p:nvPr/>
        </p:nvSpPr>
        <p:spPr>
          <a:xfrm>
            <a:off x="7818120" y="4206240"/>
            <a:ext cx="0" cy="201168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25" name="Garis balik"/>
          <p:cNvSpPr/>
          <p:nvPr/>
        </p:nvSpPr>
        <p:spPr>
          <a:xfrm>
            <a:off x="3489960" y="4407408"/>
            <a:ext cx="432816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26" name="Panah balik"/>
          <p:cNvSpPr/>
          <p:nvPr/>
        </p:nvSpPr>
        <p:spPr>
          <a:xfrm flipV="1">
            <a:off x="3489960" y="4206240"/>
            <a:ext cx="0" cy="201168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7" name="Keterangan alur"/>
          <p:cNvSpPr txBox="1"/>
          <p:nvPr/>
        </p:nvSpPr>
        <p:spPr>
          <a:xfrm>
            <a:off x="3916680" y="444398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kondisi true: ulangi lagi  |  false: keluar</a:t>
            </a:r>
            <a:endParaRPr lang="en-US" sz="12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do while: Sintaks &amp; Komponen</a:t>
            </a:r>
            <a:endParaRPr lang="en-US" sz="3600" dirty="0"/>
          </a:p>
        </p:txBody>
      </p:sp>
      <p:sp>
        <p:nvSpPr>
          <p:cNvPr id="3" name="Panel kode"/>
          <p:cNvSpPr/>
          <p:nvPr/>
        </p:nvSpPr>
        <p:spPr>
          <a:xfrm>
            <a:off x="457200" y="1097280"/>
            <a:ext cx="4023360" cy="2002536"/>
          </a:xfrm>
          <a:prstGeom prst="roundRect">
            <a:avLst>
              <a:gd name="adj" fmla="val 3653"/>
            </a:avLst>
          </a:prstGeom>
          <a:solidFill>
            <a:schemeClr val="tx1"/>
          </a:solidFill>
          <a:ln/>
        </p:spPr>
      </p:sp>
      <p:sp>
        <p:nvSpPr>
          <p:cNvPr id="4" name="Label panel"/>
          <p:cNvSpPr txBox="1"/>
          <p:nvPr/>
        </p:nvSpPr>
        <p:spPr>
          <a:xfrm>
            <a:off x="640080" y="117043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9AEE0"/>
                </a:solidFill>
              </a:rPr>
              <a:t>SINTAKS</a:t>
            </a:r>
            <a:endParaRPr lang="en-US" sz="1100" dirty="0"/>
          </a:p>
        </p:txBody>
      </p:sp>
      <p:sp>
        <p:nvSpPr>
          <p:cNvPr id="5" name="Kode"/>
          <p:cNvSpPr txBox="1"/>
          <p:nvPr/>
        </p:nvSpPr>
        <p:spPr>
          <a:xfrm>
            <a:off x="640080" y="1408176"/>
            <a:ext cx="3703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5FE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inisialisasi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4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00" dirty="0">
                <a:solidFill>
                  <a:srgbClr val="9A9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isi perulangan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00" b="1" dirty="0">
                <a:solidFill>
                  <a:srgbClr val="FF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increment/decrement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r>
              <a:rPr lang="en-US" sz="1400" dirty="0">
                <a:solidFill>
                  <a:srgbClr val="C4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400" b="1" dirty="0">
                <a:solidFill>
                  <a:srgbClr val="FFC2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kondisi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00" dirty="0"/>
          </a:p>
        </p:txBody>
      </p:sp>
      <p:sp>
        <p:nvSpPr>
          <p:cNvPr id="6" name="Panel kode"/>
          <p:cNvSpPr/>
          <p:nvPr/>
        </p:nvSpPr>
        <p:spPr>
          <a:xfrm>
            <a:off x="4663440" y="1097280"/>
            <a:ext cx="4023360" cy="2002536"/>
          </a:xfrm>
          <a:prstGeom prst="roundRect">
            <a:avLst>
              <a:gd name="adj" fmla="val 3653"/>
            </a:avLst>
          </a:prstGeom>
          <a:solidFill>
            <a:schemeClr val="tx1"/>
          </a:solidFill>
          <a:ln/>
        </p:spPr>
      </p:sp>
      <p:sp>
        <p:nvSpPr>
          <p:cNvPr id="7" name="Label panel"/>
          <p:cNvSpPr txBox="1"/>
          <p:nvPr/>
        </p:nvSpPr>
        <p:spPr>
          <a:xfrm>
            <a:off x="4846320" y="117043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9AEE0"/>
                </a:solidFill>
              </a:rPr>
              <a:t>CONTOH</a:t>
            </a:r>
            <a:endParaRPr lang="en-US" sz="1100" dirty="0"/>
          </a:p>
        </p:txBody>
      </p:sp>
      <p:sp>
        <p:nvSpPr>
          <p:cNvPr id="8" name="Kode"/>
          <p:cNvSpPr txBox="1"/>
          <p:nvPr/>
        </p:nvSpPr>
        <p:spPr>
          <a:xfrm>
            <a:off x="4846320" y="1408176"/>
            <a:ext cx="3703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5FE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i = 1;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4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00" dirty="0">
                <a:solidFill>
                  <a:srgbClr val="8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00" b="1" dirty="0">
                <a:solidFill>
                  <a:srgbClr val="FF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i++;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r>
              <a:rPr lang="en-US" sz="1400" dirty="0">
                <a:solidFill>
                  <a:srgbClr val="C4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400" b="1" dirty="0">
                <a:solidFill>
                  <a:srgbClr val="FFC2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&lt;= 5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00" dirty="0"/>
          </a:p>
        </p:txBody>
      </p:sp>
      <p:sp>
        <p:nvSpPr>
          <p:cNvPr id="9" name="Kartu komponen"/>
          <p:cNvSpPr/>
          <p:nvPr/>
        </p:nvSpPr>
        <p:spPr>
          <a:xfrm>
            <a:off x="457200" y="3236976"/>
            <a:ext cx="2651760" cy="1389888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10" name="Penanda warna"/>
          <p:cNvSpPr/>
          <p:nvPr/>
        </p:nvSpPr>
        <p:spPr>
          <a:xfrm>
            <a:off x="594360" y="3419856"/>
            <a:ext cx="182880" cy="1828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Judul komponen"/>
          <p:cNvSpPr txBox="1"/>
          <p:nvPr/>
        </p:nvSpPr>
        <p:spPr>
          <a:xfrm>
            <a:off x="868680" y="334670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Inisialisasi</a:t>
            </a:r>
            <a:endParaRPr lang="en-US" sz="1500" dirty="0"/>
          </a:p>
        </p:txBody>
      </p:sp>
      <p:sp>
        <p:nvSpPr>
          <p:cNvPr id="12" name="Deskripsi komponen"/>
          <p:cNvSpPr txBox="1"/>
          <p:nvPr/>
        </p:nvSpPr>
        <p:spPr>
          <a:xfrm>
            <a:off x="594360" y="3712464"/>
            <a:ext cx="2395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Ditulis sebelum do: nilai awal variabel penghitung.</a:t>
            </a:r>
            <a:endParaRPr lang="en-US" sz="1400" dirty="0"/>
          </a:p>
        </p:txBody>
      </p:sp>
      <p:sp>
        <p:nvSpPr>
          <p:cNvPr id="13" name="Contoh komponen"/>
          <p:cNvSpPr txBox="1"/>
          <p:nvPr/>
        </p:nvSpPr>
        <p:spPr>
          <a:xfrm>
            <a:off x="594360" y="4242816"/>
            <a:ext cx="2377440" cy="310896"/>
          </a:xfrm>
          <a:prstGeom prst="roundRect">
            <a:avLst>
              <a:gd name="adj" fmla="val 17647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i = 1</a:t>
            </a:r>
            <a:endParaRPr lang="en-US" sz="1400" dirty="0"/>
          </a:p>
        </p:txBody>
      </p:sp>
      <p:sp>
        <p:nvSpPr>
          <p:cNvPr id="14" name="Kartu komponen"/>
          <p:cNvSpPr/>
          <p:nvPr/>
        </p:nvSpPr>
        <p:spPr>
          <a:xfrm>
            <a:off x="3246120" y="3236976"/>
            <a:ext cx="2651760" cy="1389888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15" name="Penanda warna"/>
          <p:cNvSpPr/>
          <p:nvPr/>
        </p:nvSpPr>
        <p:spPr>
          <a:xfrm>
            <a:off x="3383280" y="3419856"/>
            <a:ext cx="182880" cy="18288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6" name="Judul komponen"/>
          <p:cNvSpPr txBox="1"/>
          <p:nvPr/>
        </p:nvSpPr>
        <p:spPr>
          <a:xfrm>
            <a:off x="3657600" y="334670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Kondisi</a:t>
            </a:r>
            <a:endParaRPr lang="en-US" sz="1500" dirty="0"/>
          </a:p>
        </p:txBody>
      </p:sp>
      <p:sp>
        <p:nvSpPr>
          <p:cNvPr id="17" name="Deskripsi komponen"/>
          <p:cNvSpPr txBox="1"/>
          <p:nvPr/>
        </p:nvSpPr>
        <p:spPr>
          <a:xfrm>
            <a:off x="3383280" y="3712464"/>
            <a:ext cx="2395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Setelah while di akhir blok, wajib diakhiri titik koma (;).</a:t>
            </a:r>
            <a:endParaRPr lang="en-US" sz="1400" dirty="0"/>
          </a:p>
        </p:txBody>
      </p:sp>
      <p:sp>
        <p:nvSpPr>
          <p:cNvPr id="18" name="Contoh komponen"/>
          <p:cNvSpPr txBox="1"/>
          <p:nvPr/>
        </p:nvSpPr>
        <p:spPr>
          <a:xfrm>
            <a:off x="3383280" y="4242816"/>
            <a:ext cx="2377440" cy="310896"/>
          </a:xfrm>
          <a:prstGeom prst="roundRect">
            <a:avLst>
              <a:gd name="adj" fmla="val 17647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&lt;= 5</a:t>
            </a:r>
            <a:endParaRPr lang="en-US" sz="1400" dirty="0"/>
          </a:p>
        </p:txBody>
      </p:sp>
      <p:sp>
        <p:nvSpPr>
          <p:cNvPr id="19" name="Kartu komponen"/>
          <p:cNvSpPr/>
          <p:nvPr/>
        </p:nvSpPr>
        <p:spPr>
          <a:xfrm>
            <a:off x="6035040" y="3236976"/>
            <a:ext cx="2651760" cy="1389888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20" name="Penanda warna"/>
          <p:cNvSpPr/>
          <p:nvPr/>
        </p:nvSpPr>
        <p:spPr>
          <a:xfrm>
            <a:off x="6172200" y="3419856"/>
            <a:ext cx="182880" cy="18288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1" name="Judul komponen"/>
          <p:cNvSpPr txBox="1"/>
          <p:nvPr/>
        </p:nvSpPr>
        <p:spPr>
          <a:xfrm>
            <a:off x="6446520" y="334670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Increment / Decrement</a:t>
            </a:r>
            <a:endParaRPr lang="en-US" sz="1500" dirty="0"/>
          </a:p>
        </p:txBody>
      </p:sp>
      <p:sp>
        <p:nvSpPr>
          <p:cNvPr id="22" name="Deskripsi komponen"/>
          <p:cNvSpPr txBox="1"/>
          <p:nvPr/>
        </p:nvSpPr>
        <p:spPr>
          <a:xfrm>
            <a:off x="6172200" y="3712464"/>
            <a:ext cx="2395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Ditulis di dalam blok do; tanpa ini terjadi infinite loop.</a:t>
            </a:r>
            <a:endParaRPr lang="en-US" sz="1400" dirty="0"/>
          </a:p>
        </p:txBody>
      </p:sp>
      <p:sp>
        <p:nvSpPr>
          <p:cNvPr id="23" name="Contoh komponen"/>
          <p:cNvSpPr txBox="1"/>
          <p:nvPr/>
        </p:nvSpPr>
        <p:spPr>
          <a:xfrm>
            <a:off x="6172200" y="4242816"/>
            <a:ext cx="2377440" cy="310896"/>
          </a:xfrm>
          <a:prstGeom prst="roundRect">
            <a:avLst>
              <a:gd name="adj" fmla="val 17647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i++   atau   i--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do while: Contoh Kode</a:t>
            </a:r>
            <a:endParaRPr lang="en-US" sz="3600" dirty="0"/>
          </a:p>
        </p:txBody>
      </p:sp>
      <p:sp>
        <p:nvSpPr>
          <p:cNvPr id="3" name="Judul contoh"/>
          <p:cNvSpPr txBox="1"/>
          <p:nvPr/>
        </p:nvSpPr>
        <p:spPr>
          <a:xfrm>
            <a:off x="457200" y="10972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Contoh 1: cetak 1 sampai 5</a:t>
            </a:r>
            <a:endParaRPr lang="en-US" sz="1600" dirty="0"/>
          </a:p>
        </p:txBody>
      </p:sp>
      <p:sp>
        <p:nvSpPr>
          <p:cNvPr id="4" name="Panel kode"/>
          <p:cNvSpPr/>
          <p:nvPr/>
        </p:nvSpPr>
        <p:spPr>
          <a:xfrm>
            <a:off x="457200" y="1481328"/>
            <a:ext cx="4023360" cy="1600200"/>
          </a:xfrm>
          <a:prstGeom prst="roundRect">
            <a:avLst>
              <a:gd name="adj" fmla="val 4571"/>
            </a:avLst>
          </a:prstGeom>
          <a:solidFill>
            <a:schemeClr val="tx1"/>
          </a:solidFill>
          <a:ln/>
        </p:spPr>
      </p:sp>
      <p:sp>
        <p:nvSpPr>
          <p:cNvPr id="5" name="Kode"/>
          <p:cNvSpPr txBox="1"/>
          <p:nvPr/>
        </p:nvSpPr>
        <p:spPr>
          <a:xfrm>
            <a:off x="640080" y="1618488"/>
            <a:ext cx="3703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5FE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i = 1;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4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00" dirty="0">
                <a:solidFill>
                  <a:srgbClr val="8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 + </a:t>
            </a:r>
            <a:r>
              <a:rPr lang="en-US" sz="1400" dirty="0">
                <a:solidFill>
                  <a:srgbClr val="F5B5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"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00" b="1" dirty="0">
                <a:solidFill>
                  <a:srgbClr val="FF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i++;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r>
              <a:rPr lang="en-US" sz="1400" dirty="0">
                <a:solidFill>
                  <a:srgbClr val="C4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400" b="1" dirty="0">
                <a:solidFill>
                  <a:srgbClr val="FFC2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&lt;= 5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00" dirty="0"/>
          </a:p>
        </p:txBody>
      </p:sp>
      <p:sp>
        <p:nvSpPr>
          <p:cNvPr id="6" name="Panel output"/>
          <p:cNvSpPr/>
          <p:nvPr/>
        </p:nvSpPr>
        <p:spPr>
          <a:xfrm>
            <a:off x="457200" y="3191256"/>
            <a:ext cx="402336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/>
        </p:spPr>
      </p:sp>
      <p:sp>
        <p:nvSpPr>
          <p:cNvPr id="7" name="Teks output"/>
          <p:cNvSpPr txBox="1"/>
          <p:nvPr/>
        </p:nvSpPr>
        <p:spPr>
          <a:xfrm>
            <a:off x="640080" y="3191256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OUTPUT   </a:t>
            </a: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1 2 3 4 5</a:t>
            </a:r>
            <a:endParaRPr lang="en-US" sz="1200" dirty="0"/>
          </a:p>
        </p:txBody>
      </p:sp>
      <p:sp>
        <p:nvSpPr>
          <p:cNvPr id="8" name="Catatan contoh"/>
          <p:cNvSpPr txBox="1"/>
          <p:nvPr/>
        </p:nvSpPr>
        <p:spPr>
          <a:xfrm>
            <a:off x="457200" y="3785616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Hasilnya sama dengan for dan while untuk kasus ini.</a:t>
            </a:r>
            <a:endParaRPr lang="en-US" sz="1400" dirty="0"/>
          </a:p>
        </p:txBody>
      </p:sp>
      <p:sp>
        <p:nvSpPr>
          <p:cNvPr id="9" name="Judul contoh"/>
          <p:cNvSpPr txBox="1"/>
          <p:nvPr/>
        </p:nvSpPr>
        <p:spPr>
          <a:xfrm>
            <a:off x="4663440" y="10972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Contoh 2: kondisi langsung false</a:t>
            </a:r>
            <a:endParaRPr lang="en-US" sz="1600" dirty="0"/>
          </a:p>
        </p:txBody>
      </p:sp>
      <p:sp>
        <p:nvSpPr>
          <p:cNvPr id="10" name="Panel kode"/>
          <p:cNvSpPr/>
          <p:nvPr/>
        </p:nvSpPr>
        <p:spPr>
          <a:xfrm>
            <a:off x="4663440" y="1481328"/>
            <a:ext cx="4023360" cy="1600200"/>
          </a:xfrm>
          <a:prstGeom prst="roundRect">
            <a:avLst>
              <a:gd name="adj" fmla="val 4571"/>
            </a:avLst>
          </a:prstGeom>
          <a:solidFill>
            <a:schemeClr val="tx1"/>
          </a:solidFill>
          <a:ln/>
        </p:spPr>
      </p:sp>
      <p:sp>
        <p:nvSpPr>
          <p:cNvPr id="11" name="Kode"/>
          <p:cNvSpPr txBox="1"/>
          <p:nvPr/>
        </p:nvSpPr>
        <p:spPr>
          <a:xfrm>
            <a:off x="4846320" y="1618488"/>
            <a:ext cx="3703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5FE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x = 10;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4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00" dirty="0">
                <a:solidFill>
                  <a:srgbClr val="8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dirty="0">
                <a:solidFill>
                  <a:srgbClr val="F5B5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"x = "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x);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00" b="1" dirty="0">
                <a:solidFill>
                  <a:srgbClr val="FF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x++;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r>
              <a:rPr lang="en-US" sz="1400" dirty="0">
                <a:solidFill>
                  <a:srgbClr val="C4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400" b="1" dirty="0">
                <a:solidFill>
                  <a:srgbClr val="FFC2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&lt; 5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00" dirty="0"/>
          </a:p>
        </p:txBody>
      </p:sp>
      <p:sp>
        <p:nvSpPr>
          <p:cNvPr id="12" name="Panel output"/>
          <p:cNvSpPr/>
          <p:nvPr/>
        </p:nvSpPr>
        <p:spPr>
          <a:xfrm>
            <a:off x="4663440" y="3191256"/>
            <a:ext cx="402336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/>
        </p:spPr>
      </p:sp>
      <p:sp>
        <p:nvSpPr>
          <p:cNvPr id="13" name="Teks output"/>
          <p:cNvSpPr txBox="1"/>
          <p:nvPr/>
        </p:nvSpPr>
        <p:spPr>
          <a:xfrm>
            <a:off x="4846320" y="3191256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OUTPUT   </a:t>
            </a: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10</a:t>
            </a:r>
            <a:endParaRPr lang="en-US" sz="1200" dirty="0"/>
          </a:p>
        </p:txBody>
      </p:sp>
      <p:sp>
        <p:nvSpPr>
          <p:cNvPr id="14" name="Catatan contoh"/>
          <p:cNvSpPr txBox="1"/>
          <p:nvPr/>
        </p:nvSpPr>
        <p:spPr>
          <a:xfrm>
            <a:off x="4663440" y="3785616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Kondisi false sejak awal, tetapi isi tetap berjalan satu kali.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do while: Contoh Menu</a:t>
            </a:r>
            <a:endParaRPr lang="en-US" sz="3600" dirty="0"/>
          </a:p>
        </p:txBody>
      </p:sp>
      <p:sp>
        <p:nvSpPr>
          <p:cNvPr id="3" name="Panel kode"/>
          <p:cNvSpPr/>
          <p:nvPr/>
        </p:nvSpPr>
        <p:spPr>
          <a:xfrm>
            <a:off x="457200" y="1097280"/>
            <a:ext cx="5120640" cy="2231136"/>
          </a:xfrm>
          <a:prstGeom prst="roundRect">
            <a:avLst>
              <a:gd name="adj" fmla="val 3279"/>
            </a:avLst>
          </a:prstGeom>
          <a:solidFill>
            <a:schemeClr val="tx1"/>
          </a:solidFill>
          <a:ln/>
        </p:spPr>
      </p:sp>
      <p:sp>
        <p:nvSpPr>
          <p:cNvPr id="4" name="Label panel"/>
          <p:cNvSpPr txBox="1"/>
          <p:nvPr/>
        </p:nvSpPr>
        <p:spPr>
          <a:xfrm>
            <a:off x="640080" y="1170432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9AEE0"/>
                </a:solidFill>
              </a:rPr>
              <a:t>CONTOH</a:t>
            </a:r>
            <a:endParaRPr lang="en-US" sz="1100" dirty="0"/>
          </a:p>
        </p:txBody>
      </p:sp>
      <p:sp>
        <p:nvSpPr>
          <p:cNvPr id="5" name="Kode"/>
          <p:cNvSpPr txBox="1"/>
          <p:nvPr/>
        </p:nvSpPr>
        <p:spPr>
          <a:xfrm>
            <a:off x="640080" y="1408176"/>
            <a:ext cx="48006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5FE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pilihan;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4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00" dirty="0">
                <a:solidFill>
                  <a:srgbClr val="8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dirty="0">
                <a:solidFill>
                  <a:srgbClr val="F5B5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"1. Mulai"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00" dirty="0">
                <a:solidFill>
                  <a:srgbClr val="8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dirty="0">
                <a:solidFill>
                  <a:srgbClr val="F5B5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"2. Keluar"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00" dirty="0">
                <a:solidFill>
                  <a:srgbClr val="8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dirty="0">
                <a:solidFill>
                  <a:srgbClr val="F5B5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"Pilih: "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00" b="1" dirty="0">
                <a:solidFill>
                  <a:srgbClr val="FF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pilihan = int.Parse(Console.ReadLine());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r>
              <a:rPr lang="en-US" sz="1400" dirty="0">
                <a:solidFill>
                  <a:srgbClr val="C4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400" b="1" dirty="0">
                <a:solidFill>
                  <a:srgbClr val="FFC2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pilihan != 2</a:t>
            </a:r>
            <a:r>
              <a:rPr lang="en-US" sz="1400" dirty="0">
                <a:solidFill>
                  <a:srgbClr val="ED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00" dirty="0"/>
          </a:p>
        </p:txBody>
      </p:sp>
      <p:sp>
        <p:nvSpPr>
          <p:cNvPr id="6" name="Panel jalannya program"/>
          <p:cNvSpPr/>
          <p:nvPr/>
        </p:nvSpPr>
        <p:spPr>
          <a:xfrm>
            <a:off x="457200" y="3447288"/>
            <a:ext cx="5120640" cy="1179576"/>
          </a:xfrm>
          <a:prstGeom prst="roundRect">
            <a:avLst>
              <a:gd name="adj" fmla="val 6202"/>
            </a:avLst>
          </a:prstGeom>
          <a:solidFill>
            <a:schemeClr val="bg2"/>
          </a:solidFill>
          <a:ln/>
        </p:spPr>
      </p:sp>
      <p:sp>
        <p:nvSpPr>
          <p:cNvPr id="7" name="Label jalannya program"/>
          <p:cNvSpPr txBox="1"/>
          <p:nvPr/>
        </p:nvSpPr>
        <p:spPr>
          <a:xfrm>
            <a:off x="640080" y="352044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chemeClr val="accent6"/>
                </a:solidFill>
              </a:rPr>
              <a:t>CONTOH JALANNYA PROGRAM</a:t>
            </a:r>
            <a:endParaRPr lang="en-US" sz="1100" dirty="0"/>
          </a:p>
        </p:txBody>
      </p:sp>
      <p:sp>
        <p:nvSpPr>
          <p:cNvPr id="8" name="Jalannya program"/>
          <p:cNvSpPr txBox="1"/>
          <p:nvPr/>
        </p:nvSpPr>
        <p:spPr>
          <a:xfrm>
            <a:off x="640080" y="3758184"/>
            <a:ext cx="475488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Mulai  2. Keluar  Pilih: 1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Mulai  2. Keluar  Pilih: 2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(program selesai)</a:t>
            </a:r>
            <a:endParaRPr lang="en-US" sz="1400" dirty="0"/>
          </a:p>
        </p:txBody>
      </p:sp>
      <p:sp>
        <p:nvSpPr>
          <p:cNvPr id="9" name="Kartu penjelasan"/>
          <p:cNvSpPr/>
          <p:nvPr/>
        </p:nvSpPr>
        <p:spPr>
          <a:xfrm>
            <a:off x="5760720" y="1097280"/>
            <a:ext cx="292608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0" name="Lingkaran nomor"/>
          <p:cNvSpPr/>
          <p:nvPr/>
        </p:nvSpPr>
        <p:spPr>
          <a:xfrm>
            <a:off x="5897880" y="123444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Nomor"/>
          <p:cNvSpPr txBox="1"/>
          <p:nvPr/>
        </p:nvSpPr>
        <p:spPr>
          <a:xfrm>
            <a:off x="589788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2" name="Teks penjelasan"/>
          <p:cNvSpPr txBox="1"/>
          <p:nvPr/>
        </p:nvSpPr>
        <p:spPr>
          <a:xfrm>
            <a:off x="6400800" y="1170432"/>
            <a:ext cx="21488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Menu pasti tampil minimal sekali sebelum kondisi dicek.</a:t>
            </a:r>
            <a:endParaRPr lang="en-US" sz="1400" dirty="0"/>
          </a:p>
        </p:txBody>
      </p:sp>
      <p:sp>
        <p:nvSpPr>
          <p:cNvPr id="13" name="Kartu penjelasan"/>
          <p:cNvSpPr/>
          <p:nvPr/>
        </p:nvSpPr>
        <p:spPr>
          <a:xfrm>
            <a:off x="5760720" y="2313432"/>
            <a:ext cx="292608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4" name="Lingkaran nomor"/>
          <p:cNvSpPr/>
          <p:nvPr/>
        </p:nvSpPr>
        <p:spPr>
          <a:xfrm>
            <a:off x="5897880" y="245059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Nomor"/>
          <p:cNvSpPr txBox="1"/>
          <p:nvPr/>
        </p:nvSpPr>
        <p:spPr>
          <a:xfrm>
            <a:off x="5897880" y="2450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ks penjelasan"/>
          <p:cNvSpPr txBox="1"/>
          <p:nvPr/>
        </p:nvSpPr>
        <p:spPr>
          <a:xfrm>
            <a:off x="6400800" y="2386584"/>
            <a:ext cx="21488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Nilai pilihan berubah lewat input pengguna di dalam blok.</a:t>
            </a:r>
            <a:endParaRPr lang="en-US" sz="1400" dirty="0"/>
          </a:p>
        </p:txBody>
      </p:sp>
      <p:sp>
        <p:nvSpPr>
          <p:cNvPr id="17" name="Kartu penjelasan"/>
          <p:cNvSpPr/>
          <p:nvPr/>
        </p:nvSpPr>
        <p:spPr>
          <a:xfrm>
            <a:off x="5760720" y="3529584"/>
            <a:ext cx="292608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8" name="Lingkaran nomor"/>
          <p:cNvSpPr/>
          <p:nvPr/>
        </p:nvSpPr>
        <p:spPr>
          <a:xfrm>
            <a:off x="5897880" y="366674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Nomor"/>
          <p:cNvSpPr txBox="1"/>
          <p:nvPr/>
        </p:nvSpPr>
        <p:spPr>
          <a:xfrm>
            <a:off x="5897880" y="36667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ks penjelasan"/>
          <p:cNvSpPr txBox="1"/>
          <p:nvPr/>
        </p:nvSpPr>
        <p:spPr>
          <a:xfrm>
            <a:off x="6400800" y="3602736"/>
            <a:ext cx="21488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Perulangan berhenti saat pengguna memilih 2 (Keluar).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Perbandingan Ketiganya</a:t>
            </a:r>
            <a:endParaRPr lang="en-US" sz="3600" dirty="0"/>
          </a:p>
        </p:txBody>
      </p:sp>
      <p:graphicFrame>
        <p:nvGraphicFramePr>
          <p:cNvPr id="17" name="Tabel perbandinga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92608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for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while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 while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Cek kondisi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D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Di awal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D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Di awal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D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Di akhir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D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Minimal dijalankan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D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 kali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D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 kali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D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 kali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D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Inisialisasi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D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Di dalam ( )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D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Sebelum while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D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Sebelum do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D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Increment / decrement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D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Di dalam ( )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D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Di dalam isi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D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Di dalam isi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D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Cocok untuk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D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Jumlah putaran pasti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D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Putaran bergantung kondisi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D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Harus jalan minimal sekali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D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Poin ingat"/>
          <p:cNvSpPr/>
          <p:nvPr/>
        </p:nvSpPr>
        <p:spPr>
          <a:xfrm>
            <a:off x="457200" y="411480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/>
        </p:spPr>
      </p:sp>
      <p:sp>
        <p:nvSpPr>
          <p:cNvPr id="5" name="Lingkaran ikon"/>
          <p:cNvSpPr/>
          <p:nvPr/>
        </p:nvSpPr>
        <p:spPr>
          <a:xfrm>
            <a:off x="594360" y="4178808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Lightbulb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270248"/>
            <a:ext cx="182880" cy="182880"/>
          </a:xfrm>
          <a:prstGeom prst="rect">
            <a:avLst/>
          </a:prstGeom>
        </p:spPr>
      </p:pic>
      <p:sp>
        <p:nvSpPr>
          <p:cNvPr id="7" name="Teks ingat"/>
          <p:cNvSpPr txBox="1"/>
          <p:nvPr/>
        </p:nvSpPr>
        <p:spPr>
          <a:xfrm>
            <a:off x="1097280" y="411480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Ingat: hanya do while yang pasti berjalan minimal satu kali.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Kesalahan yang Sering Terjadi</a:t>
            </a:r>
            <a:endParaRPr lang="en-US" sz="3600" dirty="0"/>
          </a:p>
        </p:txBody>
      </p:sp>
      <p:sp>
        <p:nvSpPr>
          <p:cNvPr id="3" name="Kartu kesalahan"/>
          <p:cNvSpPr/>
          <p:nvPr/>
        </p:nvSpPr>
        <p:spPr>
          <a:xfrm>
            <a:off x="457200" y="1143000"/>
            <a:ext cx="402336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4" name="Lingkaran ikon"/>
          <p:cNvSpPr/>
          <p:nvPr/>
        </p:nvSpPr>
        <p:spPr>
          <a:xfrm>
            <a:off x="640080" y="132588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5" name="Image 0" descr="Infinit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" y="1451610"/>
            <a:ext cx="251460" cy="251460"/>
          </a:xfrm>
          <a:prstGeom prst="rect">
            <a:avLst/>
          </a:prstGeom>
        </p:spPr>
      </p:pic>
      <p:sp>
        <p:nvSpPr>
          <p:cNvPr id="6" name="Judul kesalahan"/>
          <p:cNvSpPr txBox="1"/>
          <p:nvPr/>
        </p:nvSpPr>
        <p:spPr>
          <a:xfrm>
            <a:off x="1325880" y="1325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Infinite loop</a:t>
            </a:r>
            <a:endParaRPr lang="en-US" sz="1600" dirty="0"/>
          </a:p>
        </p:txBody>
      </p:sp>
      <p:sp>
        <p:nvSpPr>
          <p:cNvPr id="7" name="Deskripsi kesalahan"/>
          <p:cNvSpPr txBox="1"/>
          <p:nvPr/>
        </p:nvSpPr>
        <p:spPr>
          <a:xfrm>
            <a:off x="1325880" y="1764792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Lupa </a:t>
            </a: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i++</a:t>
            </a:r>
            <a:r>
              <a:rPr lang="en-US" sz="1400" dirty="0">
                <a:solidFill>
                  <a:schemeClr val="tx1"/>
                </a:solidFill>
              </a:rPr>
              <a:t> atau kondisi selalu true, sehingga perulangan tidak pernah berhenti.</a:t>
            </a:r>
            <a:endParaRPr lang="en-US" sz="1400" dirty="0"/>
          </a:p>
        </p:txBody>
      </p:sp>
      <p:sp>
        <p:nvSpPr>
          <p:cNvPr id="8" name="Kartu kesalahan"/>
          <p:cNvSpPr/>
          <p:nvPr/>
        </p:nvSpPr>
        <p:spPr>
          <a:xfrm>
            <a:off x="4663440" y="1143000"/>
            <a:ext cx="402336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9" name="Lingkaran ikon"/>
          <p:cNvSpPr/>
          <p:nvPr/>
        </p:nvSpPr>
        <p:spPr>
          <a:xfrm>
            <a:off x="4846320" y="132588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0" name="Image 1" descr="ExclamationTriang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2050" y="1451610"/>
            <a:ext cx="251460" cy="251460"/>
          </a:xfrm>
          <a:prstGeom prst="rect">
            <a:avLst/>
          </a:prstGeom>
        </p:spPr>
      </p:pic>
      <p:sp>
        <p:nvSpPr>
          <p:cNvPr id="11" name="Judul kesalahan"/>
          <p:cNvSpPr txBox="1"/>
          <p:nvPr/>
        </p:nvSpPr>
        <p:spPr>
          <a:xfrm>
            <a:off x="5532120" y="1325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Titik koma setelah ( )</a:t>
            </a:r>
            <a:endParaRPr lang="en-US" sz="1600" dirty="0"/>
          </a:p>
        </p:txBody>
      </p:sp>
      <p:sp>
        <p:nvSpPr>
          <p:cNvPr id="12" name="Deskripsi kesalahan"/>
          <p:cNvSpPr txBox="1"/>
          <p:nvPr/>
        </p:nvSpPr>
        <p:spPr>
          <a:xfrm>
            <a:off x="5532120" y="1764792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(...);</a:t>
            </a:r>
            <a:r>
              <a:rPr lang="en-US" sz="1400" dirty="0">
                <a:solidFill>
                  <a:schemeClr val="tx1"/>
                </a:solidFill>
              </a:rPr>
              <a:t> atau </a:t>
            </a: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(...);</a:t>
            </a:r>
            <a:r>
              <a:rPr lang="en-US" sz="1400" dirty="0">
                <a:solidFill>
                  <a:schemeClr val="tx1"/>
                </a:solidFill>
              </a:rPr>
              <a:t> membuat isi blok tidak ikut diulang.</a:t>
            </a:r>
            <a:endParaRPr lang="en-US" sz="1400" dirty="0"/>
          </a:p>
        </p:txBody>
      </p:sp>
      <p:sp>
        <p:nvSpPr>
          <p:cNvPr id="13" name="Kartu kesalahan"/>
          <p:cNvSpPr/>
          <p:nvPr/>
        </p:nvSpPr>
        <p:spPr>
          <a:xfrm>
            <a:off x="457200" y="2834640"/>
            <a:ext cx="402336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14" name="Lingkaran ikon"/>
          <p:cNvSpPr/>
          <p:nvPr/>
        </p:nvSpPr>
        <p:spPr>
          <a:xfrm>
            <a:off x="640080" y="301752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5" name="Image 2" descr="Equal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810" y="3143250"/>
            <a:ext cx="251460" cy="251460"/>
          </a:xfrm>
          <a:prstGeom prst="rect">
            <a:avLst/>
          </a:prstGeom>
        </p:spPr>
      </p:pic>
      <p:sp>
        <p:nvSpPr>
          <p:cNvPr id="16" name="Judul kesalahan"/>
          <p:cNvSpPr txBox="1"/>
          <p:nvPr/>
        </p:nvSpPr>
        <p:spPr>
          <a:xfrm>
            <a:off x="1325880" y="3017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Salah batas kondisi</a:t>
            </a:r>
            <a:endParaRPr lang="en-US" sz="1600" dirty="0"/>
          </a:p>
        </p:txBody>
      </p:sp>
      <p:sp>
        <p:nvSpPr>
          <p:cNvPr id="17" name="Deskripsi kesalahan"/>
          <p:cNvSpPr txBox="1"/>
          <p:nvPr/>
        </p:nvSpPr>
        <p:spPr>
          <a:xfrm>
            <a:off x="1325880" y="3456432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&lt; 5</a:t>
            </a:r>
            <a:r>
              <a:rPr lang="en-US" sz="1400" dirty="0">
                <a:solidFill>
                  <a:schemeClr val="tx1"/>
                </a:solidFill>
              </a:rPr>
              <a:t> dan </a:t>
            </a: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&lt;= 5</a:t>
            </a:r>
            <a:r>
              <a:rPr lang="en-US" sz="1400" dirty="0">
                <a:solidFill>
                  <a:schemeClr val="tx1"/>
                </a:solidFill>
              </a:rPr>
              <a:t> menghasilkan jumlah putaran berbeda. Periksa batasnya.</a:t>
            </a:r>
            <a:endParaRPr lang="en-US" sz="1400" dirty="0"/>
          </a:p>
        </p:txBody>
      </p:sp>
      <p:sp>
        <p:nvSpPr>
          <p:cNvPr id="18" name="Kartu kesalahan"/>
          <p:cNvSpPr/>
          <p:nvPr/>
        </p:nvSpPr>
        <p:spPr>
          <a:xfrm>
            <a:off x="4663440" y="2834640"/>
            <a:ext cx="402336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19" name="Lingkaran ikon"/>
          <p:cNvSpPr/>
          <p:nvPr/>
        </p:nvSpPr>
        <p:spPr>
          <a:xfrm>
            <a:off x="4846320" y="301752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0" name="Image 3" descr="Cod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2050" y="3143250"/>
            <a:ext cx="251460" cy="251460"/>
          </a:xfrm>
          <a:prstGeom prst="rect">
            <a:avLst/>
          </a:prstGeom>
        </p:spPr>
      </p:pic>
      <p:sp>
        <p:nvSpPr>
          <p:cNvPr id="21" name="Judul kesalahan"/>
          <p:cNvSpPr txBox="1"/>
          <p:nvPr/>
        </p:nvSpPr>
        <p:spPr>
          <a:xfrm>
            <a:off x="5532120" y="3017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Lupa ; pada do while</a:t>
            </a:r>
            <a:endParaRPr lang="en-US" sz="1600" dirty="0"/>
          </a:p>
        </p:txBody>
      </p:sp>
      <p:sp>
        <p:nvSpPr>
          <p:cNvPr id="22" name="Deskripsi kesalahan"/>
          <p:cNvSpPr txBox="1"/>
          <p:nvPr/>
        </p:nvSpPr>
        <p:spPr>
          <a:xfrm>
            <a:off x="5532120" y="3456432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(kondisi)</a:t>
            </a:r>
            <a:r>
              <a:rPr lang="en-US" sz="1400" dirty="0">
                <a:solidFill>
                  <a:schemeClr val="tx1"/>
                </a:solidFill>
              </a:rPr>
              <a:t> di akhir do while wajib diakhiri </a:t>
            </a: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400" dirty="0">
                <a:solidFill>
                  <a:schemeClr val="tx1"/>
                </a:solidFill>
              </a:rPr>
              <a:t> agar tidak error.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Latihan Praktikum</a:t>
            </a:r>
            <a:endParaRPr lang="en-US" sz="3600" dirty="0"/>
          </a:p>
        </p:txBody>
      </p:sp>
      <p:sp>
        <p:nvSpPr>
          <p:cNvPr id="3" name="Baris latihan"/>
          <p:cNvSpPr/>
          <p:nvPr/>
        </p:nvSpPr>
        <p:spPr>
          <a:xfrm>
            <a:off x="457200" y="1097280"/>
            <a:ext cx="822960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/>
        </p:spPr>
      </p:sp>
      <p:sp>
        <p:nvSpPr>
          <p:cNvPr id="4" name="Lingkaran nomor"/>
          <p:cNvSpPr/>
          <p:nvPr/>
        </p:nvSpPr>
        <p:spPr>
          <a:xfrm>
            <a:off x="594360" y="1207008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" name="Nomor"/>
          <p:cNvSpPr txBox="1"/>
          <p:nvPr/>
        </p:nvSpPr>
        <p:spPr>
          <a:xfrm>
            <a:off x="594360" y="1207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Label latihan"/>
          <p:cNvSpPr txBox="1"/>
          <p:nvPr/>
        </p:nvSpPr>
        <p:spPr>
          <a:xfrm>
            <a:off x="1188720" y="1243584"/>
            <a:ext cx="1097280" cy="310896"/>
          </a:xfrm>
          <a:prstGeom prst="roundRect">
            <a:avLst>
              <a:gd name="adj" fmla="val 4411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for</a:t>
            </a:r>
            <a:endParaRPr lang="en-US" sz="1200" dirty="0"/>
          </a:p>
        </p:txBody>
      </p:sp>
      <p:sp>
        <p:nvSpPr>
          <p:cNvPr id="7" name="Soal latihan"/>
          <p:cNvSpPr txBox="1"/>
          <p:nvPr/>
        </p:nvSpPr>
        <p:spPr>
          <a:xfrm>
            <a:off x="2468880" y="1097280"/>
            <a:ext cx="6035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Tampilkan angka 1 sampai 20, lalu ubah agar hanya menampilkan angka genap.</a:t>
            </a:r>
            <a:endParaRPr lang="en-US" sz="1400" dirty="0"/>
          </a:p>
        </p:txBody>
      </p:sp>
      <p:sp>
        <p:nvSpPr>
          <p:cNvPr id="8" name="Baris latihan"/>
          <p:cNvSpPr/>
          <p:nvPr/>
        </p:nvSpPr>
        <p:spPr>
          <a:xfrm>
            <a:off x="457200" y="1792224"/>
            <a:ext cx="822960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/>
        </p:spPr>
      </p:sp>
      <p:sp>
        <p:nvSpPr>
          <p:cNvPr id="9" name="Lingkaran nomor"/>
          <p:cNvSpPr/>
          <p:nvPr/>
        </p:nvSpPr>
        <p:spPr>
          <a:xfrm>
            <a:off x="594360" y="1901952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0" name="Nomor"/>
          <p:cNvSpPr txBox="1"/>
          <p:nvPr/>
        </p:nvSpPr>
        <p:spPr>
          <a:xfrm>
            <a:off x="594360" y="1901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Label latihan"/>
          <p:cNvSpPr txBox="1"/>
          <p:nvPr/>
        </p:nvSpPr>
        <p:spPr>
          <a:xfrm>
            <a:off x="1188720" y="1938528"/>
            <a:ext cx="1097280" cy="310896"/>
          </a:xfrm>
          <a:prstGeom prst="roundRect">
            <a:avLst>
              <a:gd name="adj" fmla="val 4411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for</a:t>
            </a:r>
            <a:endParaRPr lang="en-US" sz="1200" dirty="0"/>
          </a:p>
        </p:txBody>
      </p:sp>
      <p:sp>
        <p:nvSpPr>
          <p:cNvPr id="12" name="Soal latihan"/>
          <p:cNvSpPr txBox="1"/>
          <p:nvPr/>
        </p:nvSpPr>
        <p:spPr>
          <a:xfrm>
            <a:off x="2468880" y="1792224"/>
            <a:ext cx="6035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Tampilkan tabel perkalian dari angka yang dimasukkan pengguna (1 sampai 10).</a:t>
            </a:r>
            <a:endParaRPr lang="en-US" sz="1400" dirty="0"/>
          </a:p>
        </p:txBody>
      </p:sp>
      <p:sp>
        <p:nvSpPr>
          <p:cNvPr id="13" name="Baris latihan"/>
          <p:cNvSpPr/>
          <p:nvPr/>
        </p:nvSpPr>
        <p:spPr>
          <a:xfrm>
            <a:off x="457200" y="2487168"/>
            <a:ext cx="822960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/>
        </p:spPr>
      </p:sp>
      <p:sp>
        <p:nvSpPr>
          <p:cNvPr id="14" name="Lingkaran nomor"/>
          <p:cNvSpPr/>
          <p:nvPr/>
        </p:nvSpPr>
        <p:spPr>
          <a:xfrm>
            <a:off x="594360" y="2596896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5" name="Nomor"/>
          <p:cNvSpPr txBox="1"/>
          <p:nvPr/>
        </p:nvSpPr>
        <p:spPr>
          <a:xfrm>
            <a:off x="594360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Label latihan"/>
          <p:cNvSpPr txBox="1"/>
          <p:nvPr/>
        </p:nvSpPr>
        <p:spPr>
          <a:xfrm>
            <a:off x="1188720" y="2633472"/>
            <a:ext cx="1097280" cy="310896"/>
          </a:xfrm>
          <a:prstGeom prst="roundRect">
            <a:avLst>
              <a:gd name="adj" fmla="val 4411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do while</a:t>
            </a:r>
            <a:endParaRPr lang="en-US" sz="1200" dirty="0"/>
          </a:p>
        </p:txBody>
      </p:sp>
      <p:sp>
        <p:nvSpPr>
          <p:cNvPr id="17" name="Soal latihan"/>
          <p:cNvSpPr txBox="1"/>
          <p:nvPr/>
        </p:nvSpPr>
        <p:spPr>
          <a:xfrm>
            <a:off x="2468880" y="2487168"/>
            <a:ext cx="6035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/>
              <a:t>Buat menu </a:t>
            </a:r>
            <a:r>
              <a:rPr lang="en-US" sz="1400" dirty="0" err="1"/>
              <a:t>sederhana</a:t>
            </a:r>
            <a:r>
              <a:rPr lang="en-US" sz="1400" dirty="0"/>
              <a:t> yang </a:t>
            </a:r>
            <a:r>
              <a:rPr lang="en-US" sz="1400" dirty="0" err="1"/>
              <a:t>terus</a:t>
            </a:r>
            <a:r>
              <a:rPr lang="en-US" sz="1400" dirty="0"/>
              <a:t> </a:t>
            </a:r>
            <a:r>
              <a:rPr lang="en-US" sz="1400" dirty="0" err="1"/>
              <a:t>tampil</a:t>
            </a:r>
            <a:r>
              <a:rPr lang="en-US" sz="1400" dirty="0"/>
              <a:t> </a:t>
            </a:r>
            <a:r>
              <a:rPr lang="en-US" sz="1400" dirty="0" err="1"/>
              <a:t>sampai</a:t>
            </a:r>
            <a:r>
              <a:rPr lang="en-US" sz="1400" dirty="0"/>
              <a:t> </a:t>
            </a:r>
            <a:r>
              <a:rPr lang="en-US" sz="1400" dirty="0" err="1"/>
              <a:t>pengguna</a:t>
            </a:r>
            <a:r>
              <a:rPr lang="en-US" sz="1400" dirty="0"/>
              <a:t> </a:t>
            </a:r>
            <a:r>
              <a:rPr lang="en-US" sz="1400" dirty="0" err="1"/>
              <a:t>memilih</a:t>
            </a:r>
            <a:r>
              <a:rPr lang="en-US" sz="1400" dirty="0"/>
              <a:t> </a:t>
            </a:r>
            <a:r>
              <a:rPr lang="en-US" sz="1400" dirty="0" err="1"/>
              <a:t>Keluar</a:t>
            </a:r>
            <a:r>
              <a:rPr lang="en-US" sz="1400" dirty="0"/>
              <a:t>.</a:t>
            </a:r>
          </a:p>
        </p:txBody>
      </p:sp>
      <p:sp>
        <p:nvSpPr>
          <p:cNvPr id="23" name="Baris latihan"/>
          <p:cNvSpPr/>
          <p:nvPr/>
        </p:nvSpPr>
        <p:spPr>
          <a:xfrm>
            <a:off x="457200" y="3184722"/>
            <a:ext cx="822960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/>
        </p:spPr>
      </p:sp>
      <p:sp>
        <p:nvSpPr>
          <p:cNvPr id="24" name="Lingkaran nomor"/>
          <p:cNvSpPr/>
          <p:nvPr/>
        </p:nvSpPr>
        <p:spPr>
          <a:xfrm>
            <a:off x="594360" y="3300984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5" name="Nomor"/>
          <p:cNvSpPr txBox="1"/>
          <p:nvPr/>
        </p:nvSpPr>
        <p:spPr>
          <a:xfrm>
            <a:off x="594360" y="329445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Label latihan"/>
          <p:cNvSpPr txBox="1"/>
          <p:nvPr/>
        </p:nvSpPr>
        <p:spPr>
          <a:xfrm>
            <a:off x="1188720" y="3331026"/>
            <a:ext cx="1097280" cy="310896"/>
          </a:xfrm>
          <a:prstGeom prst="roundRect">
            <a:avLst>
              <a:gd name="adj" fmla="val 44118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Tantangan</a:t>
            </a:r>
            <a:endParaRPr lang="en-US" sz="1200" dirty="0"/>
          </a:p>
        </p:txBody>
      </p:sp>
      <p:sp>
        <p:nvSpPr>
          <p:cNvPr id="27" name="Soal latihan"/>
          <p:cNvSpPr txBox="1"/>
          <p:nvPr/>
        </p:nvSpPr>
        <p:spPr>
          <a:xfrm>
            <a:off x="2468880" y="3184722"/>
            <a:ext cx="6035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Cetak pola segitiga bintang 5 baris dengan for di dalam for (nested).</a:t>
            </a:r>
            <a:endParaRPr lang="en-US" sz="14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Ringkasan</a:t>
            </a:r>
            <a:endParaRPr lang="en-US" sz="3600" dirty="0"/>
          </a:p>
        </p:txBody>
      </p:sp>
      <p:sp>
        <p:nvSpPr>
          <p:cNvPr id="3" name="Kartu ringkasan"/>
          <p:cNvSpPr/>
          <p:nvPr/>
        </p:nvSpPr>
        <p:spPr>
          <a:xfrm>
            <a:off x="457200" y="1188720"/>
            <a:ext cx="2606040" cy="2468880"/>
          </a:xfrm>
          <a:prstGeom prst="roundRect">
            <a:avLst>
              <a:gd name="adj" fmla="val 3704"/>
            </a:avLst>
          </a:prstGeom>
          <a:solidFill>
            <a:schemeClr val="tx2"/>
          </a:solidFill>
          <a:ln/>
        </p:spPr>
      </p:sp>
      <p:sp>
        <p:nvSpPr>
          <p:cNvPr id="4" name="Lingkaran ikon"/>
          <p:cNvSpPr/>
          <p:nvPr/>
        </p:nvSpPr>
        <p:spPr>
          <a:xfrm>
            <a:off x="685800" y="1417320"/>
            <a:ext cx="594360" cy="59436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5" name="Image 0" descr="ListO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390" y="1565910"/>
            <a:ext cx="297180" cy="297180"/>
          </a:xfrm>
          <a:prstGeom prst="rect">
            <a:avLst/>
          </a:prstGeom>
        </p:spPr>
      </p:pic>
      <p:sp>
        <p:nvSpPr>
          <p:cNvPr id="6" name="Nama ringkasan"/>
          <p:cNvSpPr txBox="1"/>
          <p:nvPr/>
        </p:nvSpPr>
        <p:spPr>
          <a:xfrm>
            <a:off x="685800" y="21488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endParaRPr lang="en-US" sz="2200" dirty="0"/>
          </a:p>
        </p:txBody>
      </p:sp>
      <p:sp>
        <p:nvSpPr>
          <p:cNvPr id="7" name="Isi ringkasan"/>
          <p:cNvSpPr txBox="1"/>
          <p:nvPr/>
        </p:nvSpPr>
        <p:spPr>
          <a:xfrm>
            <a:off x="685800" y="260604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Jumlah putaran pasti. Inisialisasi, kondisi, dan perubahan ada dalam satu baris.</a:t>
            </a:r>
            <a:endParaRPr lang="en-US" sz="1400" dirty="0"/>
          </a:p>
        </p:txBody>
      </p:sp>
      <p:sp>
        <p:nvSpPr>
          <p:cNvPr id="8" name="Kartu ringkasan"/>
          <p:cNvSpPr/>
          <p:nvPr/>
        </p:nvSpPr>
        <p:spPr>
          <a:xfrm>
            <a:off x="3268980" y="1188720"/>
            <a:ext cx="2606040" cy="2468880"/>
          </a:xfrm>
          <a:prstGeom prst="roundRect">
            <a:avLst>
              <a:gd name="adj" fmla="val 3704"/>
            </a:avLst>
          </a:prstGeom>
          <a:solidFill>
            <a:schemeClr val="tx2"/>
          </a:solidFill>
          <a:ln/>
        </p:spPr>
      </p:sp>
      <p:sp>
        <p:nvSpPr>
          <p:cNvPr id="9" name="Lingkaran ikon"/>
          <p:cNvSpPr/>
          <p:nvPr/>
        </p:nvSpPr>
        <p:spPr>
          <a:xfrm>
            <a:off x="3497580" y="1417320"/>
            <a:ext cx="594360" cy="59436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0" name="Image 1" descr="QuestionCirc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6170" y="1565910"/>
            <a:ext cx="297180" cy="297180"/>
          </a:xfrm>
          <a:prstGeom prst="rect">
            <a:avLst/>
          </a:prstGeom>
        </p:spPr>
      </p:pic>
      <p:sp>
        <p:nvSpPr>
          <p:cNvPr id="11" name="Nama ringkasan"/>
          <p:cNvSpPr txBox="1"/>
          <p:nvPr/>
        </p:nvSpPr>
        <p:spPr>
          <a:xfrm>
            <a:off x="3497580" y="21488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endParaRPr lang="en-US" sz="2200" dirty="0"/>
          </a:p>
        </p:txBody>
      </p:sp>
      <p:sp>
        <p:nvSpPr>
          <p:cNvPr id="12" name="Isi ringkasan"/>
          <p:cNvSpPr txBox="1"/>
          <p:nvPr/>
        </p:nvSpPr>
        <p:spPr>
          <a:xfrm>
            <a:off x="3497580" y="260604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Putaran bergantung kondisi. Dicek di awal, jangan lupa mengubah variabelnya.</a:t>
            </a:r>
            <a:endParaRPr lang="en-US" sz="1400" dirty="0"/>
          </a:p>
        </p:txBody>
      </p:sp>
      <p:sp>
        <p:nvSpPr>
          <p:cNvPr id="13" name="Kartu ringkasan"/>
          <p:cNvSpPr/>
          <p:nvPr/>
        </p:nvSpPr>
        <p:spPr>
          <a:xfrm>
            <a:off x="6080760" y="1188720"/>
            <a:ext cx="2606040" cy="2468880"/>
          </a:xfrm>
          <a:prstGeom prst="roundRect">
            <a:avLst>
              <a:gd name="adj" fmla="val 3704"/>
            </a:avLst>
          </a:prstGeom>
          <a:solidFill>
            <a:schemeClr val="tx2"/>
          </a:solidFill>
          <a:ln/>
        </p:spPr>
      </p:sp>
      <p:sp>
        <p:nvSpPr>
          <p:cNvPr id="14" name="Lingkaran ikon"/>
          <p:cNvSpPr/>
          <p:nvPr/>
        </p:nvSpPr>
        <p:spPr>
          <a:xfrm>
            <a:off x="6309360" y="1417320"/>
            <a:ext cx="594360" cy="59436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5" name="Image 2" descr="Pla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7950" y="1565910"/>
            <a:ext cx="297180" cy="297180"/>
          </a:xfrm>
          <a:prstGeom prst="rect">
            <a:avLst/>
          </a:prstGeom>
        </p:spPr>
      </p:pic>
      <p:sp>
        <p:nvSpPr>
          <p:cNvPr id="16" name="Nama ringkasan"/>
          <p:cNvSpPr txBox="1"/>
          <p:nvPr/>
        </p:nvSpPr>
        <p:spPr>
          <a:xfrm>
            <a:off x="6309360" y="21488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while</a:t>
            </a:r>
            <a:endParaRPr lang="en-US" sz="2200" dirty="0"/>
          </a:p>
        </p:txBody>
      </p:sp>
      <p:sp>
        <p:nvSpPr>
          <p:cNvPr id="17" name="Isi ringkasan"/>
          <p:cNvSpPr txBox="1"/>
          <p:nvPr/>
        </p:nvSpPr>
        <p:spPr>
          <a:xfrm>
            <a:off x="6309360" y="260604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Isi jalan dulu, kondisi dicek di akhir. Minimal sekali dan diakhiri titik koma.</a:t>
            </a:r>
            <a:endParaRPr lang="en-US" sz="1400" dirty="0"/>
          </a:p>
        </p:txBody>
      </p:sp>
      <p:sp>
        <p:nvSpPr>
          <p:cNvPr id="18" name="Penutup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4A3FF"/>
                </a:solidFill>
              </a:rPr>
              <a:t>Selamat berlatih!</a:t>
            </a:r>
            <a:endParaRPr lang="en-US" sz="2600" dirty="0"/>
          </a:p>
        </p:txBody>
      </p:sp>
      <p:sp>
        <p:nvSpPr>
          <p:cNvPr id="19" name="Saran"/>
          <p:cNvSpPr txBox="1"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9AEE0"/>
                </a:solidFill>
              </a:rPr>
              <a:t>Coba semua contoh di Visual Studio, lalu ubah nilainya sendiri.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aktikum CSharp">
  <a:themeElements>
    <a:clrScheme name="Praktikum CSharp">
      <a:dk1>
        <a:srgbClr val="1B1033"/>
      </a:dk1>
      <a:lt1>
        <a:srgbClr val="FFFFFF"/>
      </a:lt1>
      <a:dk2>
        <a:srgbClr val="4B2A86"/>
      </a:dk2>
      <a:lt2>
        <a:srgbClr val="F4F0FB"/>
      </a:lt2>
      <a:accent1>
        <a:srgbClr val="6D3FC0"/>
      </a:accent1>
      <a:accent2>
        <a:srgbClr val="0B8577"/>
      </a:accent2>
      <a:accent3>
        <a:srgbClr val="B5600A"/>
      </a:accent3>
      <a:accent4>
        <a:srgbClr val="C23040"/>
      </a:accent4>
      <a:accent5>
        <a:srgbClr val="2F6FDE"/>
      </a:accent5>
      <a:accent6>
        <a:srgbClr val="6B6784"/>
      </a:accent6>
      <a:hlink>
        <a:srgbClr val="6D3FC0"/>
      </a:hlink>
      <a:folHlink>
        <a:srgbClr val="6B6784"/>
      </a:folHlink>
    </a:clrScheme>
    <a:fontScheme name="Praktikum CSharp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2089</Words>
  <Application>Microsoft Office PowerPoint</Application>
  <PresentationFormat>On-screen Show (16:9)</PresentationFormat>
  <Paragraphs>376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Courier New</vt:lpstr>
      <vt:lpstr>Praktikum CSharp</vt:lpstr>
      <vt:lpstr>Perulangan (Looping) pada C#</vt:lpstr>
      <vt:lpstr>Apa itu Perulangan?</vt:lpstr>
      <vt:lpstr>Jenis Perulangan di C#</vt:lpstr>
      <vt:lpstr>for: Pengertian &amp; Kegunaan</vt:lpstr>
      <vt:lpstr>for: Sintaks &amp; Komponen</vt:lpstr>
      <vt:lpstr>for: Contoh Increment</vt:lpstr>
      <vt:lpstr>for: Decrement &amp; Step</vt:lpstr>
      <vt:lpstr>while: Pengertian &amp; Kegunaan</vt:lpstr>
      <vt:lpstr>while: Sintaks &amp; Komponen</vt:lpstr>
      <vt:lpstr>while: Contoh Kode</vt:lpstr>
      <vt:lpstr>while: Putaran Tak Pasti</vt:lpstr>
      <vt:lpstr>do while: Pengertian</vt:lpstr>
      <vt:lpstr>do while: Sintaks &amp; Komponen</vt:lpstr>
      <vt:lpstr>do while: Contoh Kode</vt:lpstr>
      <vt:lpstr>do while: Contoh Menu</vt:lpstr>
      <vt:lpstr>Perbandingan Ketiganya</vt:lpstr>
      <vt:lpstr>Kesalahan yang Sering Terjadi</vt:lpstr>
      <vt:lpstr>Latihan Praktikum</vt:lpstr>
      <vt:lpstr>Ringkasan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Materi Praktikum Perulangan C#</dc:title>
  <dc:subject>PptxGenJS Presentation</dc:subject>
  <dc:creator>PptxGenJS</dc:creator>
  <cp:lastModifiedBy>ayyub -</cp:lastModifiedBy>
  <cp:revision>2</cp:revision>
  <dcterms:created xsi:type="dcterms:W3CDTF">2026-10-04T03:44:16Z</dcterms:created>
  <dcterms:modified xsi:type="dcterms:W3CDTF">2026-10-04T09:21:00Z</dcterms:modified>
</cp:coreProperties>
</file>