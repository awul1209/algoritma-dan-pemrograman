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6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10" Type="http://schemas.openxmlformats.org/officeDocument/2006/relationships/image" Target="../media/image16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10" Type="http://schemas.openxmlformats.org/officeDocument/2006/relationships/image" Target="../media/image25.png"/><Relationship Id="rId4" Type="http://schemas.openxmlformats.org/officeDocument/2006/relationships/image" Target="../media/image19.png"/><Relationship Id="rId9" Type="http://schemas.openxmlformats.org/officeDocument/2006/relationships/image" Target="../media/image2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8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65371" y="2264664"/>
            <a:ext cx="10061257" cy="82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6480"/>
              </a:lnSpc>
            </a:pPr>
            <a:r>
              <a:rPr sz="5400" b="0" i="0" u="none" dirty="0" err="1">
                <a:solidFill>
                  <a:srgbClr val="FFFFFF"/>
                </a:solidFill>
                <a:latin typeface="Montserrat ExtraBold"/>
              </a:rPr>
              <a:t>Algoritma</a:t>
            </a:r>
            <a:r>
              <a:rPr sz="5400" b="0" i="0" u="none" dirty="0">
                <a:solidFill>
                  <a:srgbClr val="FFFFFF"/>
                </a:solidFill>
                <a:latin typeface="Montserrat ExtraBold"/>
              </a:rPr>
              <a:t> &amp; </a:t>
            </a:r>
            <a:r>
              <a:rPr sz="5400" b="0" i="0" u="none" dirty="0" err="1">
                <a:solidFill>
                  <a:srgbClr val="FFFFFF"/>
                </a:solidFill>
                <a:latin typeface="Montserrat ExtraBold"/>
              </a:rPr>
              <a:t>Pemrograman</a:t>
            </a:r>
            <a:endParaRPr sz="5400" b="0" i="0" u="none" dirty="0">
              <a:solidFill>
                <a:srgbClr val="FFFFFF"/>
              </a:solidFill>
              <a:latin typeface="Montserrat ExtraBold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33475" y="3582834"/>
            <a:ext cx="9925050" cy="487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840"/>
              </a:lnSpc>
            </a:pPr>
            <a:r>
              <a:rPr sz="2400" b="0" i="0" u="none">
                <a:solidFill>
                  <a:srgbClr val="BFDBFE"/>
                </a:solidFill>
                <a:latin typeface="Open Sans Medium"/>
              </a:rPr>
              <a:t>Pertemuan 1: Pengantar Logika, Algoritma, dan Bahasa Pemrograman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957762" y="6219825"/>
            <a:ext cx="2915222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0" i="0" u="none" dirty="0">
                <a:solidFill>
                  <a:srgbClr val="F8FAFC"/>
                </a:solidFill>
                <a:latin typeface="Open Sans SemiBold"/>
              </a:rPr>
              <a:t>Oleh: </a:t>
            </a:r>
            <a:r>
              <a:rPr lang="en-US" sz="1500" dirty="0">
                <a:solidFill>
                  <a:srgbClr val="F8FAFC"/>
                </a:solidFill>
                <a:latin typeface="Open Sans SemiBold"/>
              </a:rPr>
              <a:t>Ayyub, </a:t>
            </a:r>
            <a:r>
              <a:rPr lang="en-US" sz="1500" dirty="0" err="1">
                <a:solidFill>
                  <a:srgbClr val="F8FAFC"/>
                </a:solidFill>
                <a:latin typeface="Open Sans SemiBold"/>
              </a:rPr>
              <a:t>S.Kom</a:t>
            </a:r>
            <a:r>
              <a:rPr lang="en-US" sz="1500" dirty="0">
                <a:solidFill>
                  <a:srgbClr val="F8FAFC"/>
                </a:solidFill>
                <a:latin typeface="Open Sans SemiBold"/>
              </a:rPr>
              <a:t>., </a:t>
            </a:r>
            <a:r>
              <a:rPr lang="en-US" sz="1500" dirty="0" err="1">
                <a:solidFill>
                  <a:srgbClr val="F8FAFC"/>
                </a:solidFill>
                <a:latin typeface="Open Sans SemiBold"/>
              </a:rPr>
              <a:t>M.Kom</a:t>
            </a:r>
            <a:endParaRPr sz="1500" b="0" i="0" u="none" dirty="0">
              <a:solidFill>
                <a:srgbClr val="F8FAFC"/>
              </a:solidFill>
              <a:latin typeface="Open Sans Semi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4125" y="1962150"/>
            <a:ext cx="5286375" cy="3810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571500"/>
            <a:ext cx="11601450" cy="495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150" b="1" i="0" u="none">
                <a:solidFill>
                  <a:srgbClr val="0F172A"/>
                </a:solidFill>
                <a:latin typeface="Montserrat"/>
              </a:rPr>
              <a:t>Apa Itu Pemrograman?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1786532"/>
            <a:ext cx="5286375" cy="10054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334155"/>
                </a:solidFill>
                <a:latin typeface="Open Sans"/>
              </a:rPr>
              <a:t>Pemrograman</a:t>
            </a:r>
            <a:r>
              <a:rPr sz="1650" b="0" i="0" u="none">
                <a:solidFill>
                  <a:srgbClr val="334155"/>
                </a:solidFill>
                <a:latin typeface="Open Sans"/>
              </a:rPr>
              <a:t> adalah proses menerjemahkan ide dan logika penyelesaian masalah menjadi kumpulan instruksi yang dipahami komputer.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3001565"/>
            <a:ext cx="5286375" cy="13406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334155"/>
                </a:solidFill>
                <a:latin typeface="Open Sans"/>
              </a:rPr>
              <a:t>Secara esensial, pemrograman adalah cara kita "berkomunikasi" dengan mesin. Kita memberikan perintah yang terstruktur agar komputer mau menyelesaikan tugas yang kita inginkan.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4627959"/>
            <a:ext cx="5286375" cy="1386482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4125" y="1962150"/>
            <a:ext cx="5286375" cy="3810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71500" y="571500"/>
            <a:ext cx="11601450" cy="495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150" b="1" i="0" u="none">
                <a:solidFill>
                  <a:srgbClr val="0F172A"/>
                </a:solidFill>
                <a:latin typeface="Montserrat"/>
              </a:rPr>
              <a:t>Apa Itu Logika?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34125" y="1476077"/>
            <a:ext cx="5550693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1D4ED8"/>
                </a:solidFill>
                <a:latin typeface="Montserrat"/>
              </a:rPr>
              <a:t>Fondasi Sebuah Program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34125" y="2009477"/>
            <a:ext cx="5286375" cy="10054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334155"/>
                </a:solidFill>
                <a:latin typeface="Open Sans"/>
              </a:rPr>
              <a:t>Logika</a:t>
            </a:r>
            <a:r>
              <a:rPr sz="1650" b="0" i="0" u="none">
                <a:solidFill>
                  <a:srgbClr val="334155"/>
                </a:solidFill>
                <a:latin typeface="Open Sans"/>
              </a:rPr>
              <a:t> adalah kemampuan berpikir secara nalar, rasional, dan sistematis dalam memecahkan suatu masalah (</a:t>
            </a:r>
            <a:r>
              <a:rPr sz="1650" b="0" i="1" u="none">
                <a:solidFill>
                  <a:srgbClr val="334155"/>
                </a:solidFill>
                <a:latin typeface="Open Sans"/>
              </a:rPr>
              <a:t>problem-solving</a:t>
            </a:r>
            <a:r>
              <a:rPr sz="1650" b="0" i="0" u="none">
                <a:solidFill>
                  <a:srgbClr val="334155"/>
                </a:solidFill>
                <a:latin typeface="Open Sans"/>
              </a:rPr>
              <a:t>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34125" y="3224510"/>
            <a:ext cx="5286375" cy="130497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 dirty="0" err="1">
                <a:solidFill>
                  <a:srgbClr val="334155"/>
                </a:solidFill>
                <a:latin typeface="Open Sans"/>
              </a:rPr>
              <a:t>Sebelum</a:t>
            </a:r>
            <a:r>
              <a:rPr sz="1650" b="0" i="0" u="none" dirty="0">
                <a:solidFill>
                  <a:srgbClr val="334155"/>
                </a:solidFill>
                <a:latin typeface="Open Sans"/>
              </a:rPr>
              <a:t> </a:t>
            </a:r>
            <a:r>
              <a:rPr sz="1650" b="0" i="0" u="none" dirty="0" err="1">
                <a:solidFill>
                  <a:srgbClr val="334155"/>
                </a:solidFill>
                <a:latin typeface="Open Sans"/>
              </a:rPr>
              <a:t>menyentuh</a:t>
            </a:r>
            <a:r>
              <a:rPr sz="1650" b="0" i="0" u="none" dirty="0">
                <a:solidFill>
                  <a:srgbClr val="334155"/>
                </a:solidFill>
                <a:latin typeface="Open Sans"/>
              </a:rPr>
              <a:t> </a:t>
            </a:r>
            <a:r>
              <a:rPr sz="1650" b="1" i="1" u="none" dirty="0">
                <a:solidFill>
                  <a:srgbClr val="334155"/>
                </a:solidFill>
                <a:latin typeface="Open Sans"/>
              </a:rPr>
              <a:t>keyboard</a:t>
            </a:r>
            <a:r>
              <a:rPr sz="1650" b="0" i="0" u="none" dirty="0">
                <a:solidFill>
                  <a:srgbClr val="334155"/>
                </a:solidFill>
                <a:latin typeface="Open Sans"/>
              </a:rPr>
              <a:t> </a:t>
            </a:r>
            <a:r>
              <a:rPr sz="1650" b="0" i="0" u="none" dirty="0" err="1">
                <a:solidFill>
                  <a:srgbClr val="334155"/>
                </a:solidFill>
                <a:latin typeface="Open Sans"/>
              </a:rPr>
              <a:t>atau</a:t>
            </a:r>
            <a:r>
              <a:rPr sz="1650" b="0" i="0" u="none" dirty="0">
                <a:solidFill>
                  <a:srgbClr val="334155"/>
                </a:solidFill>
                <a:latin typeface="Open Sans"/>
              </a:rPr>
              <a:t> </a:t>
            </a:r>
            <a:r>
              <a:rPr sz="1650" b="0" i="0" u="none" dirty="0" err="1">
                <a:solidFill>
                  <a:srgbClr val="334155"/>
                </a:solidFill>
                <a:latin typeface="Open Sans"/>
              </a:rPr>
              <a:t>menulis</a:t>
            </a:r>
            <a:r>
              <a:rPr sz="1650" b="0" i="0" u="none" dirty="0">
                <a:solidFill>
                  <a:srgbClr val="334155"/>
                </a:solidFill>
                <a:latin typeface="Open Sans"/>
              </a:rPr>
              <a:t> </a:t>
            </a:r>
            <a:r>
              <a:rPr sz="1650" b="0" i="0" u="none" dirty="0" err="1">
                <a:solidFill>
                  <a:srgbClr val="334155"/>
                </a:solidFill>
                <a:latin typeface="Open Sans"/>
              </a:rPr>
              <a:t>kode</a:t>
            </a:r>
            <a:r>
              <a:rPr sz="1650" b="0" i="0" u="none" dirty="0">
                <a:solidFill>
                  <a:srgbClr val="334155"/>
                </a:solidFill>
                <a:latin typeface="Open Sans"/>
              </a:rPr>
              <a:t> </a:t>
            </a:r>
            <a:r>
              <a:rPr sz="1650" b="0" i="0" u="none" dirty="0" err="1">
                <a:solidFill>
                  <a:srgbClr val="334155"/>
                </a:solidFill>
                <a:latin typeface="Open Sans"/>
              </a:rPr>
              <a:t>apa</a:t>
            </a:r>
            <a:r>
              <a:rPr sz="1650" b="0" i="0" u="none" dirty="0">
                <a:solidFill>
                  <a:srgbClr val="334155"/>
                </a:solidFill>
                <a:latin typeface="Open Sans"/>
              </a:rPr>
              <a:t> pun, </a:t>
            </a:r>
            <a:r>
              <a:rPr sz="1650" b="0" i="0" u="none" dirty="0" err="1">
                <a:solidFill>
                  <a:srgbClr val="334155"/>
                </a:solidFill>
                <a:latin typeface="Open Sans"/>
              </a:rPr>
              <a:t>seorang</a:t>
            </a:r>
            <a:r>
              <a:rPr sz="1650" b="0" i="0" u="none" dirty="0">
                <a:solidFill>
                  <a:srgbClr val="334155"/>
                </a:solidFill>
                <a:latin typeface="Open Sans"/>
              </a:rPr>
              <a:t> </a:t>
            </a:r>
            <a:r>
              <a:rPr sz="1650" b="1" i="1" u="none" dirty="0">
                <a:solidFill>
                  <a:srgbClr val="334155"/>
                </a:solidFill>
                <a:latin typeface="Open Sans"/>
              </a:rPr>
              <a:t>programmer</a:t>
            </a:r>
            <a:r>
              <a:rPr sz="1650" b="0" i="0" u="none" dirty="0">
                <a:solidFill>
                  <a:srgbClr val="334155"/>
                </a:solidFill>
                <a:latin typeface="Open Sans"/>
              </a:rPr>
              <a:t> </a:t>
            </a:r>
            <a:r>
              <a:rPr sz="1650" b="0" i="0" u="none" dirty="0" err="1">
                <a:solidFill>
                  <a:srgbClr val="334155"/>
                </a:solidFill>
                <a:latin typeface="Open Sans"/>
              </a:rPr>
              <a:t>harus</a:t>
            </a:r>
            <a:r>
              <a:rPr sz="1650" b="0" i="0" u="none" dirty="0">
                <a:solidFill>
                  <a:srgbClr val="334155"/>
                </a:solidFill>
                <a:latin typeface="Open Sans"/>
              </a:rPr>
              <a:t> </a:t>
            </a:r>
            <a:r>
              <a:rPr sz="1650" b="0" i="0" u="none" dirty="0" err="1">
                <a:solidFill>
                  <a:srgbClr val="334155"/>
                </a:solidFill>
                <a:latin typeface="Open Sans"/>
              </a:rPr>
              <a:t>menggunakan</a:t>
            </a:r>
            <a:r>
              <a:rPr sz="1650" b="0" i="0" u="none" dirty="0">
                <a:solidFill>
                  <a:srgbClr val="334155"/>
                </a:solidFill>
                <a:latin typeface="Open Sans"/>
              </a:rPr>
              <a:t> </a:t>
            </a:r>
            <a:r>
              <a:rPr sz="1650" b="0" i="0" u="none" dirty="0" err="1">
                <a:solidFill>
                  <a:srgbClr val="334155"/>
                </a:solidFill>
                <a:latin typeface="Open Sans"/>
              </a:rPr>
              <a:t>logikanya</a:t>
            </a:r>
            <a:r>
              <a:rPr sz="1650" b="0" i="0" u="none" dirty="0">
                <a:solidFill>
                  <a:srgbClr val="334155"/>
                </a:solidFill>
                <a:latin typeface="Open Sans"/>
              </a:rPr>
              <a:t> </a:t>
            </a:r>
            <a:r>
              <a:rPr sz="1650" b="0" i="0" u="none" dirty="0" err="1">
                <a:solidFill>
                  <a:srgbClr val="334155"/>
                </a:solidFill>
                <a:latin typeface="Open Sans"/>
              </a:rPr>
              <a:t>terlebih</a:t>
            </a:r>
            <a:r>
              <a:rPr sz="1650" b="0" i="0" u="none" dirty="0">
                <a:solidFill>
                  <a:srgbClr val="334155"/>
                </a:solidFill>
                <a:latin typeface="Open Sans"/>
              </a:rPr>
              <a:t> </a:t>
            </a:r>
            <a:r>
              <a:rPr sz="1650" b="0" i="0" u="none" dirty="0" err="1">
                <a:solidFill>
                  <a:srgbClr val="334155"/>
                </a:solidFill>
                <a:latin typeface="Open Sans"/>
              </a:rPr>
              <a:t>dahulu</a:t>
            </a:r>
            <a:r>
              <a:rPr sz="1650" b="0" i="0" u="none" dirty="0">
                <a:solidFill>
                  <a:srgbClr val="334155"/>
                </a:solidFill>
                <a:latin typeface="Open Sans"/>
              </a:rPr>
              <a:t> </a:t>
            </a:r>
            <a:r>
              <a:rPr sz="1650" b="0" i="0" u="none" dirty="0" err="1">
                <a:solidFill>
                  <a:srgbClr val="334155"/>
                </a:solidFill>
                <a:latin typeface="Open Sans"/>
              </a:rPr>
              <a:t>untuk</a:t>
            </a:r>
            <a:r>
              <a:rPr sz="1650" b="0" i="0" u="none" dirty="0">
                <a:solidFill>
                  <a:srgbClr val="334155"/>
                </a:solidFill>
                <a:latin typeface="Open Sans"/>
              </a:rPr>
              <a:t> </a:t>
            </a:r>
            <a:r>
              <a:rPr sz="1650" b="0" i="0" u="none" dirty="0" err="1">
                <a:solidFill>
                  <a:srgbClr val="334155"/>
                </a:solidFill>
                <a:latin typeface="Open Sans"/>
              </a:rPr>
              <a:t>mengidentifikasi</a:t>
            </a:r>
            <a:r>
              <a:rPr sz="1650" b="0" i="0" u="none" dirty="0">
                <a:solidFill>
                  <a:srgbClr val="334155"/>
                </a:solidFill>
                <a:latin typeface="Open Sans"/>
              </a:rPr>
              <a:t> </a:t>
            </a:r>
            <a:r>
              <a:rPr sz="1650" b="0" i="1" u="none" dirty="0" err="1">
                <a:solidFill>
                  <a:srgbClr val="334155"/>
                </a:solidFill>
                <a:latin typeface="Open Sans"/>
              </a:rPr>
              <a:t>apa</a:t>
            </a:r>
            <a:r>
              <a:rPr sz="1650" b="0" i="1" u="none" dirty="0">
                <a:solidFill>
                  <a:srgbClr val="334155"/>
                </a:solidFill>
                <a:latin typeface="Open Sans"/>
              </a:rPr>
              <a:t> </a:t>
            </a:r>
            <a:r>
              <a:rPr sz="1650" b="0" i="1" u="none" dirty="0" err="1">
                <a:solidFill>
                  <a:srgbClr val="334155"/>
                </a:solidFill>
                <a:latin typeface="Open Sans"/>
              </a:rPr>
              <a:t>akar</a:t>
            </a:r>
            <a:r>
              <a:rPr sz="1650" b="0" i="1" u="none" dirty="0">
                <a:solidFill>
                  <a:srgbClr val="334155"/>
                </a:solidFill>
                <a:latin typeface="Open Sans"/>
              </a:rPr>
              <a:t> </a:t>
            </a:r>
            <a:r>
              <a:rPr sz="1650" b="0" i="1" u="none" dirty="0" err="1">
                <a:solidFill>
                  <a:srgbClr val="334155"/>
                </a:solidFill>
                <a:latin typeface="Open Sans"/>
              </a:rPr>
              <a:t>masalahnya</a:t>
            </a:r>
            <a:r>
              <a:rPr sz="1650" b="0" i="0" u="none" dirty="0">
                <a:solidFill>
                  <a:srgbClr val="334155"/>
                </a:solidFill>
                <a:latin typeface="Open Sans"/>
              </a:rPr>
              <a:t> dan </a:t>
            </a:r>
            <a:r>
              <a:rPr sz="1650" b="0" i="1" u="none" dirty="0" err="1">
                <a:solidFill>
                  <a:srgbClr val="334155"/>
                </a:solidFill>
                <a:latin typeface="Open Sans"/>
              </a:rPr>
              <a:t>bagaimana</a:t>
            </a:r>
            <a:r>
              <a:rPr sz="1650" b="0" i="1" u="none" dirty="0">
                <a:solidFill>
                  <a:srgbClr val="334155"/>
                </a:solidFill>
                <a:latin typeface="Open Sans"/>
              </a:rPr>
              <a:t> </a:t>
            </a:r>
            <a:r>
              <a:rPr sz="1650" b="0" i="1" u="none" dirty="0" err="1">
                <a:solidFill>
                  <a:srgbClr val="334155"/>
                </a:solidFill>
                <a:latin typeface="Open Sans"/>
              </a:rPr>
              <a:t>solusi</a:t>
            </a:r>
            <a:r>
              <a:rPr sz="1650" b="0" i="1" u="none" dirty="0">
                <a:solidFill>
                  <a:srgbClr val="334155"/>
                </a:solidFill>
                <a:latin typeface="Open Sans"/>
              </a:rPr>
              <a:t> </a:t>
            </a:r>
            <a:r>
              <a:rPr sz="1650" b="0" i="1" u="none" dirty="0" err="1">
                <a:solidFill>
                  <a:srgbClr val="334155"/>
                </a:solidFill>
                <a:latin typeface="Open Sans"/>
              </a:rPr>
              <a:t>terbaiknya</a:t>
            </a:r>
            <a:r>
              <a:rPr sz="1650" b="0" i="0" u="none" dirty="0">
                <a:solidFill>
                  <a:srgbClr val="334155"/>
                </a:solidFill>
                <a:latin typeface="Open Sans"/>
              </a:rPr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34125" y="4879182"/>
            <a:ext cx="5286375" cy="10054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 dirty="0" err="1">
                <a:solidFill>
                  <a:srgbClr val="334155"/>
                </a:solidFill>
                <a:latin typeface="Open Sans"/>
              </a:rPr>
              <a:t>Tanpa</a:t>
            </a:r>
            <a:r>
              <a:rPr sz="1650" b="0" i="0" u="none" dirty="0">
                <a:solidFill>
                  <a:srgbClr val="334155"/>
                </a:solidFill>
                <a:latin typeface="Open Sans"/>
              </a:rPr>
              <a:t> </a:t>
            </a:r>
            <a:r>
              <a:rPr sz="1650" b="0" i="0" u="none" dirty="0" err="1">
                <a:solidFill>
                  <a:srgbClr val="334155"/>
                </a:solidFill>
                <a:latin typeface="Open Sans"/>
              </a:rPr>
              <a:t>logika</a:t>
            </a:r>
            <a:r>
              <a:rPr sz="1650" b="0" i="0" u="none" dirty="0">
                <a:solidFill>
                  <a:srgbClr val="334155"/>
                </a:solidFill>
                <a:latin typeface="Open Sans"/>
              </a:rPr>
              <a:t> yang </a:t>
            </a:r>
            <a:r>
              <a:rPr sz="1650" b="0" i="0" u="none" dirty="0" err="1">
                <a:solidFill>
                  <a:srgbClr val="334155"/>
                </a:solidFill>
                <a:latin typeface="Open Sans"/>
              </a:rPr>
              <a:t>benar</a:t>
            </a:r>
            <a:r>
              <a:rPr sz="1650" b="0" i="0" u="none" dirty="0">
                <a:solidFill>
                  <a:srgbClr val="334155"/>
                </a:solidFill>
                <a:latin typeface="Open Sans"/>
              </a:rPr>
              <a:t>, </a:t>
            </a:r>
            <a:r>
              <a:rPr sz="1650" b="0" i="0" u="none" dirty="0" err="1">
                <a:solidFill>
                  <a:srgbClr val="334155"/>
                </a:solidFill>
                <a:latin typeface="Open Sans"/>
              </a:rPr>
              <a:t>bahasa</a:t>
            </a:r>
            <a:r>
              <a:rPr sz="1650" b="0" i="0" u="none" dirty="0">
                <a:solidFill>
                  <a:srgbClr val="334155"/>
                </a:solidFill>
                <a:latin typeface="Open Sans"/>
              </a:rPr>
              <a:t> </a:t>
            </a:r>
            <a:r>
              <a:rPr sz="1650" b="0" i="0" u="none" dirty="0" err="1">
                <a:solidFill>
                  <a:srgbClr val="334155"/>
                </a:solidFill>
                <a:latin typeface="Open Sans"/>
              </a:rPr>
              <a:t>pemrograman</a:t>
            </a:r>
            <a:r>
              <a:rPr sz="1650" b="0" i="0" u="none" dirty="0">
                <a:solidFill>
                  <a:srgbClr val="334155"/>
                </a:solidFill>
                <a:latin typeface="Open Sans"/>
              </a:rPr>
              <a:t> </a:t>
            </a:r>
            <a:r>
              <a:rPr sz="1650" b="0" i="0" u="none" dirty="0" err="1">
                <a:solidFill>
                  <a:srgbClr val="334155"/>
                </a:solidFill>
                <a:latin typeface="Open Sans"/>
              </a:rPr>
              <a:t>tercanggih</a:t>
            </a:r>
            <a:r>
              <a:rPr sz="1650" b="0" i="0" u="none" dirty="0">
                <a:solidFill>
                  <a:srgbClr val="334155"/>
                </a:solidFill>
                <a:latin typeface="Open Sans"/>
              </a:rPr>
              <a:t> </a:t>
            </a:r>
            <a:r>
              <a:rPr sz="1650" b="0" i="0" u="none" dirty="0" err="1">
                <a:solidFill>
                  <a:srgbClr val="334155"/>
                </a:solidFill>
                <a:latin typeface="Open Sans"/>
              </a:rPr>
              <a:t>apa</a:t>
            </a:r>
            <a:r>
              <a:rPr sz="1650" b="0" i="0" u="none" dirty="0">
                <a:solidFill>
                  <a:srgbClr val="334155"/>
                </a:solidFill>
                <a:latin typeface="Open Sans"/>
              </a:rPr>
              <a:t> pun </a:t>
            </a:r>
            <a:r>
              <a:rPr sz="1650" b="0" i="0" u="none" dirty="0" err="1">
                <a:solidFill>
                  <a:srgbClr val="334155"/>
                </a:solidFill>
                <a:latin typeface="Open Sans"/>
              </a:rPr>
              <a:t>tidak</a:t>
            </a:r>
            <a:r>
              <a:rPr sz="1650" b="0" i="0" u="none" dirty="0">
                <a:solidFill>
                  <a:srgbClr val="334155"/>
                </a:solidFill>
                <a:latin typeface="Open Sans"/>
              </a:rPr>
              <a:t> </a:t>
            </a:r>
            <a:r>
              <a:rPr sz="1650" b="0" i="0" u="none" dirty="0" err="1">
                <a:solidFill>
                  <a:srgbClr val="334155"/>
                </a:solidFill>
                <a:latin typeface="Open Sans"/>
              </a:rPr>
              <a:t>akan</a:t>
            </a:r>
            <a:r>
              <a:rPr sz="1650" b="0" i="0" u="none" dirty="0">
                <a:solidFill>
                  <a:srgbClr val="334155"/>
                </a:solidFill>
                <a:latin typeface="Open Sans"/>
              </a:rPr>
              <a:t> </a:t>
            </a:r>
            <a:r>
              <a:rPr sz="1650" b="0" i="0" u="none" dirty="0" err="1">
                <a:solidFill>
                  <a:srgbClr val="334155"/>
                </a:solidFill>
                <a:latin typeface="Open Sans"/>
              </a:rPr>
              <a:t>menghasilkan</a:t>
            </a:r>
            <a:r>
              <a:rPr sz="1650" b="0" i="0" u="none" dirty="0">
                <a:solidFill>
                  <a:srgbClr val="334155"/>
                </a:solidFill>
                <a:latin typeface="Open Sans"/>
              </a:rPr>
              <a:t> program yang </a:t>
            </a:r>
            <a:r>
              <a:rPr sz="1650" b="0" i="0" u="none" dirty="0" err="1">
                <a:solidFill>
                  <a:srgbClr val="334155"/>
                </a:solidFill>
                <a:latin typeface="Open Sans"/>
              </a:rPr>
              <a:t>baik</a:t>
            </a:r>
            <a:r>
              <a:rPr sz="1650" b="0" i="0" u="none" dirty="0">
                <a:solidFill>
                  <a:srgbClr val="334155"/>
                </a:solidFill>
                <a:latin typeface="Open Sans"/>
              </a:rPr>
              <a:t>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23C1037-37E5-213E-C4BC-54246C4E45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7958" y="1941004"/>
            <a:ext cx="4869180" cy="32461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2613420"/>
            <a:ext cx="4953000" cy="416228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762000"/>
            <a:ext cx="5200650" cy="495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150" b="1" i="0" u="none">
                <a:solidFill>
                  <a:srgbClr val="0F172A"/>
                </a:solidFill>
                <a:latin typeface="Montserrat"/>
              </a:rPr>
              <a:t>Apa Itu Algoritma?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1752600"/>
            <a:ext cx="4953000" cy="6703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1E40AF"/>
                </a:solidFill>
                <a:latin typeface="Open Sans SemiBold"/>
              </a:rPr>
              <a:t>Algoritma adalah urutan langkah-langkah logis dan terstruktur untuk menyelesaikan masalah.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0"/>
            <a:ext cx="6096000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57250" y="2994421"/>
            <a:ext cx="4650581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D97706"/>
                </a:solidFill>
                <a:latin typeface="Montserrat"/>
              </a:rPr>
              <a:t>Analogi: Memasak Mi Instan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7250" y="3451621"/>
            <a:ext cx="4429125" cy="1085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37"/>
              </a:lnSpc>
            </a:pPr>
            <a:r>
              <a:rPr sz="1425" b="0" i="0" u="none" dirty="0" err="1">
                <a:solidFill>
                  <a:srgbClr val="475569"/>
                </a:solidFill>
                <a:latin typeface="Open Sans"/>
              </a:rPr>
              <a:t>Sebagai</a:t>
            </a:r>
            <a:r>
              <a:rPr sz="1425" b="0" i="0" u="none" dirty="0">
                <a:solidFill>
                  <a:srgbClr val="475569"/>
                </a:solidFill>
                <a:latin typeface="Open Sans"/>
              </a:rPr>
              <a:t> </a:t>
            </a:r>
            <a:r>
              <a:rPr sz="1425" b="0" i="0" u="none" dirty="0" err="1">
                <a:solidFill>
                  <a:srgbClr val="475569"/>
                </a:solidFill>
                <a:latin typeface="Open Sans"/>
              </a:rPr>
              <a:t>contoh</a:t>
            </a:r>
            <a:r>
              <a:rPr sz="1425" b="0" i="0" u="none" dirty="0">
                <a:solidFill>
                  <a:srgbClr val="475569"/>
                </a:solidFill>
                <a:latin typeface="Open Sans"/>
              </a:rPr>
              <a:t> </a:t>
            </a:r>
            <a:r>
              <a:rPr sz="1425" b="0" i="0" u="none" dirty="0" err="1">
                <a:solidFill>
                  <a:srgbClr val="475569"/>
                </a:solidFill>
                <a:latin typeface="Open Sans"/>
              </a:rPr>
              <a:t>sederhana</a:t>
            </a:r>
            <a:r>
              <a:rPr sz="1425" b="0" i="0" u="none" dirty="0">
                <a:solidFill>
                  <a:srgbClr val="475569"/>
                </a:solidFill>
                <a:latin typeface="Open Sans"/>
              </a:rPr>
              <a:t>, </a:t>
            </a:r>
            <a:r>
              <a:rPr sz="1425" b="0" i="0" u="none" dirty="0" err="1">
                <a:solidFill>
                  <a:srgbClr val="475569"/>
                </a:solidFill>
                <a:latin typeface="Open Sans"/>
              </a:rPr>
              <a:t>mari</a:t>
            </a:r>
            <a:r>
              <a:rPr sz="1425" b="0" i="0" u="none" dirty="0">
                <a:solidFill>
                  <a:srgbClr val="475569"/>
                </a:solidFill>
                <a:latin typeface="Open Sans"/>
              </a:rPr>
              <a:t> </a:t>
            </a:r>
            <a:r>
              <a:rPr sz="1425" b="0" i="0" u="none" dirty="0" err="1">
                <a:solidFill>
                  <a:srgbClr val="475569"/>
                </a:solidFill>
                <a:latin typeface="Open Sans"/>
              </a:rPr>
              <a:t>kita</a:t>
            </a:r>
            <a:r>
              <a:rPr sz="1425" b="0" i="0" u="none" dirty="0">
                <a:solidFill>
                  <a:srgbClr val="475569"/>
                </a:solidFill>
                <a:latin typeface="Open Sans"/>
              </a:rPr>
              <a:t> </a:t>
            </a:r>
            <a:r>
              <a:rPr sz="1425" b="0" i="0" u="none" dirty="0" err="1">
                <a:solidFill>
                  <a:srgbClr val="475569"/>
                </a:solidFill>
                <a:latin typeface="Open Sans"/>
              </a:rPr>
              <a:t>bayangkan</a:t>
            </a:r>
            <a:r>
              <a:rPr sz="1425" b="0" i="0" u="none" dirty="0">
                <a:solidFill>
                  <a:srgbClr val="475569"/>
                </a:solidFill>
                <a:latin typeface="Open Sans"/>
              </a:rPr>
              <a:t> </a:t>
            </a:r>
            <a:r>
              <a:rPr sz="1425" b="0" i="0" u="none" dirty="0" err="1">
                <a:solidFill>
                  <a:srgbClr val="475569"/>
                </a:solidFill>
                <a:latin typeface="Open Sans"/>
              </a:rPr>
              <a:t>langkah-langkah</a:t>
            </a:r>
            <a:r>
              <a:rPr sz="1425" b="0" i="0" u="none" dirty="0">
                <a:solidFill>
                  <a:srgbClr val="475569"/>
                </a:solidFill>
                <a:latin typeface="Open Sans"/>
              </a:rPr>
              <a:t> </a:t>
            </a:r>
            <a:r>
              <a:rPr sz="1425" b="0" i="0" u="none" dirty="0" err="1">
                <a:solidFill>
                  <a:srgbClr val="475569"/>
                </a:solidFill>
                <a:latin typeface="Open Sans"/>
              </a:rPr>
              <a:t>saat</a:t>
            </a:r>
            <a:r>
              <a:rPr sz="1425" b="0" i="0" u="none" dirty="0">
                <a:solidFill>
                  <a:srgbClr val="475569"/>
                </a:solidFill>
                <a:latin typeface="Open Sans"/>
              </a:rPr>
              <a:t> </a:t>
            </a:r>
            <a:r>
              <a:rPr sz="1425" b="0" i="0" u="none" dirty="0" err="1">
                <a:solidFill>
                  <a:srgbClr val="475569"/>
                </a:solidFill>
                <a:latin typeface="Open Sans"/>
              </a:rPr>
              <a:t>kita</a:t>
            </a:r>
            <a:r>
              <a:rPr sz="1425" b="0" i="0" u="none" dirty="0">
                <a:solidFill>
                  <a:srgbClr val="475569"/>
                </a:solidFill>
                <a:latin typeface="Open Sans"/>
              </a:rPr>
              <a:t> </a:t>
            </a:r>
            <a:r>
              <a:rPr sz="1425" b="0" i="0" u="none" dirty="0" err="1">
                <a:solidFill>
                  <a:srgbClr val="475569"/>
                </a:solidFill>
                <a:latin typeface="Open Sans"/>
              </a:rPr>
              <a:t>memasak</a:t>
            </a:r>
            <a:r>
              <a:rPr sz="1425" b="0" i="0" u="none" dirty="0">
                <a:solidFill>
                  <a:srgbClr val="475569"/>
                </a:solidFill>
                <a:latin typeface="Open Sans"/>
              </a:rPr>
              <a:t> mi </a:t>
            </a:r>
            <a:r>
              <a:rPr sz="1425" b="0" i="0" u="none" dirty="0" err="1">
                <a:solidFill>
                  <a:srgbClr val="475569"/>
                </a:solidFill>
                <a:latin typeface="Open Sans"/>
              </a:rPr>
              <a:t>instan</a:t>
            </a:r>
            <a:r>
              <a:rPr sz="1425" b="0" i="0" u="none" dirty="0">
                <a:solidFill>
                  <a:srgbClr val="475569"/>
                </a:solidFill>
                <a:latin typeface="Open Sans"/>
              </a:rPr>
              <a:t>. Kita </a:t>
            </a:r>
            <a:r>
              <a:rPr sz="1425" b="0" i="0" u="none" dirty="0" err="1">
                <a:solidFill>
                  <a:srgbClr val="475569"/>
                </a:solidFill>
                <a:latin typeface="Open Sans"/>
              </a:rPr>
              <a:t>tidak</a:t>
            </a:r>
            <a:r>
              <a:rPr sz="1425" b="0" i="0" u="none" dirty="0">
                <a:solidFill>
                  <a:srgbClr val="475569"/>
                </a:solidFill>
                <a:latin typeface="Open Sans"/>
              </a:rPr>
              <a:t> </a:t>
            </a:r>
            <a:r>
              <a:rPr sz="1425" b="0" i="0" u="none" dirty="0" err="1">
                <a:solidFill>
                  <a:srgbClr val="475569"/>
                </a:solidFill>
                <a:latin typeface="Open Sans"/>
              </a:rPr>
              <a:t>mungkin</a:t>
            </a:r>
            <a:r>
              <a:rPr sz="1425" b="0" i="0" u="none" dirty="0">
                <a:solidFill>
                  <a:srgbClr val="475569"/>
                </a:solidFill>
                <a:latin typeface="Open Sans"/>
              </a:rPr>
              <a:t> </a:t>
            </a:r>
            <a:r>
              <a:rPr sz="1425" b="0" i="0" u="none" dirty="0" err="1">
                <a:solidFill>
                  <a:srgbClr val="475569"/>
                </a:solidFill>
                <a:latin typeface="Open Sans"/>
              </a:rPr>
              <a:t>memasukkan</a:t>
            </a:r>
            <a:r>
              <a:rPr sz="1425" b="0" i="0" u="none" dirty="0">
                <a:solidFill>
                  <a:srgbClr val="475569"/>
                </a:solidFill>
                <a:latin typeface="Open Sans"/>
              </a:rPr>
              <a:t> mi-</a:t>
            </a:r>
            <a:r>
              <a:rPr sz="1425" b="0" i="0" u="none" dirty="0" err="1">
                <a:solidFill>
                  <a:srgbClr val="475569"/>
                </a:solidFill>
                <a:latin typeface="Open Sans"/>
              </a:rPr>
              <a:t>nya</a:t>
            </a:r>
            <a:r>
              <a:rPr sz="1425" b="0" i="0" u="none" dirty="0">
                <a:solidFill>
                  <a:srgbClr val="475569"/>
                </a:solidFill>
                <a:latin typeface="Open Sans"/>
              </a:rPr>
              <a:t> </a:t>
            </a:r>
            <a:r>
              <a:rPr sz="1425" b="0" i="0" u="none" dirty="0" err="1">
                <a:solidFill>
                  <a:srgbClr val="475569"/>
                </a:solidFill>
                <a:latin typeface="Open Sans"/>
              </a:rPr>
              <a:t>terlebih</a:t>
            </a:r>
            <a:r>
              <a:rPr sz="1425" b="0" i="0" u="none" dirty="0">
                <a:solidFill>
                  <a:srgbClr val="475569"/>
                </a:solidFill>
                <a:latin typeface="Open Sans"/>
              </a:rPr>
              <a:t> </a:t>
            </a:r>
            <a:r>
              <a:rPr sz="1425" b="0" i="0" u="none" dirty="0" err="1">
                <a:solidFill>
                  <a:srgbClr val="475569"/>
                </a:solidFill>
                <a:latin typeface="Open Sans"/>
              </a:rPr>
              <a:t>dahulu</a:t>
            </a:r>
            <a:r>
              <a:rPr sz="1425" b="0" i="0" u="none" dirty="0">
                <a:solidFill>
                  <a:srgbClr val="475569"/>
                </a:solidFill>
                <a:latin typeface="Open Sans"/>
              </a:rPr>
              <a:t> </a:t>
            </a:r>
            <a:r>
              <a:rPr sz="1425" b="0" i="0" u="none" dirty="0" err="1">
                <a:solidFill>
                  <a:srgbClr val="475569"/>
                </a:solidFill>
                <a:latin typeface="Open Sans"/>
              </a:rPr>
              <a:t>sebelum</a:t>
            </a:r>
            <a:r>
              <a:rPr sz="1425" b="0" i="0" u="none" dirty="0">
                <a:solidFill>
                  <a:srgbClr val="475569"/>
                </a:solidFill>
                <a:latin typeface="Open Sans"/>
              </a:rPr>
              <a:t> </a:t>
            </a:r>
            <a:r>
              <a:rPr sz="1425" b="0" i="0" u="none" dirty="0" err="1">
                <a:solidFill>
                  <a:srgbClr val="475569"/>
                </a:solidFill>
                <a:latin typeface="Open Sans"/>
              </a:rPr>
              <a:t>merebus</a:t>
            </a:r>
            <a:r>
              <a:rPr sz="1425" b="0" i="0" u="none" dirty="0">
                <a:solidFill>
                  <a:srgbClr val="475569"/>
                </a:solidFill>
                <a:latin typeface="Open Sans"/>
              </a:rPr>
              <a:t> air, </a:t>
            </a:r>
            <a:r>
              <a:rPr sz="1425" b="0" i="0" u="none" dirty="0" err="1">
                <a:solidFill>
                  <a:srgbClr val="475569"/>
                </a:solidFill>
                <a:latin typeface="Open Sans"/>
              </a:rPr>
              <a:t>bukan</a:t>
            </a:r>
            <a:r>
              <a:rPr sz="1425" b="0" i="0" u="none" dirty="0">
                <a:solidFill>
                  <a:srgbClr val="475569"/>
                </a:solidFill>
                <a:latin typeface="Open Sans"/>
              </a:rPr>
              <a:t>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7250" y="4727971"/>
            <a:ext cx="4429125" cy="12037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ts val="2400"/>
              </a:lnSpc>
            </a:pPr>
            <a:r>
              <a:rPr sz="1500" b="0" i="0" u="none" dirty="0" err="1">
                <a:solidFill>
                  <a:srgbClr val="1E293B"/>
                </a:solidFill>
                <a:latin typeface="Open Sans SemiBold"/>
              </a:rPr>
              <a:t>Semuanya</a:t>
            </a:r>
            <a:r>
              <a:rPr sz="1500" b="0" i="0" u="none" dirty="0">
                <a:solidFill>
                  <a:srgbClr val="1E293B"/>
                </a:solidFill>
                <a:latin typeface="Open Sans SemiBold"/>
              </a:rPr>
              <a:t> </a:t>
            </a:r>
            <a:r>
              <a:rPr sz="1500" b="0" i="0" u="none" dirty="0" err="1">
                <a:solidFill>
                  <a:srgbClr val="1E293B"/>
                </a:solidFill>
                <a:latin typeface="Open Sans SemiBold"/>
              </a:rPr>
              <a:t>harus</a:t>
            </a:r>
            <a:r>
              <a:rPr sz="1500" b="0" i="0" u="none" dirty="0">
                <a:solidFill>
                  <a:srgbClr val="1E293B"/>
                </a:solidFill>
                <a:latin typeface="Open Sans SemiBold"/>
              </a:rPr>
              <a:t> </a:t>
            </a:r>
            <a:r>
              <a:rPr sz="1500" b="0" i="0" u="none" dirty="0" err="1">
                <a:solidFill>
                  <a:srgbClr val="1E293B"/>
                </a:solidFill>
                <a:latin typeface="Open Sans SemiBold"/>
              </a:rPr>
              <a:t>berurutan</a:t>
            </a:r>
            <a:r>
              <a:rPr sz="1500" b="0" i="0" u="none" dirty="0">
                <a:solidFill>
                  <a:srgbClr val="1E293B"/>
                </a:solidFill>
                <a:latin typeface="Open Sans SemiBold"/>
              </a:rPr>
              <a:t>: </a:t>
            </a:r>
            <a:r>
              <a:rPr dirty="0"/>
              <a:t>
</a:t>
            </a:r>
            <a:r>
              <a:rPr sz="1500" b="0" i="0" u="none" dirty="0">
                <a:solidFill>
                  <a:srgbClr val="EA580C"/>
                </a:solidFill>
                <a:latin typeface="Open Sans SemiBold"/>
              </a:rPr>
              <a:t>Rebus air → </a:t>
            </a:r>
            <a:r>
              <a:rPr sz="1500" b="0" i="0" u="none" dirty="0" err="1">
                <a:solidFill>
                  <a:srgbClr val="EA580C"/>
                </a:solidFill>
                <a:latin typeface="Open Sans SemiBold"/>
              </a:rPr>
              <a:t>Tunggu</a:t>
            </a:r>
            <a:r>
              <a:rPr sz="1500" b="0" i="0" u="none" dirty="0">
                <a:solidFill>
                  <a:srgbClr val="EA580C"/>
                </a:solidFill>
                <a:latin typeface="Open Sans SemiBold"/>
              </a:rPr>
              <a:t> </a:t>
            </a:r>
            <a:r>
              <a:rPr sz="1500" b="0" i="0" u="none" dirty="0" err="1">
                <a:solidFill>
                  <a:srgbClr val="EA580C"/>
                </a:solidFill>
                <a:latin typeface="Open Sans SemiBold"/>
              </a:rPr>
              <a:t>mendidih</a:t>
            </a:r>
            <a:r>
              <a:rPr sz="1500" b="0" i="0" u="none" dirty="0">
                <a:solidFill>
                  <a:srgbClr val="EA580C"/>
                </a:solidFill>
                <a:latin typeface="Open Sans SemiBold"/>
              </a:rPr>
              <a:t> → Masukkan mi → Tuang </a:t>
            </a:r>
            <a:r>
              <a:rPr sz="1500" b="0" i="0" u="none" dirty="0" err="1">
                <a:solidFill>
                  <a:srgbClr val="EA580C"/>
                </a:solidFill>
                <a:latin typeface="Open Sans SemiBold"/>
              </a:rPr>
              <a:t>bumbu</a:t>
            </a:r>
            <a:r>
              <a:rPr lang="en-US" sz="1500" dirty="0">
                <a:solidFill>
                  <a:srgbClr val="EA580C"/>
                </a:solidFill>
                <a:latin typeface="Open Sans SemiBold"/>
              </a:rPr>
              <a:t> → </a:t>
            </a:r>
            <a:r>
              <a:rPr lang="en-US" sz="1500" dirty="0" err="1">
                <a:solidFill>
                  <a:srgbClr val="EA580C"/>
                </a:solidFill>
                <a:latin typeface="Open Sans SemiBold"/>
              </a:rPr>
              <a:t>Tiriskan</a:t>
            </a:r>
            <a:r>
              <a:rPr lang="en-US" sz="1500" dirty="0">
                <a:solidFill>
                  <a:srgbClr val="EA580C"/>
                </a:solidFill>
                <a:latin typeface="Open Sans SemiBold"/>
              </a:rPr>
              <a:t> Mie dan </a:t>
            </a:r>
            <a:r>
              <a:rPr lang="en-US" sz="1500" dirty="0" err="1">
                <a:solidFill>
                  <a:srgbClr val="EA580C"/>
                </a:solidFill>
                <a:latin typeface="Open Sans SemiBold"/>
              </a:rPr>
              <a:t>aduk</a:t>
            </a:r>
            <a:r>
              <a:rPr lang="en-US" sz="1500" dirty="0">
                <a:solidFill>
                  <a:srgbClr val="EA580C"/>
                </a:solidFill>
                <a:latin typeface="Open Sans SemiBold"/>
              </a:rPr>
              <a:t> </a:t>
            </a:r>
            <a:r>
              <a:rPr lang="en-US" sz="1500" dirty="0" err="1">
                <a:solidFill>
                  <a:srgbClr val="EA580C"/>
                </a:solidFill>
                <a:latin typeface="Open Sans SemiBold"/>
              </a:rPr>
              <a:t>hingga</a:t>
            </a:r>
            <a:r>
              <a:rPr lang="en-US" sz="1500" dirty="0">
                <a:solidFill>
                  <a:srgbClr val="EA580C"/>
                </a:solidFill>
                <a:latin typeface="Open Sans SemiBold"/>
              </a:rPr>
              <a:t> </a:t>
            </a:r>
            <a:r>
              <a:rPr lang="en-US" sz="1500" dirty="0" err="1">
                <a:solidFill>
                  <a:srgbClr val="EA580C"/>
                </a:solidFill>
                <a:latin typeface="Open Sans SemiBold"/>
              </a:rPr>
              <a:t>merata</a:t>
            </a:r>
            <a:r>
              <a:rPr sz="1500" b="0" i="0" u="none" dirty="0">
                <a:solidFill>
                  <a:srgbClr val="EA580C"/>
                </a:solidFill>
                <a:latin typeface="Open Sans SemiBold"/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7249" y="6115164"/>
            <a:ext cx="4429125" cy="542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37"/>
              </a:lnSpc>
            </a:pPr>
            <a:r>
              <a:rPr sz="1425" b="0" i="0" u="none" dirty="0" err="1">
                <a:solidFill>
                  <a:srgbClr val="475569"/>
                </a:solidFill>
                <a:latin typeface="Open Sans"/>
              </a:rPr>
              <a:t>Urutan</a:t>
            </a:r>
            <a:r>
              <a:rPr sz="1425" b="0" i="0" u="none" dirty="0">
                <a:solidFill>
                  <a:srgbClr val="475569"/>
                </a:solidFill>
                <a:latin typeface="Open Sans"/>
              </a:rPr>
              <a:t> </a:t>
            </a:r>
            <a:r>
              <a:rPr sz="1425" b="0" i="0" u="none" dirty="0" err="1">
                <a:solidFill>
                  <a:srgbClr val="475569"/>
                </a:solidFill>
                <a:latin typeface="Open Sans"/>
              </a:rPr>
              <a:t>sistematis</a:t>
            </a:r>
            <a:r>
              <a:rPr sz="1425" b="0" i="0" u="none" dirty="0">
                <a:solidFill>
                  <a:srgbClr val="475569"/>
                </a:solidFill>
                <a:latin typeface="Open Sans"/>
              </a:rPr>
              <a:t> yang </a:t>
            </a:r>
            <a:r>
              <a:rPr sz="1425" b="0" i="0" u="none" dirty="0" err="1">
                <a:solidFill>
                  <a:srgbClr val="475569"/>
                </a:solidFill>
                <a:latin typeface="Open Sans"/>
              </a:rPr>
              <a:t>logis</a:t>
            </a:r>
            <a:r>
              <a:rPr sz="1425" b="0" i="0" u="none" dirty="0">
                <a:solidFill>
                  <a:srgbClr val="475569"/>
                </a:solidFill>
                <a:latin typeface="Open Sans"/>
              </a:rPr>
              <a:t> dan </a:t>
            </a:r>
            <a:r>
              <a:rPr sz="1425" b="0" i="0" u="none" dirty="0" err="1">
                <a:solidFill>
                  <a:srgbClr val="475569"/>
                </a:solidFill>
                <a:latin typeface="Open Sans"/>
              </a:rPr>
              <a:t>tidak</a:t>
            </a:r>
            <a:r>
              <a:rPr sz="1425" b="0" i="0" u="none" dirty="0">
                <a:solidFill>
                  <a:srgbClr val="475569"/>
                </a:solidFill>
                <a:latin typeface="Open Sans"/>
              </a:rPr>
              <a:t> </a:t>
            </a:r>
            <a:r>
              <a:rPr sz="1425" b="0" i="0" u="none" dirty="0" err="1">
                <a:solidFill>
                  <a:srgbClr val="475569"/>
                </a:solidFill>
                <a:latin typeface="Open Sans"/>
              </a:rPr>
              <a:t>boleh</a:t>
            </a:r>
            <a:r>
              <a:rPr sz="1425" b="0" i="0" u="none" dirty="0">
                <a:solidFill>
                  <a:srgbClr val="475569"/>
                </a:solidFill>
                <a:latin typeface="Open Sans"/>
              </a:rPr>
              <a:t> </a:t>
            </a:r>
            <a:r>
              <a:rPr sz="1425" b="0" i="0" u="none" dirty="0" err="1">
                <a:solidFill>
                  <a:srgbClr val="475569"/>
                </a:solidFill>
                <a:latin typeface="Open Sans"/>
              </a:rPr>
              <a:t>terbalik</a:t>
            </a:r>
            <a:r>
              <a:rPr sz="1425" b="0" i="0" u="none" dirty="0">
                <a:solidFill>
                  <a:srgbClr val="475569"/>
                </a:solidFill>
                <a:latin typeface="Open Sans"/>
              </a:rPr>
              <a:t> </a:t>
            </a:r>
            <a:r>
              <a:rPr sz="1425" b="0" i="0" u="none" dirty="0" err="1">
                <a:solidFill>
                  <a:srgbClr val="475569"/>
                </a:solidFill>
                <a:latin typeface="Open Sans"/>
              </a:rPr>
              <a:t>inilah</a:t>
            </a:r>
            <a:r>
              <a:rPr sz="1425" b="0" i="0" u="none" dirty="0">
                <a:solidFill>
                  <a:srgbClr val="475569"/>
                </a:solidFill>
                <a:latin typeface="Open Sans"/>
              </a:rPr>
              <a:t> yang </a:t>
            </a:r>
            <a:r>
              <a:rPr sz="1425" b="0" i="0" u="none" dirty="0" err="1">
                <a:solidFill>
                  <a:srgbClr val="475569"/>
                </a:solidFill>
                <a:latin typeface="Open Sans"/>
              </a:rPr>
              <a:t>dinamakan</a:t>
            </a:r>
            <a:r>
              <a:rPr sz="1425" b="0" i="0" u="none" dirty="0">
                <a:solidFill>
                  <a:srgbClr val="475569"/>
                </a:solidFill>
                <a:latin typeface="Open Sans"/>
              </a:rPr>
              <a:t> </a:t>
            </a:r>
            <a:r>
              <a:rPr sz="1425" b="1" i="0" u="none" dirty="0" err="1">
                <a:solidFill>
                  <a:srgbClr val="475569"/>
                </a:solidFill>
                <a:latin typeface="Open Sans"/>
              </a:rPr>
              <a:t>Algoritma</a:t>
            </a:r>
            <a:r>
              <a:rPr sz="1425" b="0" i="0" u="none" dirty="0">
                <a:solidFill>
                  <a:srgbClr val="475569"/>
                </a:solidFill>
                <a:latin typeface="Open Sans"/>
              </a:rPr>
              <a:t>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609129"/>
            <a:ext cx="3492549" cy="451604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9799" y="1609129"/>
            <a:ext cx="3492549" cy="451604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8099" y="1609129"/>
            <a:ext cx="3492549" cy="45160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1500" y="571500"/>
            <a:ext cx="11601450" cy="495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150" b="1" i="0" u="none">
                <a:solidFill>
                  <a:srgbClr val="0F172A"/>
                </a:solidFill>
                <a:latin typeface="Montserrat"/>
              </a:rPr>
              <a:t>Kesatuan Tiga Serangkai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36700" y="1952029"/>
            <a:ext cx="762000" cy="762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697622" y="2952154"/>
            <a:ext cx="1240155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100" b="1" i="0" u="none">
                <a:solidFill>
                  <a:srgbClr val="1D4ED8"/>
                </a:solidFill>
                <a:latin typeface="Montserrat"/>
              </a:rPr>
              <a:t>1. Logika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9150" y="3628429"/>
            <a:ext cx="2997249" cy="16758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640"/>
              </a:lnSpc>
            </a:pPr>
            <a:r>
              <a:rPr sz="1650" b="1" i="0" u="none">
                <a:solidFill>
                  <a:srgbClr val="334155"/>
                </a:solidFill>
                <a:latin typeface="Open Sans"/>
              </a:rPr>
              <a:t>Pola Pikir.</a:t>
            </a:r>
            <a:r>
              <a:rPr sz="1650" b="0" i="0" u="none">
                <a:solidFill>
                  <a:srgbClr val="334155"/>
                </a:solidFill>
                <a:latin typeface="Open Sans"/>
              </a:rPr>
              <a:t> Di tahap ini, otak kita mengidentifikasi masalah, menalar, dan mencari ide solusi secara abstrak di dalam pikiran.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0" y="1952029"/>
            <a:ext cx="762000" cy="7620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210889" y="2952154"/>
            <a:ext cx="1770221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100" b="1" i="0" u="none">
                <a:solidFill>
                  <a:srgbClr val="1D4ED8"/>
                </a:solidFill>
                <a:latin typeface="Montserrat"/>
              </a:rPr>
              <a:t>2. Algoritma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97449" y="3628429"/>
            <a:ext cx="2997249" cy="16758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640"/>
              </a:lnSpc>
            </a:pPr>
            <a:r>
              <a:rPr sz="1650" b="1" i="0" u="none">
                <a:solidFill>
                  <a:srgbClr val="334155"/>
                </a:solidFill>
                <a:latin typeface="Open Sans"/>
              </a:rPr>
              <a:t>Desain Solusi.</a:t>
            </a:r>
            <a:r>
              <a:rPr sz="1650" b="0" i="0" u="none">
                <a:solidFill>
                  <a:srgbClr val="334155"/>
                </a:solidFill>
                <a:latin typeface="Open Sans"/>
              </a:rPr>
              <a:t> Ide dari kepala tadi diterjemahkan menjadi urutan langkah (resep) yang konkret dan terstruktur di atas kertas.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93299" y="1952029"/>
            <a:ext cx="762000" cy="7620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659147" y="2952154"/>
            <a:ext cx="2430303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100" b="1" i="0" u="none">
                <a:solidFill>
                  <a:srgbClr val="1D4ED8"/>
                </a:solidFill>
                <a:latin typeface="Montserrat"/>
              </a:rPr>
              <a:t>3. Pemrograman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75749" y="3628429"/>
            <a:ext cx="2997249" cy="20109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640"/>
              </a:lnSpc>
            </a:pPr>
            <a:r>
              <a:rPr sz="1650" b="1" i="0" u="none">
                <a:solidFill>
                  <a:srgbClr val="334155"/>
                </a:solidFill>
                <a:latin typeface="Open Sans"/>
              </a:rPr>
              <a:t>Eksekusi.</a:t>
            </a:r>
            <a:r>
              <a:rPr sz="1650" b="0" i="0" u="none">
                <a:solidFill>
                  <a:srgbClr val="334155"/>
                </a:solidFill>
                <a:latin typeface="Open Sans"/>
              </a:rPr>
              <a:t> Resep langkah-langkah tadi akhirnya diterjemahkan menggunakan bahasa komputer agar mesin bisa benar-benar menjalankannya.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146250" y="2161579"/>
            <a:ext cx="342900" cy="3429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900737" y="2161579"/>
            <a:ext cx="390525" cy="3429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659987" y="2161579"/>
            <a:ext cx="428625" cy="3429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447800"/>
            <a:ext cx="3486150" cy="4851201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3400" y="1447800"/>
            <a:ext cx="3486150" cy="4851201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15300" y="1447800"/>
            <a:ext cx="3505200" cy="485120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1500" y="571500"/>
            <a:ext cx="11601450" cy="495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150" b="1" i="0" u="none">
                <a:solidFill>
                  <a:srgbClr val="0F172A"/>
                </a:solidFill>
                <a:latin typeface="Montserrat"/>
              </a:rPr>
              <a:t>Tingkatan Bahasa Pemrograman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33575" y="1790700"/>
            <a:ext cx="762000" cy="762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309449" y="2790825"/>
            <a:ext cx="2010251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100" b="1" i="0" u="none">
                <a:solidFill>
                  <a:srgbClr val="334155"/>
                </a:solidFill>
                <a:latin typeface="Montserrat"/>
              </a:rPr>
              <a:t>Bahasa Mesin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9150" y="3467100"/>
            <a:ext cx="2990850" cy="234612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640"/>
              </a:lnSpc>
            </a:pPr>
            <a:r>
              <a:rPr sz="1650" b="0" i="0" u="none">
                <a:solidFill>
                  <a:srgbClr val="334155"/>
                </a:solidFill>
                <a:latin typeface="Open Sans"/>
              </a:rPr>
              <a:t>Tingkat paling bawah. Hanya berupa deretan angka biner </a:t>
            </a:r>
            <a:r>
              <a:rPr sz="1650" b="1" i="0" u="none">
                <a:solidFill>
                  <a:srgbClr val="334155"/>
                </a:solidFill>
                <a:latin typeface="Open Sans"/>
              </a:rPr>
              <a:t>(0 dan 1)</a:t>
            </a:r>
            <a:r>
              <a:rPr sz="1650" b="0" i="0" u="none">
                <a:solidFill>
                  <a:srgbClr val="334155"/>
                </a:solidFill>
                <a:latin typeface="Open Sans"/>
              </a:rPr>
              <a:t>. Sangat sulit dibaca oleh manusia, tetapi dapat langsung dimengerti dan dieksekusi oleh </a:t>
            </a:r>
            <a:r>
              <a:rPr sz="1650" b="0" i="1" u="none">
                <a:solidFill>
                  <a:srgbClr val="334155"/>
                </a:solidFill>
                <a:latin typeface="Open Sans"/>
              </a:rPr>
              <a:t>hardware</a:t>
            </a:r>
            <a:r>
              <a:rPr sz="1650" b="0" i="0" u="none">
                <a:solidFill>
                  <a:srgbClr val="334155"/>
                </a:solidFill>
                <a:latin typeface="Open Sans"/>
              </a:rPr>
              <a:t>/CPU.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05475" y="1790700"/>
            <a:ext cx="762000" cy="7620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806315" y="2790825"/>
            <a:ext cx="2560320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100" b="1" i="0" u="none">
                <a:solidFill>
                  <a:srgbClr val="334155"/>
                </a:solidFill>
                <a:latin typeface="Montserrat"/>
              </a:rPr>
              <a:t>Bahasa Assembly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91050" y="3467100"/>
            <a:ext cx="2990850" cy="20109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640"/>
              </a:lnSpc>
            </a:pPr>
            <a:r>
              <a:rPr sz="1650" b="0" i="0" u="none">
                <a:solidFill>
                  <a:srgbClr val="334155"/>
                </a:solidFill>
                <a:latin typeface="Open Sans"/>
              </a:rPr>
              <a:t>Bahasa tingkat rendah. Sudah menggunakan instruksi singkatan berupa kata sandi/mnemonik (seperti ADD, MOV, SUB). Masih cukup sulit untuk dipahami orang awam.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86900" y="1800225"/>
            <a:ext cx="762000" cy="7620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812768" y="2800350"/>
            <a:ext cx="2110263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100" b="1" i="0" u="none">
                <a:solidFill>
                  <a:srgbClr val="1D4ED8"/>
                </a:solidFill>
                <a:latin typeface="Montserrat"/>
              </a:rPr>
              <a:t>Tingkat Tinggi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72475" y="3476625"/>
            <a:ext cx="2990850" cy="20109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640"/>
              </a:lnSpc>
            </a:pPr>
            <a:r>
              <a:rPr sz="1650" b="0" i="0" u="none">
                <a:solidFill>
                  <a:srgbClr val="334155"/>
                </a:solidFill>
                <a:latin typeface="Open Sans"/>
              </a:rPr>
              <a:t>Menggunakan sintaks yang </a:t>
            </a:r>
            <a:r>
              <a:rPr sz="1650" b="1" i="0" u="none">
                <a:solidFill>
                  <a:srgbClr val="334155"/>
                </a:solidFill>
                <a:latin typeface="Open Sans"/>
              </a:rPr>
              <a:t>mirip bahasa manusia</a:t>
            </a:r>
            <a:r>
              <a:rPr sz="1650" b="0" i="0" u="none">
                <a:solidFill>
                  <a:srgbClr val="334155"/>
                </a:solidFill>
                <a:latin typeface="Open Sans"/>
              </a:rPr>
              <a:t> (Bahasa Inggris). Sangat mudah dipelajari, dibaca, dan ditulis. Contoh: </a:t>
            </a:r>
            <a:r>
              <a:rPr sz="1650" b="1" i="0" u="none">
                <a:solidFill>
                  <a:srgbClr val="334155"/>
                </a:solidFill>
                <a:latin typeface="Open Sans"/>
              </a:rPr>
              <a:t>C#, PHP, JavaScript, Python</a:t>
            </a:r>
            <a:r>
              <a:rPr sz="1650" b="0" i="0" u="none">
                <a:solidFill>
                  <a:srgbClr val="334155"/>
                </a:solidFill>
                <a:latin typeface="Open Sans"/>
              </a:rPr>
              <a:t>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143125" y="2000250"/>
            <a:ext cx="342900" cy="3429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891212" y="2000250"/>
            <a:ext cx="390525" cy="3429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653587" y="2009775"/>
            <a:ext cx="428625" cy="3429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4125" y="2288083"/>
            <a:ext cx="5286375" cy="3810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571500"/>
            <a:ext cx="11601450" cy="495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150" b="1" i="0" u="none">
                <a:solidFill>
                  <a:srgbClr val="0F172A"/>
                </a:solidFill>
                <a:latin typeface="Montserrat"/>
              </a:rPr>
              <a:t>Bahasa Pilihan Kita: C#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1236726"/>
            <a:ext cx="6387084" cy="9715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 dirty="0">
                <a:solidFill>
                  <a:srgbClr val="334155"/>
                </a:solidFill>
                <a:latin typeface="Open Sans"/>
              </a:rPr>
              <a:t>Pada </a:t>
            </a:r>
            <a:r>
              <a:rPr sz="1650" b="0" i="0" u="none" dirty="0" err="1">
                <a:solidFill>
                  <a:srgbClr val="334155"/>
                </a:solidFill>
                <a:latin typeface="Open Sans"/>
              </a:rPr>
              <a:t>mata</a:t>
            </a:r>
            <a:r>
              <a:rPr sz="1650" b="0" i="0" u="none" dirty="0">
                <a:solidFill>
                  <a:srgbClr val="334155"/>
                </a:solidFill>
                <a:latin typeface="Open Sans"/>
              </a:rPr>
              <a:t> </a:t>
            </a:r>
            <a:r>
              <a:rPr sz="1650" b="0" i="0" u="none" dirty="0" err="1">
                <a:solidFill>
                  <a:srgbClr val="334155"/>
                </a:solidFill>
                <a:latin typeface="Open Sans"/>
              </a:rPr>
              <a:t>kuliah</a:t>
            </a:r>
            <a:r>
              <a:rPr sz="1650" b="0" i="0" u="none" dirty="0">
                <a:solidFill>
                  <a:srgbClr val="334155"/>
                </a:solidFill>
                <a:latin typeface="Open Sans"/>
              </a:rPr>
              <a:t> ini, </a:t>
            </a:r>
            <a:r>
              <a:rPr sz="1650" b="0" i="0" u="none" dirty="0" err="1">
                <a:solidFill>
                  <a:srgbClr val="334155"/>
                </a:solidFill>
                <a:latin typeface="Open Sans"/>
              </a:rPr>
              <a:t>kita</a:t>
            </a:r>
            <a:r>
              <a:rPr sz="1650" b="0" i="0" u="none" dirty="0">
                <a:solidFill>
                  <a:srgbClr val="334155"/>
                </a:solidFill>
                <a:latin typeface="Open Sans"/>
              </a:rPr>
              <a:t> </a:t>
            </a:r>
            <a:r>
              <a:rPr sz="1650" b="0" i="0" u="none" dirty="0" err="1">
                <a:solidFill>
                  <a:srgbClr val="334155"/>
                </a:solidFill>
                <a:latin typeface="Open Sans"/>
              </a:rPr>
              <a:t>akan</a:t>
            </a:r>
            <a:r>
              <a:rPr sz="1650" b="0" i="0" u="none" dirty="0">
                <a:solidFill>
                  <a:srgbClr val="334155"/>
                </a:solidFill>
                <a:latin typeface="Open Sans"/>
              </a:rPr>
              <a:t> </a:t>
            </a:r>
            <a:r>
              <a:rPr sz="1650" b="0" i="0" u="none" dirty="0" err="1">
                <a:solidFill>
                  <a:srgbClr val="334155"/>
                </a:solidFill>
                <a:latin typeface="Open Sans"/>
              </a:rPr>
              <a:t>mendedikasikan</a:t>
            </a:r>
            <a:r>
              <a:rPr sz="1650" b="0" i="0" u="none" dirty="0">
                <a:solidFill>
                  <a:srgbClr val="334155"/>
                </a:solidFill>
                <a:latin typeface="Open Sans"/>
              </a:rPr>
              <a:t> </a:t>
            </a:r>
            <a:r>
              <a:rPr sz="1650" b="0" i="0" u="none" dirty="0" err="1">
                <a:solidFill>
                  <a:srgbClr val="334155"/>
                </a:solidFill>
                <a:latin typeface="Open Sans"/>
              </a:rPr>
              <a:t>waktu</a:t>
            </a:r>
            <a:r>
              <a:rPr sz="1650" b="0" i="0" u="none" dirty="0">
                <a:solidFill>
                  <a:srgbClr val="334155"/>
                </a:solidFill>
                <a:latin typeface="Open Sans"/>
              </a:rPr>
              <a:t> </a:t>
            </a:r>
            <a:r>
              <a:rPr sz="1650" b="0" i="0" u="none" dirty="0" err="1">
                <a:solidFill>
                  <a:srgbClr val="334155"/>
                </a:solidFill>
                <a:latin typeface="Open Sans"/>
              </a:rPr>
              <a:t>untuk</a:t>
            </a:r>
            <a:r>
              <a:rPr sz="1650" b="0" i="0" u="none" dirty="0">
                <a:solidFill>
                  <a:srgbClr val="334155"/>
                </a:solidFill>
                <a:latin typeface="Open Sans"/>
              </a:rPr>
              <a:t> </a:t>
            </a:r>
            <a:r>
              <a:rPr sz="1650" b="0" i="0" u="none" dirty="0" err="1">
                <a:solidFill>
                  <a:srgbClr val="334155"/>
                </a:solidFill>
                <a:latin typeface="Open Sans"/>
              </a:rPr>
              <a:t>mempelajari</a:t>
            </a:r>
            <a:r>
              <a:rPr sz="1650" b="0" i="0" u="none" dirty="0">
                <a:solidFill>
                  <a:srgbClr val="334155"/>
                </a:solidFill>
                <a:latin typeface="Open Sans"/>
              </a:rPr>
              <a:t> dan </a:t>
            </a:r>
            <a:r>
              <a:rPr sz="1650" b="0" i="0" u="none" dirty="0" err="1">
                <a:solidFill>
                  <a:srgbClr val="334155"/>
                </a:solidFill>
                <a:latin typeface="Open Sans"/>
              </a:rPr>
              <a:t>menulis</a:t>
            </a:r>
            <a:r>
              <a:rPr sz="1650" b="0" i="0" u="none" dirty="0">
                <a:solidFill>
                  <a:srgbClr val="334155"/>
                </a:solidFill>
                <a:latin typeface="Open Sans"/>
              </a:rPr>
              <a:t> </a:t>
            </a:r>
            <a:r>
              <a:rPr sz="1650" b="0" i="0" u="none" dirty="0" err="1">
                <a:solidFill>
                  <a:srgbClr val="334155"/>
                </a:solidFill>
                <a:latin typeface="Open Sans"/>
              </a:rPr>
              <a:t>kode</a:t>
            </a:r>
            <a:r>
              <a:rPr sz="1650" b="0" i="0" u="none" dirty="0">
                <a:solidFill>
                  <a:srgbClr val="334155"/>
                </a:solidFill>
                <a:latin typeface="Open Sans"/>
              </a:rPr>
              <a:t> </a:t>
            </a:r>
            <a:r>
              <a:rPr sz="1650" b="0" i="0" u="none" dirty="0" err="1">
                <a:solidFill>
                  <a:srgbClr val="334155"/>
                </a:solidFill>
                <a:latin typeface="Open Sans"/>
              </a:rPr>
              <a:t>menggunakan</a:t>
            </a:r>
            <a:r>
              <a:rPr sz="1650" b="0" i="0" u="none" dirty="0">
                <a:solidFill>
                  <a:srgbClr val="334155"/>
                </a:solidFill>
                <a:latin typeface="Open Sans"/>
              </a:rPr>
              <a:t> </a:t>
            </a:r>
            <a:r>
              <a:rPr sz="1650" b="0" i="0" u="none" dirty="0" err="1">
                <a:solidFill>
                  <a:srgbClr val="334155"/>
                </a:solidFill>
                <a:latin typeface="Open Sans"/>
              </a:rPr>
              <a:t>bahasa</a:t>
            </a:r>
            <a:r>
              <a:rPr sz="1650" b="0" i="0" u="none" dirty="0">
                <a:solidFill>
                  <a:srgbClr val="334155"/>
                </a:solidFill>
                <a:latin typeface="Open Sans"/>
              </a:rPr>
              <a:t> </a:t>
            </a:r>
            <a:r>
              <a:rPr sz="1650" b="0" i="0" u="none" dirty="0" err="1">
                <a:solidFill>
                  <a:srgbClr val="334155"/>
                </a:solidFill>
                <a:latin typeface="Open Sans"/>
              </a:rPr>
              <a:t>pemrograman</a:t>
            </a:r>
            <a:r>
              <a:rPr sz="1650" b="0" i="0" u="none" dirty="0">
                <a:solidFill>
                  <a:srgbClr val="334155"/>
                </a:solidFill>
                <a:latin typeface="Open Sans"/>
              </a:rPr>
              <a:t> </a:t>
            </a:r>
            <a:r>
              <a:rPr sz="1650" b="0" i="0" u="none" dirty="0" err="1">
                <a:solidFill>
                  <a:srgbClr val="334155"/>
                </a:solidFill>
                <a:latin typeface="Open Sans"/>
              </a:rPr>
              <a:t>tingkat</a:t>
            </a:r>
            <a:r>
              <a:rPr sz="1650" b="0" i="0" u="none" dirty="0">
                <a:solidFill>
                  <a:srgbClr val="334155"/>
                </a:solidFill>
                <a:latin typeface="Open Sans"/>
              </a:rPr>
              <a:t> </a:t>
            </a:r>
            <a:r>
              <a:rPr sz="1650" b="0" i="0" u="none" dirty="0" err="1">
                <a:solidFill>
                  <a:srgbClr val="334155"/>
                </a:solidFill>
                <a:latin typeface="Open Sans"/>
              </a:rPr>
              <a:t>tinggi</a:t>
            </a:r>
            <a:r>
              <a:rPr sz="1650" b="0" i="0" u="none" dirty="0">
                <a:solidFill>
                  <a:srgbClr val="334155"/>
                </a:solidFill>
                <a:latin typeface="Open Sans"/>
              </a:rPr>
              <a:t>, </a:t>
            </a:r>
            <a:r>
              <a:rPr sz="1650" b="0" i="0" u="none" dirty="0" err="1">
                <a:solidFill>
                  <a:srgbClr val="334155"/>
                </a:solidFill>
                <a:latin typeface="Open Sans"/>
              </a:rPr>
              <a:t>yaitu</a:t>
            </a:r>
            <a:r>
              <a:rPr sz="1650" b="0" i="0" u="none" dirty="0">
                <a:solidFill>
                  <a:srgbClr val="334155"/>
                </a:solidFill>
                <a:latin typeface="Open Sans"/>
              </a:rPr>
              <a:t> </a:t>
            </a:r>
            <a:r>
              <a:rPr sz="1650" b="1" i="0" u="none" dirty="0">
                <a:solidFill>
                  <a:srgbClr val="334155"/>
                </a:solidFill>
                <a:latin typeface="Open Sans"/>
              </a:rPr>
              <a:t>C#</a:t>
            </a:r>
            <a:r>
              <a:rPr sz="1650" b="0" i="0" u="none" dirty="0">
                <a:solidFill>
                  <a:srgbClr val="334155"/>
                </a:solidFill>
                <a:latin typeface="Open Sans"/>
              </a:rPr>
              <a:t> (</a:t>
            </a:r>
            <a:r>
              <a:rPr sz="1650" b="0" i="0" u="none" dirty="0" err="1">
                <a:solidFill>
                  <a:srgbClr val="334155"/>
                </a:solidFill>
                <a:latin typeface="Open Sans"/>
              </a:rPr>
              <a:t>dibaca</a:t>
            </a:r>
            <a:r>
              <a:rPr sz="1650" b="0" i="0" u="none" dirty="0">
                <a:solidFill>
                  <a:srgbClr val="334155"/>
                </a:solidFill>
                <a:latin typeface="Open Sans"/>
              </a:rPr>
              <a:t>: </a:t>
            </a:r>
            <a:r>
              <a:rPr sz="1650" b="0" i="1" u="none" dirty="0">
                <a:solidFill>
                  <a:srgbClr val="334155"/>
                </a:solidFill>
                <a:latin typeface="Open Sans"/>
              </a:rPr>
              <a:t>C-Sharp</a:t>
            </a:r>
            <a:r>
              <a:rPr sz="1650" b="0" i="0" u="none" dirty="0">
                <a:solidFill>
                  <a:srgbClr val="334155"/>
                </a:solidFill>
                <a:latin typeface="Open Sans"/>
              </a:rPr>
              <a:t>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2430303"/>
            <a:ext cx="5286375" cy="335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334155"/>
                </a:solidFill>
                <a:latin typeface="Open Sans"/>
              </a:rPr>
              <a:t>Mengapa C#?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7250" y="2908339"/>
            <a:ext cx="5476875" cy="6381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 dirty="0" err="1">
                <a:solidFill>
                  <a:srgbClr val="334155"/>
                </a:solidFill>
                <a:latin typeface="Open Sans"/>
              </a:rPr>
              <a:t>Dikembangkan</a:t>
            </a:r>
            <a:r>
              <a:rPr sz="1650" b="0" i="0" u="none" dirty="0">
                <a:solidFill>
                  <a:srgbClr val="334155"/>
                </a:solidFill>
                <a:latin typeface="Open Sans"/>
              </a:rPr>
              <a:t> </a:t>
            </a:r>
            <a:r>
              <a:rPr sz="1650" b="0" i="0" u="none" dirty="0" err="1">
                <a:solidFill>
                  <a:srgbClr val="334155"/>
                </a:solidFill>
                <a:latin typeface="Open Sans"/>
              </a:rPr>
              <a:t>secara</a:t>
            </a:r>
            <a:r>
              <a:rPr sz="1650" b="0" i="0" u="none" dirty="0">
                <a:solidFill>
                  <a:srgbClr val="334155"/>
                </a:solidFill>
                <a:latin typeface="Open Sans"/>
              </a:rPr>
              <a:t> </a:t>
            </a:r>
            <a:r>
              <a:rPr sz="1650" b="0" i="0" u="none" dirty="0" err="1">
                <a:solidFill>
                  <a:srgbClr val="334155"/>
                </a:solidFill>
                <a:latin typeface="Open Sans"/>
              </a:rPr>
              <a:t>resmi</a:t>
            </a:r>
            <a:r>
              <a:rPr sz="1650" b="0" i="0" u="none" dirty="0">
                <a:solidFill>
                  <a:srgbClr val="334155"/>
                </a:solidFill>
                <a:latin typeface="Open Sans"/>
              </a:rPr>
              <a:t> dan </a:t>
            </a:r>
            <a:r>
              <a:rPr sz="1650" b="0" i="0" u="none" dirty="0" err="1">
                <a:solidFill>
                  <a:srgbClr val="334155"/>
                </a:solidFill>
                <a:latin typeface="Open Sans"/>
              </a:rPr>
              <a:t>didukung</a:t>
            </a:r>
            <a:r>
              <a:rPr sz="1650" b="0" i="0" u="none" dirty="0">
                <a:solidFill>
                  <a:srgbClr val="334155"/>
                </a:solidFill>
                <a:latin typeface="Open Sans"/>
              </a:rPr>
              <a:t> </a:t>
            </a:r>
            <a:r>
              <a:rPr sz="1650" b="0" i="0" u="none" dirty="0" err="1">
                <a:solidFill>
                  <a:srgbClr val="334155"/>
                </a:solidFill>
                <a:latin typeface="Open Sans"/>
              </a:rPr>
              <a:t>penuh</a:t>
            </a:r>
            <a:r>
              <a:rPr sz="1650" b="0" i="0" u="none" dirty="0">
                <a:solidFill>
                  <a:srgbClr val="334155"/>
                </a:solidFill>
                <a:latin typeface="Open Sans"/>
              </a:rPr>
              <a:t> oleh </a:t>
            </a:r>
            <a:r>
              <a:rPr sz="1650" b="1" i="0" u="none" dirty="0">
                <a:solidFill>
                  <a:srgbClr val="334155"/>
                </a:solidFill>
                <a:latin typeface="Open Sans"/>
              </a:rPr>
              <a:t>Microsoft</a:t>
            </a:r>
            <a:r>
              <a:rPr sz="1650" b="0" i="0" u="none" dirty="0">
                <a:solidFill>
                  <a:srgbClr val="334155"/>
                </a:solidFill>
                <a:latin typeface="Open Sans"/>
              </a:rPr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7250" y="3769161"/>
            <a:ext cx="5476875" cy="10054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 dirty="0" err="1">
                <a:solidFill>
                  <a:srgbClr val="334155"/>
                </a:solidFill>
                <a:latin typeface="Open Sans"/>
              </a:rPr>
              <a:t>Memiliki</a:t>
            </a:r>
            <a:r>
              <a:rPr sz="1650" b="0" i="0" u="none" dirty="0">
                <a:solidFill>
                  <a:srgbClr val="334155"/>
                </a:solidFill>
                <a:latin typeface="Open Sans"/>
              </a:rPr>
              <a:t> </a:t>
            </a:r>
            <a:r>
              <a:rPr sz="1650" b="0" i="0" u="none" dirty="0" err="1">
                <a:solidFill>
                  <a:srgbClr val="334155"/>
                </a:solidFill>
                <a:latin typeface="Open Sans"/>
              </a:rPr>
              <a:t>aturan</a:t>
            </a:r>
            <a:r>
              <a:rPr sz="1650" b="0" i="0" u="none" dirty="0">
                <a:solidFill>
                  <a:srgbClr val="334155"/>
                </a:solidFill>
                <a:latin typeface="Open Sans"/>
              </a:rPr>
              <a:t> </a:t>
            </a:r>
            <a:r>
              <a:rPr sz="1650" b="0" i="0" u="none" dirty="0" err="1">
                <a:solidFill>
                  <a:srgbClr val="334155"/>
                </a:solidFill>
                <a:latin typeface="Open Sans"/>
              </a:rPr>
              <a:t>penulisan</a:t>
            </a:r>
            <a:r>
              <a:rPr sz="1650" b="0" i="0" u="none" dirty="0">
                <a:solidFill>
                  <a:srgbClr val="334155"/>
                </a:solidFill>
                <a:latin typeface="Open Sans"/>
              </a:rPr>
              <a:t> yang </a:t>
            </a:r>
            <a:r>
              <a:rPr sz="1650" b="0" i="0" u="none" dirty="0" err="1">
                <a:solidFill>
                  <a:srgbClr val="334155"/>
                </a:solidFill>
                <a:latin typeface="Open Sans"/>
              </a:rPr>
              <a:t>ketat</a:t>
            </a:r>
            <a:r>
              <a:rPr sz="1650" b="0" i="0" u="none" dirty="0">
                <a:solidFill>
                  <a:srgbClr val="334155"/>
                </a:solidFill>
                <a:latin typeface="Open Sans"/>
              </a:rPr>
              <a:t>, </a:t>
            </a:r>
            <a:r>
              <a:rPr sz="1650" b="0" i="0" u="none" dirty="0" err="1">
                <a:solidFill>
                  <a:srgbClr val="334155"/>
                </a:solidFill>
                <a:latin typeface="Open Sans"/>
              </a:rPr>
              <a:t>memaksa</a:t>
            </a:r>
            <a:r>
              <a:rPr sz="1650" b="0" i="0" u="none" dirty="0">
                <a:solidFill>
                  <a:srgbClr val="334155"/>
                </a:solidFill>
                <a:latin typeface="Open Sans"/>
              </a:rPr>
              <a:t> </a:t>
            </a:r>
            <a:r>
              <a:rPr sz="1650" b="0" i="1" u="none" dirty="0">
                <a:solidFill>
                  <a:srgbClr val="334155"/>
                </a:solidFill>
                <a:latin typeface="Open Sans"/>
              </a:rPr>
              <a:t>programmer</a:t>
            </a:r>
            <a:r>
              <a:rPr sz="1650" b="0" i="0" u="none" dirty="0">
                <a:solidFill>
                  <a:srgbClr val="334155"/>
                </a:solidFill>
                <a:latin typeface="Open Sans"/>
              </a:rPr>
              <a:t> </a:t>
            </a:r>
            <a:r>
              <a:rPr sz="1650" b="0" i="0" u="none" dirty="0" err="1">
                <a:solidFill>
                  <a:srgbClr val="334155"/>
                </a:solidFill>
                <a:latin typeface="Open Sans"/>
              </a:rPr>
              <a:t>pemula</a:t>
            </a:r>
            <a:r>
              <a:rPr sz="1650" b="0" i="0" u="none" dirty="0">
                <a:solidFill>
                  <a:srgbClr val="334155"/>
                </a:solidFill>
                <a:latin typeface="Open Sans"/>
              </a:rPr>
              <a:t> </a:t>
            </a:r>
            <a:r>
              <a:rPr sz="1650" b="0" i="0" u="none" dirty="0" err="1">
                <a:solidFill>
                  <a:srgbClr val="334155"/>
                </a:solidFill>
                <a:latin typeface="Open Sans"/>
              </a:rPr>
              <a:t>untuk</a:t>
            </a:r>
            <a:r>
              <a:rPr sz="1650" b="0" i="0" u="none" dirty="0">
                <a:solidFill>
                  <a:srgbClr val="334155"/>
                </a:solidFill>
                <a:latin typeface="Open Sans"/>
              </a:rPr>
              <a:t> </a:t>
            </a:r>
            <a:r>
              <a:rPr sz="1650" b="0" i="0" u="none" dirty="0" err="1">
                <a:solidFill>
                  <a:srgbClr val="334155"/>
                </a:solidFill>
                <a:latin typeface="Open Sans"/>
              </a:rPr>
              <a:t>membangun</a:t>
            </a:r>
            <a:r>
              <a:rPr sz="1650" b="0" i="0" u="none" dirty="0">
                <a:solidFill>
                  <a:srgbClr val="334155"/>
                </a:solidFill>
                <a:latin typeface="Open Sans"/>
              </a:rPr>
              <a:t> </a:t>
            </a:r>
            <a:r>
              <a:rPr sz="1650" b="0" i="0" u="none" dirty="0" err="1">
                <a:solidFill>
                  <a:srgbClr val="334155"/>
                </a:solidFill>
                <a:latin typeface="Open Sans"/>
              </a:rPr>
              <a:t>fondasi</a:t>
            </a:r>
            <a:r>
              <a:rPr sz="1650" b="0" i="0" u="none" dirty="0">
                <a:solidFill>
                  <a:srgbClr val="334155"/>
                </a:solidFill>
                <a:latin typeface="Open Sans"/>
              </a:rPr>
              <a:t> </a:t>
            </a:r>
            <a:r>
              <a:rPr sz="1650" b="0" i="0" u="none" dirty="0" err="1">
                <a:solidFill>
                  <a:srgbClr val="334155"/>
                </a:solidFill>
                <a:latin typeface="Open Sans"/>
              </a:rPr>
              <a:t>logika</a:t>
            </a:r>
            <a:r>
              <a:rPr sz="1650" b="0" i="0" u="none" dirty="0">
                <a:solidFill>
                  <a:srgbClr val="334155"/>
                </a:solidFill>
                <a:latin typeface="Open Sans"/>
              </a:rPr>
              <a:t> yang </a:t>
            </a:r>
            <a:r>
              <a:rPr sz="1650" b="0" i="0" u="none" dirty="0" err="1">
                <a:solidFill>
                  <a:srgbClr val="334155"/>
                </a:solidFill>
                <a:latin typeface="Open Sans"/>
              </a:rPr>
              <a:t>benar</a:t>
            </a:r>
            <a:r>
              <a:rPr sz="1650" b="0" i="0" u="none" dirty="0">
                <a:solidFill>
                  <a:srgbClr val="334155"/>
                </a:solidFill>
                <a:latin typeface="Open Sans"/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7250" y="4965144"/>
            <a:ext cx="5238750" cy="6381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 dirty="0" err="1">
                <a:solidFill>
                  <a:srgbClr val="334155"/>
                </a:solidFill>
                <a:latin typeface="Open Sans"/>
              </a:rPr>
              <a:t>Merupakan</a:t>
            </a:r>
            <a:r>
              <a:rPr sz="1650" b="0" i="0" u="none" dirty="0">
                <a:solidFill>
                  <a:srgbClr val="334155"/>
                </a:solidFill>
                <a:latin typeface="Open Sans"/>
              </a:rPr>
              <a:t> </a:t>
            </a:r>
            <a:r>
              <a:rPr sz="1650" b="0" i="0" u="none" dirty="0" err="1">
                <a:solidFill>
                  <a:srgbClr val="334155"/>
                </a:solidFill>
                <a:latin typeface="Open Sans"/>
              </a:rPr>
              <a:t>standar</a:t>
            </a:r>
            <a:r>
              <a:rPr sz="1650" b="0" i="0" u="none" dirty="0">
                <a:solidFill>
                  <a:srgbClr val="334155"/>
                </a:solidFill>
                <a:latin typeface="Open Sans"/>
              </a:rPr>
              <a:t> </a:t>
            </a:r>
            <a:r>
              <a:rPr sz="1650" b="0" i="0" u="none" dirty="0" err="1">
                <a:solidFill>
                  <a:srgbClr val="334155"/>
                </a:solidFill>
                <a:latin typeface="Open Sans"/>
              </a:rPr>
              <a:t>industri</a:t>
            </a:r>
            <a:r>
              <a:rPr sz="1650" b="0" i="0" u="none" dirty="0">
                <a:solidFill>
                  <a:srgbClr val="334155"/>
                </a:solidFill>
                <a:latin typeface="Open Sans"/>
              </a:rPr>
              <a:t> yang </a:t>
            </a:r>
            <a:r>
              <a:rPr sz="1650" b="0" i="0" u="none" dirty="0" err="1">
                <a:solidFill>
                  <a:srgbClr val="334155"/>
                </a:solidFill>
                <a:latin typeface="Open Sans"/>
              </a:rPr>
              <a:t>kuat</a:t>
            </a:r>
            <a:r>
              <a:rPr sz="1650" b="0" i="0" u="none" dirty="0">
                <a:solidFill>
                  <a:srgbClr val="334155"/>
                </a:solidFill>
                <a:latin typeface="Open Sans"/>
              </a:rPr>
              <a:t> </a:t>
            </a:r>
            <a:r>
              <a:rPr sz="1650" b="0" i="0" u="none" dirty="0" err="1">
                <a:solidFill>
                  <a:srgbClr val="334155"/>
                </a:solidFill>
                <a:latin typeface="Open Sans"/>
              </a:rPr>
              <a:t>untuk</a:t>
            </a:r>
            <a:r>
              <a:rPr sz="1650" b="0" i="0" u="none" dirty="0">
                <a:solidFill>
                  <a:srgbClr val="334155"/>
                </a:solidFill>
                <a:latin typeface="Open Sans"/>
              </a:rPr>
              <a:t> </a:t>
            </a:r>
            <a:r>
              <a:rPr sz="1650" b="0" i="0" u="none" dirty="0" err="1">
                <a:solidFill>
                  <a:srgbClr val="334155"/>
                </a:solidFill>
                <a:latin typeface="Open Sans"/>
              </a:rPr>
              <a:t>membuat</a:t>
            </a:r>
            <a:r>
              <a:rPr sz="1650" b="0" i="0" u="none" dirty="0">
                <a:solidFill>
                  <a:srgbClr val="334155"/>
                </a:solidFill>
                <a:latin typeface="Open Sans"/>
              </a:rPr>
              <a:t> </a:t>
            </a:r>
            <a:r>
              <a:rPr sz="1650" b="0" i="0" u="none" dirty="0" err="1">
                <a:solidFill>
                  <a:srgbClr val="334155"/>
                </a:solidFill>
                <a:latin typeface="Open Sans"/>
              </a:rPr>
              <a:t>aplikasi</a:t>
            </a:r>
            <a:r>
              <a:rPr sz="1650" b="0" i="0" u="none" dirty="0">
                <a:solidFill>
                  <a:srgbClr val="334155"/>
                </a:solidFill>
                <a:latin typeface="Open Sans"/>
              </a:rPr>
              <a:t> </a:t>
            </a:r>
            <a:r>
              <a:rPr sz="1650" b="0" i="1" u="none" dirty="0">
                <a:solidFill>
                  <a:srgbClr val="334155"/>
                </a:solidFill>
                <a:latin typeface="Open Sans"/>
              </a:rPr>
              <a:t>Desktop, Web, </a:t>
            </a:r>
            <a:r>
              <a:rPr sz="1650" b="0" i="1" u="none" dirty="0" err="1">
                <a:solidFill>
                  <a:srgbClr val="334155"/>
                </a:solidFill>
                <a:latin typeface="Open Sans"/>
              </a:rPr>
              <a:t>hingga</a:t>
            </a:r>
            <a:r>
              <a:rPr sz="1650" b="0" i="1" u="none" dirty="0">
                <a:solidFill>
                  <a:srgbClr val="334155"/>
                </a:solidFill>
                <a:latin typeface="Open Sans"/>
              </a:rPr>
              <a:t> Game Engine</a:t>
            </a:r>
            <a:r>
              <a:rPr sz="1650" b="0" i="0" u="none" dirty="0">
                <a:solidFill>
                  <a:srgbClr val="334155"/>
                </a:solidFill>
                <a:latin typeface="Open Sans"/>
              </a:rPr>
              <a:t>.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927389"/>
            <a:ext cx="104775" cy="21907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3788211"/>
            <a:ext cx="104775" cy="21907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4984194"/>
            <a:ext cx="104775" cy="21907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62EC93B9-E030-1335-C4B9-A860EDF5C6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94994" y="1192672"/>
            <a:ext cx="4257675" cy="425767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2527994"/>
            <a:ext cx="12192000" cy="923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000" b="1" i="0" u="none">
                <a:solidFill>
                  <a:srgbClr val="1E40AF"/>
                </a:solidFill>
                <a:latin typeface="Montserrat"/>
              </a:rPr>
              <a:t>Ada Pertanyaan?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3851969"/>
            <a:ext cx="12192000" cy="335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640"/>
              </a:lnSpc>
            </a:pPr>
            <a:r>
              <a:rPr sz="1650" b="0" i="0" u="none">
                <a:solidFill>
                  <a:srgbClr val="334155"/>
                </a:solidFill>
                <a:latin typeface="Open Sans"/>
              </a:rPr>
              <a:t>Persiapkan diri Anda, pertemuan selanjutnya kita akan mulai menulis kode!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489</Words>
  <Application>Microsoft Office PowerPoint</Application>
  <PresentationFormat>Widescreen</PresentationFormat>
  <Paragraphs>39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6" baseType="lpstr">
      <vt:lpstr>Arial</vt:lpstr>
      <vt:lpstr>Calibri</vt:lpstr>
      <vt:lpstr>Montserrat</vt:lpstr>
      <vt:lpstr>Montserrat ExtraBold</vt:lpstr>
      <vt:lpstr>Open Sans</vt:lpstr>
      <vt:lpstr>Open Sans Medium</vt:lpstr>
      <vt:lpstr>Open Sans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ayyub -</cp:lastModifiedBy>
  <cp:revision>2</cp:revision>
  <dcterms:created xsi:type="dcterms:W3CDTF">2013-01-27T09:14:16Z</dcterms:created>
  <dcterms:modified xsi:type="dcterms:W3CDTF">2026-08-24T11:08:45Z</dcterms:modified>
  <cp:category/>
</cp:coreProperties>
</file>