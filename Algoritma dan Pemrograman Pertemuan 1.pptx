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60" r:id="rId6"/>
    <p:sldId id="261" r:id="rId7"/>
    <p:sldId id="262" r:id="rId8"/>
    <p:sldId id="267" r:id="rId9"/>
    <p:sldId id="264" r:id="rId10"/>
    <p:sldId id="265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5371" y="2264664"/>
            <a:ext cx="10061257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sz="5400" b="0" i="0" u="none" dirty="0" err="1">
                <a:solidFill>
                  <a:srgbClr val="FFFFFF"/>
                </a:solidFill>
                <a:latin typeface="Montserrat ExtraBold"/>
              </a:rPr>
              <a:t>Algoritma</a:t>
            </a:r>
            <a:r>
              <a:rPr sz="5400" b="0" i="0" u="none" dirty="0">
                <a:solidFill>
                  <a:srgbClr val="FFFFFF"/>
                </a:solidFill>
                <a:latin typeface="Montserrat ExtraBold"/>
              </a:rPr>
              <a:t> &amp; </a:t>
            </a:r>
            <a:r>
              <a:rPr sz="5400" b="0" i="0" u="none" dirty="0" err="1">
                <a:solidFill>
                  <a:srgbClr val="FFFFFF"/>
                </a:solidFill>
                <a:latin typeface="Montserrat ExtraBold"/>
              </a:rPr>
              <a:t>Pemrograman</a:t>
            </a:r>
            <a:endParaRPr sz="5400" b="0" i="0" u="none" dirty="0">
              <a:solidFill>
                <a:srgbClr val="FFFFFF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33475" y="3582834"/>
            <a:ext cx="992505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sz="2400" b="0" i="0" u="none">
                <a:solidFill>
                  <a:srgbClr val="BFDBFE"/>
                </a:solidFill>
                <a:latin typeface="Open Sans Medium"/>
              </a:rPr>
              <a:t>Pertemuan 1: Pengantar Logika, Algoritma, dan Bahasa Pemrograman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38388" y="6219825"/>
            <a:ext cx="291522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 dirty="0">
                <a:solidFill>
                  <a:srgbClr val="F8FAFC"/>
                </a:solidFill>
                <a:latin typeface="Open Sans SemiBold"/>
              </a:rPr>
              <a:t>Oleh: </a:t>
            </a:r>
            <a:r>
              <a:rPr lang="en-US" sz="1500" dirty="0">
                <a:solidFill>
                  <a:srgbClr val="F8FAFC"/>
                </a:solidFill>
                <a:latin typeface="Open Sans SemiBold"/>
              </a:rPr>
              <a:t>Ayyub, </a:t>
            </a:r>
            <a:r>
              <a:rPr lang="en-US" sz="1500" dirty="0" err="1">
                <a:solidFill>
                  <a:srgbClr val="F8FAFC"/>
                </a:solidFill>
                <a:latin typeface="Open Sans SemiBold"/>
              </a:rPr>
              <a:t>S.Kom</a:t>
            </a:r>
            <a:r>
              <a:rPr lang="en-US" sz="1500" dirty="0">
                <a:solidFill>
                  <a:srgbClr val="F8FAFC"/>
                </a:solidFill>
                <a:latin typeface="Open Sans SemiBold"/>
              </a:rPr>
              <a:t>., </a:t>
            </a:r>
            <a:r>
              <a:rPr lang="en-US" sz="1500" dirty="0" err="1">
                <a:solidFill>
                  <a:srgbClr val="F8FAFC"/>
                </a:solidFill>
                <a:latin typeface="Open Sans SemiBold"/>
              </a:rPr>
              <a:t>M.Kom</a:t>
            </a:r>
            <a:endParaRPr sz="1500" b="0" i="0" u="none" dirty="0">
              <a:solidFill>
                <a:srgbClr val="F8FAFC"/>
              </a:solidFill>
              <a:latin typeface="Open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1962150"/>
            <a:ext cx="5286375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Apa Itu Pemrograman?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786532"/>
            <a:ext cx="52863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Pemrograman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adalah proses menerjemahkan ide dan logika penyelesaian masalah menjadi kumpulan instruksi yang dipahami komputer.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001565"/>
            <a:ext cx="5286375" cy="134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Secara esensial, pemrograman adalah cara kita "berkomunikasi" dengan mesin. Kita memberikan perintah yang terstruktur agar komputer mau menyelesaikan tugas yang kita inginkan.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627959"/>
            <a:ext cx="5286375" cy="138648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1962150"/>
            <a:ext cx="5286375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Apa Itu Logika?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4125" y="1476077"/>
            <a:ext cx="555069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D4ED8"/>
                </a:solidFill>
                <a:latin typeface="Montserrat"/>
              </a:rPr>
              <a:t>Fondasi Sebuah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4125" y="2009477"/>
            <a:ext cx="52863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Logika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adalah kemampuan berpikir secara nalar, rasional, dan sistematis dalam memecahkan suatu masalah (</a:t>
            </a:r>
            <a:r>
              <a:rPr sz="1650" b="0" i="1" u="none">
                <a:solidFill>
                  <a:srgbClr val="334155"/>
                </a:solidFill>
                <a:latin typeface="Open Sans"/>
              </a:rPr>
              <a:t>problem-solving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4125" y="3224510"/>
            <a:ext cx="5286375" cy="1304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Sebelum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menyentuh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1" i="1" u="none" dirty="0">
                <a:solidFill>
                  <a:srgbClr val="334155"/>
                </a:solidFill>
                <a:latin typeface="Open Sans"/>
              </a:rPr>
              <a:t>keyboard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atau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menulis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kode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apa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pun,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seorang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1" i="1" u="none" dirty="0">
                <a:solidFill>
                  <a:srgbClr val="334155"/>
                </a:solidFill>
                <a:latin typeface="Open Sans"/>
              </a:rPr>
              <a:t>programmer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harus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menggunakan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logikanya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terlebih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dahulu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untuk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mengidentifikasi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apa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akar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masalahnya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dan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bagaimana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solusi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terbaiknya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4879182"/>
            <a:ext cx="52863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Tanpa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logika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yang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benar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bahasa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pemrograman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tercanggih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apa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pun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tidak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menghasilkan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program yang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baik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3C1037-37E5-213E-C4BC-54246C4E4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58" y="1941004"/>
            <a:ext cx="486918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13420"/>
            <a:ext cx="4953000" cy="41622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762000"/>
            <a:ext cx="52006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Apa Itu Algoritma?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752600"/>
            <a:ext cx="495300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1E40AF"/>
                </a:solidFill>
                <a:latin typeface="Open Sans SemiBold"/>
              </a:rPr>
              <a:t>Algoritma adalah urutan langkah-langkah logis dan terstruktur untuk menyelesaikan masalah.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7250" y="2994421"/>
            <a:ext cx="4650581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D97706"/>
                </a:solidFill>
                <a:latin typeface="Montserrat"/>
              </a:rPr>
              <a:t>Analogi: Memasak Mi Instan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3451621"/>
            <a:ext cx="4429125" cy="1085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Sebagai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contoh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sederhana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,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mari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kita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bayangkan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langkah-langkah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saat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kita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memasak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mi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instan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. Kita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tidak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mungkin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memasukkan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mi-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nya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terlebih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dahulu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sebelum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merebus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air,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bukan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727971"/>
            <a:ext cx="4429125" cy="12037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400"/>
              </a:lnSpc>
            </a:pPr>
            <a:r>
              <a:rPr sz="1500" b="0" i="0" u="none" dirty="0" err="1">
                <a:solidFill>
                  <a:srgbClr val="1E293B"/>
                </a:solidFill>
                <a:latin typeface="Open Sans SemiBold"/>
              </a:rPr>
              <a:t>Semuanya</a:t>
            </a:r>
            <a:r>
              <a:rPr sz="1500" b="0" i="0" u="none" dirty="0">
                <a:solidFill>
                  <a:srgbClr val="1E293B"/>
                </a:solidFill>
                <a:latin typeface="Open Sans SemiBold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Open Sans SemiBold"/>
              </a:rPr>
              <a:t>harus</a:t>
            </a:r>
            <a:r>
              <a:rPr sz="1500" b="0" i="0" u="none" dirty="0">
                <a:solidFill>
                  <a:srgbClr val="1E293B"/>
                </a:solidFill>
                <a:latin typeface="Open Sans SemiBold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Open Sans SemiBold"/>
              </a:rPr>
              <a:t>berurutan</a:t>
            </a:r>
            <a:r>
              <a:rPr sz="1500" b="0" i="0" u="none" dirty="0">
                <a:solidFill>
                  <a:srgbClr val="1E293B"/>
                </a:solidFill>
                <a:latin typeface="Open Sans SemiBold"/>
              </a:rPr>
              <a:t>: </a:t>
            </a:r>
            <a:r>
              <a:rPr dirty="0"/>
              <a:t>
</a:t>
            </a:r>
            <a:r>
              <a:rPr sz="1500" b="0" i="0" u="none" dirty="0">
                <a:solidFill>
                  <a:srgbClr val="EA580C"/>
                </a:solidFill>
                <a:latin typeface="Open Sans SemiBold"/>
              </a:rPr>
              <a:t>Rebus air → </a:t>
            </a:r>
            <a:r>
              <a:rPr sz="1500" b="0" i="0" u="none" dirty="0" err="1">
                <a:solidFill>
                  <a:srgbClr val="EA580C"/>
                </a:solidFill>
                <a:latin typeface="Open Sans SemiBold"/>
              </a:rPr>
              <a:t>Tunggu</a:t>
            </a:r>
            <a:r>
              <a:rPr sz="1500" b="0" i="0" u="none" dirty="0">
                <a:solidFill>
                  <a:srgbClr val="EA580C"/>
                </a:solidFill>
                <a:latin typeface="Open Sans SemiBold"/>
              </a:rPr>
              <a:t> </a:t>
            </a:r>
            <a:r>
              <a:rPr sz="1500" b="0" i="0" u="none" dirty="0" err="1">
                <a:solidFill>
                  <a:srgbClr val="EA580C"/>
                </a:solidFill>
                <a:latin typeface="Open Sans SemiBold"/>
              </a:rPr>
              <a:t>mendidih</a:t>
            </a:r>
            <a:r>
              <a:rPr sz="1500" b="0" i="0" u="none" dirty="0">
                <a:solidFill>
                  <a:srgbClr val="EA580C"/>
                </a:solidFill>
                <a:latin typeface="Open Sans SemiBold"/>
              </a:rPr>
              <a:t> → Masukkan mi → Tuang </a:t>
            </a:r>
            <a:r>
              <a:rPr sz="1500" b="0" i="0" u="none" dirty="0" err="1">
                <a:solidFill>
                  <a:srgbClr val="EA580C"/>
                </a:solidFill>
                <a:latin typeface="Open Sans SemiBold"/>
              </a:rPr>
              <a:t>bumbu</a:t>
            </a:r>
            <a:r>
              <a:rPr lang="en-US" sz="1500" dirty="0">
                <a:solidFill>
                  <a:srgbClr val="EA580C"/>
                </a:solidFill>
                <a:latin typeface="Open Sans SemiBold"/>
              </a:rPr>
              <a:t> → </a:t>
            </a:r>
            <a:r>
              <a:rPr lang="en-US" sz="1500" dirty="0" err="1">
                <a:solidFill>
                  <a:srgbClr val="EA580C"/>
                </a:solidFill>
                <a:latin typeface="Open Sans SemiBold"/>
              </a:rPr>
              <a:t>Tiriskan</a:t>
            </a:r>
            <a:r>
              <a:rPr lang="en-US" sz="1500" dirty="0">
                <a:solidFill>
                  <a:srgbClr val="EA580C"/>
                </a:solidFill>
                <a:latin typeface="Open Sans SemiBold"/>
              </a:rPr>
              <a:t> Mie dan </a:t>
            </a:r>
            <a:r>
              <a:rPr lang="en-US" sz="1500" dirty="0" err="1">
                <a:solidFill>
                  <a:srgbClr val="EA580C"/>
                </a:solidFill>
                <a:latin typeface="Open Sans SemiBold"/>
              </a:rPr>
              <a:t>aduk</a:t>
            </a:r>
            <a:r>
              <a:rPr lang="en-US" sz="1500" dirty="0">
                <a:solidFill>
                  <a:srgbClr val="EA580C"/>
                </a:solidFill>
                <a:latin typeface="Open Sans SemiBold"/>
              </a:rPr>
              <a:t> </a:t>
            </a:r>
            <a:r>
              <a:rPr lang="en-US" sz="1500" dirty="0" err="1">
                <a:solidFill>
                  <a:srgbClr val="EA580C"/>
                </a:solidFill>
                <a:latin typeface="Open Sans SemiBold"/>
              </a:rPr>
              <a:t>hingga</a:t>
            </a:r>
            <a:r>
              <a:rPr lang="en-US" sz="1500" dirty="0">
                <a:solidFill>
                  <a:srgbClr val="EA580C"/>
                </a:solidFill>
                <a:latin typeface="Open Sans SemiBold"/>
              </a:rPr>
              <a:t> </a:t>
            </a:r>
            <a:r>
              <a:rPr lang="en-US" sz="1500" dirty="0" err="1">
                <a:solidFill>
                  <a:srgbClr val="EA580C"/>
                </a:solidFill>
                <a:latin typeface="Open Sans SemiBold"/>
              </a:rPr>
              <a:t>merata</a:t>
            </a:r>
            <a:r>
              <a:rPr sz="1500" b="0" i="0" u="none" dirty="0">
                <a:solidFill>
                  <a:srgbClr val="EA580C"/>
                </a:solidFill>
                <a:latin typeface="Open Sans SemiBol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49" y="6115164"/>
            <a:ext cx="4429125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Urutan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sistematis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yang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logis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dan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tidak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boleh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terbalik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inilah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yang </a:t>
            </a:r>
            <a:r>
              <a:rPr sz="1425" b="0" i="0" u="none" dirty="0" err="1">
                <a:solidFill>
                  <a:srgbClr val="475569"/>
                </a:solidFill>
                <a:latin typeface="Open Sans"/>
              </a:rPr>
              <a:t>dinamakan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 </a:t>
            </a:r>
            <a:r>
              <a:rPr sz="1425" b="1" i="0" u="none" dirty="0" err="1">
                <a:solidFill>
                  <a:srgbClr val="475569"/>
                </a:solidFill>
                <a:latin typeface="Open Sans"/>
              </a:rPr>
              <a:t>Algoritma</a:t>
            </a:r>
            <a:r>
              <a:rPr sz="1425" b="0" i="0" u="none" dirty="0">
                <a:solidFill>
                  <a:srgbClr val="475569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09129"/>
            <a:ext cx="3492549" cy="4516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609129"/>
            <a:ext cx="3492549" cy="451604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609129"/>
            <a:ext cx="3492549" cy="451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Kesatuan Tiga Serangkai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1952029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97622" y="2952154"/>
            <a:ext cx="124015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1. Logika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3628429"/>
            <a:ext cx="2997249" cy="1675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Pola Pikir.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Di tahap ini, otak kita mengidentifikasi masalah, menalar, dan mencari ide solusi secara abstrak di dalam pikiran.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1952029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0889" y="2952154"/>
            <a:ext cx="177022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2. Algoritma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49" y="3628429"/>
            <a:ext cx="2997249" cy="1675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Desain Solusi.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Ide dari kepala tadi diterjemahkan menjadi urutan langkah (resep) yang konkret dan terstruktur di atas kertas.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1952029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59147" y="2952154"/>
            <a:ext cx="243030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3. Pemrograman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749" y="3628429"/>
            <a:ext cx="2997249" cy="2010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Eksekusi.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Resep langkah-langkah tadi akhirnya diterjemahkan menggunakan bahasa komputer agar mesin bisa benar-benar menjalankannya.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250" y="2161579"/>
            <a:ext cx="342900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0737" y="2161579"/>
            <a:ext cx="39052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59987" y="2161579"/>
            <a:ext cx="428625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47800"/>
            <a:ext cx="3486150" cy="485120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447800"/>
            <a:ext cx="3486150" cy="485120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300" y="1447800"/>
            <a:ext cx="3505200" cy="4851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Tingkatan Bahasa Pemrograman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3575" y="1790700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9449" y="2790825"/>
            <a:ext cx="201025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334155"/>
                </a:solidFill>
                <a:latin typeface="Montserrat"/>
              </a:rPr>
              <a:t>Bahasa Mesin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3467100"/>
            <a:ext cx="2990850" cy="2346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Tingkat paling bawah. Hanya berupa deretan angka biner </a:t>
            </a:r>
            <a:r>
              <a:rPr sz="1650" b="1" i="0" u="none">
                <a:solidFill>
                  <a:srgbClr val="334155"/>
                </a:solidFill>
                <a:latin typeface="Open Sans"/>
              </a:rPr>
              <a:t>(0 dan 1)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. Sangat sulit dibaca oleh manusia, tetapi dapat langsung dimengerti dan dieksekusi oleh </a:t>
            </a:r>
            <a:r>
              <a:rPr sz="1650" b="0" i="1" u="none">
                <a:solidFill>
                  <a:srgbClr val="334155"/>
                </a:solidFill>
                <a:latin typeface="Open Sans"/>
              </a:rPr>
              <a:t>hardware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/CPU.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5475" y="1790700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6315" y="2790825"/>
            <a:ext cx="256032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334155"/>
                </a:solidFill>
                <a:latin typeface="Montserrat"/>
              </a:rPr>
              <a:t>Bahasa Assembly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1050" y="3467100"/>
            <a:ext cx="2990850" cy="2010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Bahasa tingkat rendah. Sudah menggunakan instruksi singkatan berupa kata sandi/mnemonik (seperti ADD, MOV, SUB). Masih cukup sulit untuk dipahami orang awam.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6900" y="1800225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2768" y="2800350"/>
            <a:ext cx="211026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Tingkat Tinggi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475" y="3476625"/>
            <a:ext cx="2990850" cy="2010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Menggunakan sintaks yang </a:t>
            </a:r>
            <a:r>
              <a:rPr sz="1650" b="1" i="0" u="none">
                <a:solidFill>
                  <a:srgbClr val="334155"/>
                </a:solidFill>
                <a:latin typeface="Open Sans"/>
              </a:rPr>
              <a:t>mirip bahasa manusia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(Bahasa Inggris). Sangat mudah dipelajari, dibaca, dan ditulis. Contoh: </a:t>
            </a:r>
            <a:r>
              <a:rPr sz="1650" b="1" i="0" u="none">
                <a:solidFill>
                  <a:srgbClr val="334155"/>
                </a:solidFill>
                <a:latin typeface="Open Sans"/>
              </a:rPr>
              <a:t>C#, PHP, JavaScript, Python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3125" y="2000250"/>
            <a:ext cx="342900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1212" y="2000250"/>
            <a:ext cx="39052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53587" y="2009775"/>
            <a:ext cx="428625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2288083"/>
            <a:ext cx="5286375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Bahasa Pilihan Kita: C#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236726"/>
            <a:ext cx="6387084" cy="9715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>
                <a:solidFill>
                  <a:srgbClr val="334155"/>
                </a:solidFill>
                <a:latin typeface="Open Sans"/>
              </a:rPr>
              <a:t>Pada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mata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kuliah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ini,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kita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mendedikasikan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waktu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untuk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mempelajari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dan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menulis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kode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menggunakan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bahasa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pemrograman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tingkat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tinggi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yaitu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1" i="0" u="none" dirty="0">
                <a:solidFill>
                  <a:srgbClr val="334155"/>
                </a:solidFill>
                <a:latin typeface="Open Sans"/>
              </a:rPr>
              <a:t>C#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(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dibaca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: 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C-Sharp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430303"/>
            <a:ext cx="528637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Mengapa C#?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2908339"/>
            <a:ext cx="5476875" cy="638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Dikembangkan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secara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resmi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dan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didukung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penuh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oleh </a:t>
            </a:r>
            <a:r>
              <a:rPr sz="1650" b="1" i="0" u="none" dirty="0">
                <a:solidFill>
                  <a:srgbClr val="334155"/>
                </a:solidFill>
                <a:latin typeface="Open Sans"/>
              </a:rPr>
              <a:t>Microsoft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3769161"/>
            <a:ext cx="54768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Memiliki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aturan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penulisan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yang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ketat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memaksa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programmer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pemula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untuk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membangun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fondasi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logika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yang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benar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965144"/>
            <a:ext cx="5238750" cy="638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Merupakan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standar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industri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yang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kuat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untuk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membuat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334155"/>
                </a:solidFill>
                <a:latin typeface="Open Sans"/>
              </a:rPr>
              <a:t>aplikasi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Desktop, Web, </a:t>
            </a:r>
            <a:r>
              <a:rPr sz="1650" b="0" i="1" u="none" dirty="0" err="1">
                <a:solidFill>
                  <a:srgbClr val="334155"/>
                </a:solidFill>
                <a:latin typeface="Open Sans"/>
              </a:rPr>
              <a:t>hingga</a:t>
            </a:r>
            <a:r>
              <a:rPr sz="1650" b="0" i="1" u="none" dirty="0">
                <a:solidFill>
                  <a:srgbClr val="334155"/>
                </a:solidFill>
                <a:latin typeface="Open Sans"/>
              </a:rPr>
              <a:t> Game Engine</a:t>
            </a:r>
            <a:r>
              <a:rPr sz="1650" b="0" i="0" u="none" dirty="0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7389"/>
            <a:ext cx="104775" cy="2190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788211"/>
            <a:ext cx="104775" cy="2190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984194"/>
            <a:ext cx="104775" cy="21907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EC93B9-E030-1335-C4B9-A860EDF5C6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4994" y="1192672"/>
            <a:ext cx="4257675" cy="42576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38400"/>
            <a:ext cx="3492549" cy="418087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438400"/>
            <a:ext cx="3492549" cy="418087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438400"/>
            <a:ext cx="3492549" cy="4180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Cara Kerja Bahasa C# (Kompilasi)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447800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Berbeda dengan HTML, C# adalah bahasa yang harus di-</a:t>
            </a:r>
            <a:r>
              <a:rPr sz="1500" b="1" i="0" u="none">
                <a:solidFill>
                  <a:srgbClr val="334155"/>
                </a:solidFill>
                <a:latin typeface="Open Sans"/>
              </a:rPr>
              <a:t>Compile</a:t>
            </a:r>
            <a:r>
              <a:rPr sz="1500" b="0" i="0" u="none">
                <a:solidFill>
                  <a:srgbClr val="334155"/>
                </a:solidFill>
                <a:latin typeface="Open Sans"/>
              </a:rPr>
              <a:t> (diterjemahkan secara utuh) sebelum bisa dijalankan oleh komputer.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2781300"/>
            <a:ext cx="762000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7569" y="3781425"/>
            <a:ext cx="210026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1. 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4457700"/>
            <a:ext cx="2997249" cy="1675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Kalian menulis instruksi menggunakan sintaks C# di Visual Studio (Bahasa Tingkat Tinggi yang mudah dibaca manusia).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2781300"/>
            <a:ext cx="762000" cy="76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0898" y="3781425"/>
            <a:ext cx="163020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2. Compiler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449" y="4457700"/>
            <a:ext cx="2997249" cy="1675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Program khusus yang bertugas menerjemahkan </a:t>
            </a:r>
            <a:r>
              <a:rPr sz="1650" b="0" i="1" u="none">
                <a:solidFill>
                  <a:srgbClr val="334155"/>
                </a:solidFill>
                <a:latin typeface="Open Sans"/>
              </a:rPr>
              <a:t>source code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dan mengecek apakah ada penulisan kode yang salah (Error).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2781300"/>
            <a:ext cx="7620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9198" y="3781425"/>
            <a:ext cx="161020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D4ED8"/>
                </a:solidFill>
                <a:latin typeface="Montserrat"/>
              </a:rPr>
              <a:t>3. Eksekusi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749" y="4457700"/>
            <a:ext cx="2997249" cy="1675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Setelah diterjemahkan menjadi bahasa yang dimengerti mesin, barulah komputer bisa menjalankan aplikasi tersebut.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9112" y="2990850"/>
            <a:ext cx="25717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7" y="2990850"/>
            <a:ext cx="428625" cy="3429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1899" y="2990850"/>
            <a:ext cx="3048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061269"/>
            <a:ext cx="3492549" cy="361161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061269"/>
            <a:ext cx="3492549" cy="36116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061269"/>
            <a:ext cx="3492549" cy="36116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Istilah Fundamental Pemrograman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2413694"/>
            <a:ext cx="1370171" cy="304800"/>
          </a:xfrm>
          <a:prstGeom prst="rect">
            <a:avLst/>
          </a:prstGeom>
          <a:noFill/>
        </p:spPr>
        <p:txBody>
          <a:bodyPr wrap="square" lIns="371475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0F172A"/>
                </a:solidFill>
                <a:latin typeface="Montserrat"/>
              </a:rPr>
              <a:t>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75" y="3032819"/>
            <a:ext cx="2978199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Tindakan atau proses menuliskan instruksi algoritma ke dalam bahasa pemrograman.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675" y="4141440"/>
            <a:ext cx="2978199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8675" y="4446240"/>
            <a:ext cx="2978199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1" u="none">
                <a:solidFill>
                  <a:srgbClr val="475569"/>
                </a:solidFill>
                <a:latin typeface="Open Sans"/>
              </a:rPr>
              <a:t>Contoh: Duduk di depan laptop dan mengetik kode di aplikasi Visual Studio.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6974" y="2413694"/>
            <a:ext cx="1320165" cy="304800"/>
          </a:xfrm>
          <a:prstGeom prst="rect">
            <a:avLst/>
          </a:prstGeom>
          <a:noFill/>
        </p:spPr>
        <p:txBody>
          <a:bodyPr wrap="square" lIns="371475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A16207"/>
                </a:solidFill>
                <a:latin typeface="Montserrat"/>
              </a:rPr>
              <a:t>Syntax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6974" y="3032819"/>
            <a:ext cx="2978199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Aturan tata bahasa pemrograman. Jika melanggar Syntax, program </a:t>
            </a:r>
            <a:r>
              <a:rPr sz="1350" b="1" i="0" u="none">
                <a:solidFill>
                  <a:srgbClr val="334155"/>
                </a:solidFill>
                <a:latin typeface="Open Sans"/>
              </a:rPr>
              <a:t>gagal di-compile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06974" y="4141440"/>
            <a:ext cx="2978199" cy="9525"/>
          </a:xfrm>
          <a:prstGeom prst="rect">
            <a:avLst/>
          </a:prstGeom>
          <a:solidFill>
            <a:srgbClr val="FDE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06974" y="4446240"/>
            <a:ext cx="2978199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1" u="none">
                <a:solidFill>
                  <a:srgbClr val="713F12"/>
                </a:solidFill>
                <a:latin typeface="Open Sans"/>
              </a:rPr>
              <a:t>Contoh: Lupa menaruh tanda titik koma (;) di akhir baris kode C#.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274" y="2413694"/>
            <a:ext cx="1660207" cy="304800"/>
          </a:xfrm>
          <a:prstGeom prst="rect">
            <a:avLst/>
          </a:prstGeom>
          <a:noFill/>
        </p:spPr>
        <p:txBody>
          <a:bodyPr wrap="square" lIns="34290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B91C1C"/>
                </a:solidFill>
                <a:latin typeface="Montserrat"/>
              </a:rPr>
              <a:t>Semantik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274" y="3032819"/>
            <a:ext cx="2978199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Makna atau logika dari kode. Sintaks bisa saja benar, tapi secara logika (semantik) salah.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5274" y="4141440"/>
            <a:ext cx="2978199" cy="9525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85274" y="4446240"/>
            <a:ext cx="2978199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1" u="none">
                <a:solidFill>
                  <a:srgbClr val="7F1D1D"/>
                </a:solidFill>
                <a:latin typeface="Open Sans"/>
              </a:rPr>
              <a:t>Contoh: Niat hati menjumlahkan 2+2, tapi salah ketik 2-2. Program jalan, tapi hasil salah.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75" y="2442269"/>
            <a:ext cx="27622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6974" y="2442269"/>
            <a:ext cx="276225" cy="2476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5274" y="2442269"/>
            <a:ext cx="24765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1688008"/>
            <a:ext cx="5286375" cy="435828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25" y="2945308"/>
            <a:ext cx="4524375" cy="109522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125" y="4231034"/>
            <a:ext cx="4524375" cy="1339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Montserrat"/>
              </a:rPr>
              <a:t>Statement vs Expression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316956"/>
            <a:ext cx="528637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Walaupun sering dianggap sama saat </a:t>
            </a:r>
            <a:r>
              <a:rPr sz="1650" b="0" i="1" u="none">
                <a:solidFill>
                  <a:srgbClr val="334155"/>
                </a:solidFill>
                <a:latin typeface="Open Sans"/>
              </a:rPr>
              <a:t>coding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, keduanya memiliki peran yang berbeda: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15125" y="2164258"/>
            <a:ext cx="452437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700" b="0" i="0" u="none">
                <a:solidFill>
                  <a:srgbClr val="60A5FA"/>
                </a:solidFill>
                <a:latin typeface="monospace"/>
              </a:rPr>
              <a:t>int</a:t>
            </a:r>
            <a:r>
              <a:rPr sz="2700" b="0" i="0" u="none">
                <a:solidFill>
                  <a:srgbClr val="F8FAFC"/>
                </a:solidFill>
                <a:latin typeface="monospace"/>
              </a:rPr>
              <a:t> angka = 4 + 2</a:t>
            </a:r>
            <a:r>
              <a:rPr sz="2700" b="1" i="0" u="none">
                <a:solidFill>
                  <a:srgbClr val="FDE047"/>
                </a:solidFill>
                <a:latin typeface="monospace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3177778"/>
            <a:ext cx="500062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Expression (Ekspresi):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Kombinasi dari angka, variabel, dan operator yang akan dievaluasi dan </a:t>
            </a:r>
            <a:r>
              <a:rPr sz="1650" b="0" i="1" u="none">
                <a:solidFill>
                  <a:srgbClr val="334155"/>
                </a:solidFill>
                <a:latin typeface="Open Sans"/>
              </a:rPr>
              <a:t>menghasilkan sebuah nilai tunggal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421385"/>
            <a:ext cx="5000625" cy="1015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334155"/>
                </a:solidFill>
                <a:latin typeface="Open Sans"/>
              </a:rPr>
              <a:t>Statement (Pernyataan):</a:t>
            </a:r>
            <a:r>
              <a:rPr sz="1650" b="0" i="0" u="none">
                <a:solidFill>
                  <a:srgbClr val="334155"/>
                </a:solidFill>
                <a:latin typeface="Open Sans"/>
              </a:rPr>
              <a:t> Satu instruksi atau kalimat perintah utuh yang melakukan suatu tindakan (di C# selalu diakhiri tanda ;).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6100" y="3088183"/>
            <a:ext cx="42005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472B6"/>
                </a:solidFill>
                <a:latin typeface="Open Sans"/>
              </a:rPr>
              <a:t>Expression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6100" y="3410098"/>
            <a:ext cx="420052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Open Sans"/>
              </a:rPr>
              <a:t>Bagian 4 + 2 adalah expression karena tugasnya dievaluasi untuk menghasilkan satu nilai akhir (yaitu 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6100" y="4373909"/>
            <a:ext cx="42005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DE047"/>
                </a:solidFill>
                <a:latin typeface="Open Sans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100" y="4695825"/>
            <a:ext cx="42005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Open Sans"/>
              </a:rPr>
              <a:t>Seluruh baris secara utuh adalah sebuah Statement (perintah) untuk menyimpan hasil tersebut ke dalam memori.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196828"/>
            <a:ext cx="104775" cy="2190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0435"/>
            <a:ext cx="104775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527994"/>
            <a:ext cx="12192000" cy="923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1E40AF"/>
                </a:solidFill>
                <a:latin typeface="Montserrat"/>
              </a:rPr>
              <a:t>Ada Pertanyaan?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51969"/>
            <a:ext cx="1219200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334155"/>
                </a:solidFill>
                <a:latin typeface="Open Sans"/>
              </a:rPr>
              <a:t>Persiapkan diri Anda, pertemuan selanjutnya kita akan mulai menulis kode!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781</Words>
  <Application>Microsoft Office PowerPoint</Application>
  <PresentationFormat>Widescreen</PresentationFormat>
  <Paragraphs>66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monospace</vt:lpstr>
      <vt:lpstr>Montserrat</vt:lpstr>
      <vt:lpstr>Montserrat ExtraBold</vt:lpstr>
      <vt:lpstr>Open Sans</vt:lpstr>
      <vt:lpstr>Open Sans Medium</vt:lpstr>
      <vt:lpstr>Open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ayyub -</cp:lastModifiedBy>
  <cp:revision>3</cp:revision>
  <dcterms:created xsi:type="dcterms:W3CDTF">2013-01-27T09:14:16Z</dcterms:created>
  <dcterms:modified xsi:type="dcterms:W3CDTF">2026-08-24T11:49:03Z</dcterms:modified>
  <cp:category/>
</cp:coreProperties>
</file>