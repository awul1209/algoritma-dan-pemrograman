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ngenalan" id="{39885D5D-601A-F24B-A8FE-33D63B75483A}">
          <p14:sldIdLst>
            <p14:sldId id="256"/>
            <p14:sldId id="257"/>
            <p14:sldId id="258"/>
            <p14:sldId id="259"/>
            <p14:sldId id="260"/>
          </p14:sldIdLst>
        </p14:section>
        <p14:section name="Array 1 Dimensi" id="{09D6A724-8547-5593-0B30-865B70E7D0F0}">
          <p14:sldIdLst>
            <p14:sldId id="261"/>
            <p14:sldId id="262"/>
            <p14:sldId id="263"/>
          </p14:sldIdLst>
        </p14:section>
        <p14:section name="Menyimpan Data" id="{7D2FA2FA-D629-C64D-4E71-A60E4D955596}">
          <p14:sldIdLst>
            <p14:sldId id="264"/>
            <p14:sldId id="265"/>
            <p14:sldId id="266"/>
            <p14:sldId id="267"/>
            <p14:sldId id="268"/>
          </p14:sldIdLst>
        </p14:section>
        <p14:section name="Memanggil Data" id="{40A9D26A-5452-FC0C-E8AB-721718DA2265}">
          <p14:sldIdLst>
            <p14:sldId id="269"/>
            <p14:sldId id="270"/>
            <p14:sldId id="271"/>
            <p14:sldId id="272"/>
            <p14:sldId id="273"/>
          </p14:sldIdLst>
        </p14:section>
        <p14:section name="Studi Kasus" id="{835F82E1-D093-57C2-237B-6D8EC1DC5573}">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36080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Hari ini kita membahas array pada C#: apa itu array, array satu dimensi, sintaksnya, cara menyimpan data, dan cara memanggilnya kembali.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enam bagian. Kita mulai dari konsep, lalu sintaks, cara menyimpan dan memanggil data, dan ditutup dengan studi kasus program nilai mahasiswa.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Array itu seperti deretan loker. Setiap loker punya nomor, yaitu index, dan semua isinya sejenis. Misalnya semua loker berisi nilai ujian bertipe int.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array, setiap data butuh satu variabel. Kalau datanya 100, kita harus menulis 100 variabel. Dengan array, semua cukup disimpan dalam satu variabel.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ciri utama: tipe datanya sama, ukurannya tetap, index dimulai dari nol, dan setiap elemen diakses lewat index.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Array satu dimensi datanya berjajar dalam satu baris, seperti daftar. Ada lima elemen, jadi Length bernilai 5. Index pertama 0 dan index terakhir Length dikurangi 1, yaitu 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Tanda kurung siku setelah tipe data menandakan array. Cara 1 hanya deklarasi. Cara 2 menentukan ukuran dengan kata kunci new. Cara 3 langsung mengisi nilai, dan ukurannya mengikuti jumlah isi.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array dibuat dengan new tapi belum diisi, C# memberi nilai default. Angka berisi 0, bool berisi false, string berisi null, dan char berisi karakter kosong.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 bagian kedua: bagaimana cara memasukkan data ke dalam array.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 paling dasar: tulis nama array, index di dalam kurung siku, lalu beri nilai. Awalnya isinya 0 semua. Setelah diisi menjadi 80, 75, 90. Isi elemen juga bisa diubah dengan cara yang sama, misalnya index 1 diganti menjadi 100.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datanya banyak, mengisi satu per satu itu melelahkan. Pakai for: variabel i bergerak dari 0 sampai Length dikurangi 1, dan setiap putaran mengisi satu elemen. Tabel di kanan menunjukkan isi array di setiap putaran.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program nyata, data biasanya datang dari user. Pertama kita tanya jumlah datanya, simpan ke n, buat array sebesar n, lalu isi tiap elemen dengan Console.ReadLine di dalam for.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 hanyalah variabel biasa yang menyimpan jumlah data dari user. ReadLine membaca teks, int.Parse mengubahnya jadi angka, lalu hasilnya disimpan ke n. Karena itu new string[n] sama dengan new string[3] kalau user mengetik 3. Nama n bebas, bisa diganti jumlah atau jumlahMahasiswa.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sudah tersimpan. Sekarang bagaimana cara mengambil dan menampilkannya kembali.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Untuk mengambil satu elemen, tulis nama array dan index-nya. buah[0] berisi Apel dan buah[2] berisi Mangga. Ingat, index dimulai dari nol.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Untuk menampilkan semua elemen, pakai perulangan. for memberi kita index i. foreach langsung memberi setiap elemen tanpa index. Kalau cuma ingin mencetak dalam satu baris, string.Join menggabungkan semua elemen dengan pemisah.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praktisnya: kalau butuh index atau ingin mengubah isi array, pakai for. Kalau hanya membaca dan menampilkan, foreach lebih ringkas dan lebih aman dari salah index.</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paling sering pada array. Array berukuran 3 punya index 0, 1, dan 2. Kalau kita mengakses index 3, program berhenti dengan IndexOutOfRangeException. Solusinya: di for gunakan tanda kurang dari Length, bukan kurang dari sama dengan.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 kasus: program nilai mahasiswa. Bagian pertama menyimpan data. Kita baca jumlah mahasiswa, buat dua array, lalu isi nama dan nilai di dalam for. Index yang sama menghubungkan nama dengan nilainya.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kedua memanggil data. Di dalam satu for kita menampilkan setiap mahasiswa, menjumlahkan total, dan mencari nilai tertinggi. Setelah loop selesai, total dibagi n untuk mendapat rata-rata. Total di-cast ke double agar hasil baginya tidak dibulatkan.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hasil saat program dijalankan. Kiri: data yang diketik user. Tengah: isi kedua array, dengan 90 sebagai nilai tertinggi. Kanan: output akhir berupa daftar nilai, total 255, rata-rata 85, dan nilai tertinggi 90.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poin yang perlu diingat: pengertian array, index mulai dari nol, cara membuatnya, cara menyimpan data, dan cara memanggilnya.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Terima kasih. Silakan bertanya kalau ada bagian yang belum jelas.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Gelap">
    <p:bg>
      <p:bgPr>
        <a:solidFill>
          <a:srgbClr val="14122B"/>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rtlCol="0"/>
          <a:lstStyle>
            <a:lvl1pPr marL="0" indent="0" algn="l">
              <a:buNone/>
              <a:defRPr lang="en-US" sz="1200" b="1" kern="0" spc="300" dirty="0">
                <a:solidFill>
                  <a:srgbClr val="A78BFA"/>
                </a:solidFill>
                <a:latin typeface="Segoe UI" pitchFamily="34" charset="0"/>
                <a:ea typeface="Segoe UI" pitchFamily="34" charset="-122"/>
                <a:cs typeface="Segoe UI"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rtlCol="0"/>
          <a:lstStyle>
            <a:lvl1pPr marL="0" indent="0" algn="l">
              <a:buNone/>
              <a:defRPr lang="en-US" sz="3600" dirty="0">
                <a:solidFill>
                  <a:srgbClr val="F6F4FB"/>
                </a:solidFill>
                <a:latin typeface="Segoe UI Semibold" pitchFamily="34" charset="0"/>
                <a:ea typeface="Segoe UI Semibold" pitchFamily="34" charset="-122"/>
                <a:cs typeface="Segoe UI Semibold" pitchFamily="34" charset="-120"/>
              </a:defRPr>
            </a:lvl1pPr>
          </a:lstStyle>
          <a:p>
            <a:pPr marL="0" indent="0" algn="l">
              <a:buNone/>
            </a:pPr>
            <a:endParaRPr lang="en-US" sz="3600" dirty="0"/>
          </a:p>
        </p:txBody>
      </p:sp>
      <p:sp>
        <p:nvSpPr>
          <p:cNvPr id="4" name="Text 0"/>
          <p:cNvSpPr/>
          <p:nvPr/>
        </p:nvSpPr>
        <p:spPr>
          <a:xfrm>
            <a:off x="812800" y="6070600"/>
            <a:ext cx="5080000" cy="254000"/>
          </a:xfrm>
          <a:prstGeom prst="rect">
            <a:avLst/>
          </a:prstGeom>
          <a:noFill/>
          <a:ln/>
        </p:spPr>
        <p:txBody>
          <a:bodyPr wrap="square" lIns="0" tIns="0" rIns="0" bIns="0" rtlCol="0" anchor="ctr"/>
          <a:lstStyle/>
          <a:p>
            <a:pPr marL="0" indent="0">
              <a:buNone/>
            </a:pPr>
            <a:r>
              <a:rPr lang="en-US" sz="1200" dirty="0">
                <a:solidFill>
                  <a:srgbClr val="8A86A8"/>
                </a:solidFill>
                <a:latin typeface="Segoe UI" pitchFamily="34" charset="0"/>
                <a:ea typeface="Segoe UI" pitchFamily="34" charset="-122"/>
                <a:cs typeface="Segoe UI" pitchFamily="34" charset="-120"/>
              </a:rPr>
              <a:t>Array pada C#</a:t>
            </a:r>
            <a:endParaRPr lang="en-US" sz="12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nten Terang">
    <p:bg>
      <p:bgPr>
        <a:solidFill>
          <a:srgbClr val="F6F4FB"/>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rtlCol="0"/>
          <a:lstStyle>
            <a:lvl1pPr marL="0" indent="0" algn="l">
              <a:buNone/>
              <a:defRPr lang="en-US" sz="1200" b="1" kern="0" spc="300" dirty="0">
                <a:solidFill>
                  <a:srgbClr val="6D28D9"/>
                </a:solidFill>
                <a:latin typeface="Segoe UI" pitchFamily="34" charset="0"/>
                <a:ea typeface="Segoe UI" pitchFamily="34" charset="-122"/>
                <a:cs typeface="Segoe UI"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rtlCol="0"/>
          <a:lstStyle>
            <a:lvl1pPr marL="0" indent="0" algn="l">
              <a:buNone/>
              <a:defRPr lang="en-US" sz="3600" dirty="0">
                <a:solidFill>
                  <a:srgbClr val="1B1838"/>
                </a:solidFill>
                <a:latin typeface="Segoe UI Semibold" pitchFamily="34" charset="0"/>
                <a:ea typeface="Segoe UI Semibold" pitchFamily="34" charset="-122"/>
                <a:cs typeface="Segoe UI Semibold" pitchFamily="34" charset="-120"/>
              </a:defRPr>
            </a:lvl1pPr>
          </a:lstStyle>
          <a:p>
            <a:pPr marL="0" indent="0" algn="l">
              <a:buNone/>
            </a:pPr>
            <a:endParaRPr lang="en-US" sz="3600" dirty="0"/>
          </a:p>
        </p:txBody>
      </p:sp>
      <p:sp>
        <p:nvSpPr>
          <p:cNvPr id="4" name="Text 0"/>
          <p:cNvSpPr/>
          <p:nvPr/>
        </p:nvSpPr>
        <p:spPr>
          <a:xfrm>
            <a:off x="812800" y="6070600"/>
            <a:ext cx="5080000" cy="254000"/>
          </a:xfrm>
          <a:prstGeom prst="rect">
            <a:avLst/>
          </a:prstGeom>
          <a:noFill/>
          <a:ln/>
        </p:spPr>
        <p:txBody>
          <a:bodyPr wrap="square" lIns="0" tIns="0" rIns="0" bIns="0" rtlCol="0" anchor="ctr"/>
          <a:lstStyle/>
          <a:p>
            <a:pPr marL="0" indent="0">
              <a:buNone/>
            </a:pPr>
            <a:r>
              <a:rPr lang="en-US" sz="1200" dirty="0">
                <a:solidFill>
                  <a:srgbClr val="6B6789"/>
                </a:solidFill>
                <a:latin typeface="Segoe UI" pitchFamily="34" charset="0"/>
                <a:ea typeface="Segoe UI" pitchFamily="34" charset="-122"/>
                <a:cs typeface="Segoe UI" pitchFamily="34" charset="-120"/>
              </a:rPr>
              <a:t>Array pada C#</a:t>
            </a:r>
            <a:endParaRPr lang="en-US" sz="12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embatas Bagian">
    <p:bg>
      <p:bgPr>
        <a:solidFill>
          <a:srgbClr val="6D28D9"/>
        </a:solidFill>
        <a:effectLst/>
      </p:bgPr>
    </p:bg>
    <p:spTree>
      <p:nvGrpSpPr>
        <p:cNvPr id="1" name=""/>
        <p:cNvGrpSpPr/>
        <p:nvPr/>
      </p:nvGrpSpPr>
      <p:grpSpPr>
        <a:xfrm>
          <a:off x="0" y="0"/>
          <a:ext cx="0" cy="0"/>
          <a:chOff x="0" y="0"/>
          <a:chExt cx="0" cy="0"/>
        </a:xfrm>
      </p:grpSpPr>
      <p:sp>
        <p:nvSpPr>
          <p:cNvPr id="2" name="Shape 0"/>
          <p:cNvSpPr/>
          <p:nvPr/>
        </p:nvSpPr>
        <p:spPr>
          <a:xfrm>
            <a:off x="7493000" y="-1016000"/>
            <a:ext cx="6985000" cy="8890000"/>
          </a:xfrm>
          <a:prstGeom prst="rect">
            <a:avLst/>
          </a:prstGeom>
          <a:solidFill>
            <a:srgbClr val="5B21B6"/>
          </a:solidFill>
          <a:ln/>
        </p:spPr>
      </p:sp>
      <p:sp>
        <p:nvSpPr>
          <p:cNvPr id="3" name="Text 1"/>
          <p:cNvSpPr>
            <a:spLocks noGrp="1"/>
          </p:cNvSpPr>
          <p:nvPr>
            <p:ph type="body" idx="101" hasCustomPrompt="1"/>
          </p:nvPr>
        </p:nvSpPr>
        <p:spPr>
          <a:xfrm>
            <a:off x="812800" y="2019300"/>
            <a:ext cx="6350000" cy="254000"/>
          </a:xfrm>
          <a:prstGeom prst="rect">
            <a:avLst/>
          </a:prstGeom>
          <a:noFill/>
          <a:ln/>
        </p:spPr>
        <p:txBody>
          <a:bodyPr wrap="square" rtlCol="0"/>
          <a:lstStyle>
            <a:lvl1pPr marL="0" indent="0" algn="l">
              <a:buNone/>
              <a:defRPr lang="en-US" sz="1200" b="1" kern="0" spc="400" dirty="0">
                <a:solidFill>
                  <a:srgbClr val="EDE9FE"/>
                </a:solidFill>
                <a:latin typeface="Segoe UI" pitchFamily="34" charset="0"/>
                <a:ea typeface="Segoe UI" pitchFamily="34" charset="-122"/>
                <a:cs typeface="Segoe UI" pitchFamily="34" charset="-120"/>
              </a:defRPr>
            </a:lvl1pPr>
          </a:lstStyle>
          <a:p>
            <a:pPr marL="0" indent="0" algn="l">
              <a:buNone/>
            </a:pPr>
            <a:endParaRPr lang="en-US" sz="1200" dirty="0"/>
          </a:p>
        </p:txBody>
      </p:sp>
      <p:sp>
        <p:nvSpPr>
          <p:cNvPr id="4" name="Text 1"/>
          <p:cNvSpPr>
            <a:spLocks noGrp="1"/>
          </p:cNvSpPr>
          <p:nvPr>
            <p:ph type="title" idx="102" hasCustomPrompt="1"/>
          </p:nvPr>
        </p:nvSpPr>
        <p:spPr>
          <a:xfrm>
            <a:off x="812800" y="2349500"/>
            <a:ext cx="6604000" cy="1905000"/>
          </a:xfrm>
          <a:prstGeom prst="rect">
            <a:avLst/>
          </a:prstGeom>
          <a:noFill/>
          <a:ln/>
        </p:spPr>
        <p:txBody>
          <a:bodyPr wrap="square" rtlCol="0"/>
          <a:lstStyle>
            <a:lvl1pPr marL="0" indent="0" algn="l">
              <a:buNone/>
              <a:defRPr lang="en-US" sz="6000" dirty="0">
                <a:solidFill>
                  <a:srgbClr val="F6F4FB"/>
                </a:solidFill>
                <a:latin typeface="Segoe UI Semibold" pitchFamily="34" charset="0"/>
                <a:ea typeface="Segoe UI Semibold" pitchFamily="34" charset="-122"/>
                <a:cs typeface="Segoe UI Semibold" pitchFamily="34" charset="-120"/>
              </a:defRPr>
            </a:lvl1pPr>
          </a:lstStyle>
          <a:p>
            <a:pPr marL="0" indent="0" algn="l">
              <a:buNone/>
            </a:pPr>
            <a:endParaRPr lang="en-US" sz="6000" dirty="0"/>
          </a:p>
        </p:txBody>
      </p:sp>
      <p:sp>
        <p:nvSpPr>
          <p:cNvPr id="5" name="Text 1"/>
          <p:cNvSpPr>
            <a:spLocks noGrp="1"/>
          </p:cNvSpPr>
          <p:nvPr>
            <p:ph type="body" idx="103" hasCustomPrompt="1"/>
          </p:nvPr>
        </p:nvSpPr>
        <p:spPr>
          <a:xfrm>
            <a:off x="812800" y="4381500"/>
            <a:ext cx="5969000" cy="762000"/>
          </a:xfrm>
          <a:prstGeom prst="rect">
            <a:avLst/>
          </a:prstGeom>
          <a:noFill/>
          <a:ln/>
        </p:spPr>
        <p:txBody>
          <a:bodyPr wrap="square" rtlCol="0"/>
          <a:lstStyle>
            <a:lvl1pPr marL="0" indent="0" algn="l">
              <a:buNone/>
              <a:defRPr lang="en-US" sz="1800" dirty="0">
                <a:solidFill>
                  <a:srgbClr val="EDE9FE"/>
                </a:solidFill>
                <a:latin typeface="Segoe UI" pitchFamily="34" charset="0"/>
                <a:ea typeface="Segoe UI" pitchFamily="34" charset="-122"/>
                <a:cs typeface="Segoe UI" pitchFamily="34" charset="-120"/>
              </a:defRPr>
            </a:lvl1pPr>
          </a:lstStyle>
          <a:p>
            <a:pPr marL="0" indent="0" algn="l">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Judul">
    <p:bg>
      <p:bgPr>
        <a:solidFill>
          <a:srgbClr val="1412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095500"/>
            <a:ext cx="6096000" cy="2095500"/>
          </a:xfrm>
          <a:prstGeom prst="rect">
            <a:avLst/>
          </a:prstGeom>
          <a:noFill/>
          <a:ln/>
        </p:spPr>
        <p:txBody>
          <a:bodyPr wrap="square" rtlCol="0"/>
          <a:lstStyle>
            <a:lvl1pPr marL="0" indent="0" algn="l">
              <a:lnSpc>
                <a:spcPct val="90000"/>
              </a:lnSpc>
              <a:buNone/>
              <a:defRPr lang="en-US" sz="8000" dirty="0">
                <a:solidFill>
                  <a:srgbClr val="F6F4FB"/>
                </a:solidFill>
                <a:latin typeface="Segoe UI Semibold" pitchFamily="34" charset="0"/>
                <a:ea typeface="Segoe UI Semibold" pitchFamily="34" charset="-122"/>
                <a:cs typeface="Segoe UI Semibold" pitchFamily="34" charset="-120"/>
              </a:defRPr>
            </a:lvl1pPr>
          </a:lstStyle>
          <a:p>
            <a:pPr marL="0" indent="0" algn="l">
              <a:lnSpc>
                <a:spcPct val="90000"/>
              </a:lnSpc>
              <a:buNone/>
            </a:pPr>
            <a:endParaRPr lang="en-US" sz="8000" dirty="0"/>
          </a:p>
        </p:txBody>
      </p:sp>
      <p:sp>
        <p:nvSpPr>
          <p:cNvPr id="3" name="Text 0"/>
          <p:cNvSpPr>
            <a:spLocks noGrp="1"/>
          </p:cNvSpPr>
          <p:nvPr>
            <p:ph type="body" idx="101" hasCustomPrompt="1"/>
          </p:nvPr>
        </p:nvSpPr>
        <p:spPr>
          <a:xfrm>
            <a:off x="812800" y="4318000"/>
            <a:ext cx="6350000" cy="698500"/>
          </a:xfrm>
          <a:prstGeom prst="rect">
            <a:avLst/>
          </a:prstGeom>
          <a:noFill/>
          <a:ln/>
        </p:spPr>
        <p:txBody>
          <a:bodyPr wrap="square" rtlCol="0"/>
          <a:lstStyle>
            <a:lvl1pPr marL="0" indent="0" algn="l">
              <a:buNone/>
              <a:defRPr lang="en-US" sz="2000" dirty="0">
                <a:solidFill>
                  <a:srgbClr val="C9C4E0"/>
                </a:solidFill>
                <a:latin typeface="Segoe UI" pitchFamily="34" charset="0"/>
                <a:ea typeface="Segoe UI" pitchFamily="34" charset="-122"/>
                <a:cs typeface="Segoe UI" pitchFamily="34" charset="-120"/>
              </a:defRPr>
            </a:lvl1pPr>
          </a:lstStyle>
          <a:p>
            <a:pPr marL="0" indent="0" algn="l">
              <a:buNone/>
            </a:pPr>
            <a:endParaRPr lang="en-US" sz="2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enutup">
    <p:bg>
      <p:bgPr>
        <a:solidFill>
          <a:srgbClr val="1412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222500"/>
            <a:ext cx="6350000" cy="1270000"/>
          </a:xfrm>
          <a:prstGeom prst="rect">
            <a:avLst/>
          </a:prstGeom>
          <a:noFill/>
          <a:ln/>
        </p:spPr>
        <p:txBody>
          <a:bodyPr wrap="square" rtlCol="0"/>
          <a:lstStyle>
            <a:lvl1pPr marL="0" indent="0" algn="l">
              <a:buNone/>
              <a:defRPr lang="en-US" sz="8000" dirty="0">
                <a:solidFill>
                  <a:srgbClr val="F6F4FB"/>
                </a:solidFill>
                <a:latin typeface="Segoe UI Semibold" pitchFamily="34" charset="0"/>
                <a:ea typeface="Segoe UI Semibold" pitchFamily="34" charset="-122"/>
                <a:cs typeface="Segoe UI Semibold" pitchFamily="34" charset="-120"/>
              </a:defRPr>
            </a:lvl1pPr>
          </a:lstStyle>
          <a:p>
            <a:pPr marL="0" indent="0" algn="l">
              <a:buNone/>
            </a:pPr>
            <a:endParaRPr lang="en-US" sz="8000" dirty="0"/>
          </a:p>
        </p:txBody>
      </p:sp>
      <p:sp>
        <p:nvSpPr>
          <p:cNvPr id="3" name="Text 0"/>
          <p:cNvSpPr>
            <a:spLocks noGrp="1"/>
          </p:cNvSpPr>
          <p:nvPr>
            <p:ph type="body" idx="101" hasCustomPrompt="1"/>
          </p:nvPr>
        </p:nvSpPr>
        <p:spPr>
          <a:xfrm>
            <a:off x="812800" y="3683000"/>
            <a:ext cx="5715000" cy="508000"/>
          </a:xfrm>
          <a:prstGeom prst="rect">
            <a:avLst/>
          </a:prstGeom>
          <a:noFill/>
          <a:ln/>
        </p:spPr>
        <p:txBody>
          <a:bodyPr wrap="square" rtlCol="0"/>
          <a:lstStyle>
            <a:lvl1pPr marL="0" indent="0" algn="l">
              <a:buNone/>
              <a:defRPr lang="en-US" sz="2000" dirty="0">
                <a:solidFill>
                  <a:srgbClr val="C9C4E0"/>
                </a:solidFill>
                <a:latin typeface="Segoe UI" pitchFamily="34" charset="0"/>
                <a:ea typeface="Segoe UI" pitchFamily="34" charset="-122"/>
                <a:cs typeface="Segoe UI" pitchFamily="34" charset="-120"/>
              </a:defRPr>
            </a:lvl1pPr>
          </a:lstStyle>
          <a:p>
            <a:pPr marL="0" indent="0" algn="l">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350000" y="-1651000"/>
            <a:ext cx="7620000" cy="7620000"/>
          </a:xfrm>
          <a:prstGeom prst="ellipse">
            <a:avLst/>
          </a:prstGeom>
          <a:solidFill>
            <a:srgbClr val="2A2160"/>
          </a:solidFill>
          <a:ln/>
        </p:spPr>
      </p:sp>
      <p:sp>
        <p:nvSpPr>
          <p:cNvPr id="3" name="Shape 1"/>
          <p:cNvSpPr/>
          <p:nvPr/>
        </p:nvSpPr>
        <p:spPr>
          <a:xfrm>
            <a:off x="812800" y="1524000"/>
            <a:ext cx="3810000" cy="355600"/>
          </a:xfrm>
          <a:prstGeom prst="roundRect">
            <a:avLst>
              <a:gd name="adj" fmla="val 50000"/>
            </a:avLst>
          </a:prstGeom>
          <a:solidFill>
            <a:srgbClr val="2E2766"/>
          </a:solidFill>
          <a:ln/>
        </p:spPr>
      </p:sp>
      <p:sp>
        <p:nvSpPr>
          <p:cNvPr id="4" name="Text 2"/>
          <p:cNvSpPr txBox="1"/>
          <p:nvPr/>
        </p:nvSpPr>
        <p:spPr>
          <a:xfrm>
            <a:off x="812800" y="1524000"/>
            <a:ext cx="3810000" cy="355600"/>
          </a:xfrm>
          <a:prstGeom prst="rect">
            <a:avLst/>
          </a:prstGeom>
          <a:noFill/>
          <a:ln/>
        </p:spPr>
        <p:txBody>
          <a:bodyPr wrap="square" lIns="0" tIns="0" rIns="0" bIns="0" rtlCol="0" anchor="ctr"/>
          <a:lstStyle/>
          <a:p>
            <a:pPr marL="0" indent="0" algn="ctr">
              <a:buNone/>
            </a:pPr>
            <a:r>
              <a:rPr lang="en-US" sz="1200" b="1" kern="0" spc="300" dirty="0">
                <a:solidFill>
                  <a:srgbClr val="C4B5FD"/>
                </a:solidFill>
                <a:latin typeface="Segoe UI" pitchFamily="34" charset="0"/>
                <a:ea typeface="Segoe UI" pitchFamily="34" charset="-122"/>
                <a:cs typeface="Segoe UI" pitchFamily="34" charset="-120"/>
              </a:rPr>
              <a:t>ALGORITMA DASAR PEMROGRAMAN</a:t>
            </a:r>
            <a:endParaRPr lang="en-US" sz="1200" dirty="0"/>
          </a:p>
        </p:txBody>
      </p:sp>
      <p:sp>
        <p:nvSpPr>
          <p:cNvPr id="5" name="Text 0"/>
          <p:cNvSpPr>
            <a:spLocks noGrp="1"/>
          </p:cNvSpPr>
          <p:nvPr>
            <p:ph type="title" idx="100" hasCustomPrompt="1"/>
          </p:nvPr>
        </p:nvSpPr>
        <p:spPr>
          <a:xfrm>
            <a:off x="812800" y="2095500"/>
            <a:ext cx="6096000" cy="2095500"/>
          </a:xfrm>
          <a:prstGeom prst="rect">
            <a:avLst/>
          </a:prstGeom>
          <a:noFill/>
          <a:ln/>
        </p:spPr>
        <p:txBody>
          <a:bodyPr wrap="square" lIns="0" tIns="0" rIns="0" bIns="0" rtlCol="0" anchor="t"/>
          <a:lstStyle/>
          <a:p>
            <a:pPr marL="0" indent="0" algn="l">
              <a:lnSpc>
                <a:spcPct val="90000"/>
              </a:lnSpc>
              <a:buNone/>
            </a:pPr>
            <a:r>
              <a:rPr lang="en-US" sz="8000" dirty="0">
                <a:solidFill>
                  <a:srgbClr val="F6F4FB"/>
                </a:solidFill>
                <a:latin typeface="Segoe UI Semibold" pitchFamily="34" charset="0"/>
                <a:ea typeface="Segoe UI Semibold" pitchFamily="34" charset="-122"/>
                <a:cs typeface="Segoe UI Semibold" pitchFamily="34" charset="-120"/>
              </a:rPr>
              <a:t>Array</a:t>
            </a:r>
            <a:endParaRPr lang="en-US" sz="8000" dirty="0"/>
          </a:p>
          <a:p>
            <a:pPr marL="0" indent="0" algn="l">
              <a:lnSpc>
                <a:spcPct val="90000"/>
              </a:lnSpc>
              <a:buNone/>
            </a:pPr>
            <a:r>
              <a:rPr lang="en-US" sz="8000" dirty="0">
                <a:solidFill>
                  <a:srgbClr val="F6F4FB"/>
                </a:solidFill>
                <a:latin typeface="Segoe UI Semibold" pitchFamily="34" charset="0"/>
                <a:ea typeface="Segoe UI Semibold" pitchFamily="34" charset="-122"/>
                <a:cs typeface="Segoe UI Semibold" pitchFamily="34" charset="-120"/>
              </a:rPr>
              <a:t>pada </a:t>
            </a:r>
            <a:r>
              <a:rPr lang="en-US" sz="8000" dirty="0">
                <a:solidFill>
                  <a:srgbClr val="A78BFA"/>
                </a:solidFill>
                <a:latin typeface="Segoe UI Semibold" pitchFamily="34" charset="0"/>
                <a:ea typeface="Segoe UI Semibold" pitchFamily="34" charset="-122"/>
                <a:cs typeface="Segoe UI Semibold" pitchFamily="34" charset="-120"/>
              </a:rPr>
              <a:t>C#</a:t>
            </a:r>
            <a:endParaRPr lang="en-US" sz="8000" dirty="0"/>
          </a:p>
        </p:txBody>
      </p:sp>
      <p:sp>
        <p:nvSpPr>
          <p:cNvPr id="6" name="Text 0"/>
          <p:cNvSpPr>
            <a:spLocks noGrp="1"/>
          </p:cNvSpPr>
          <p:nvPr>
            <p:ph type="body" idx="101" hasCustomPrompt="1"/>
          </p:nvPr>
        </p:nvSpPr>
        <p:spPr>
          <a:xfrm>
            <a:off x="812800" y="4318000"/>
            <a:ext cx="6350000" cy="698500"/>
          </a:xfrm>
          <a:prstGeom prst="rect">
            <a:avLst/>
          </a:prstGeom>
          <a:noFill/>
          <a:ln/>
        </p:spPr>
        <p:txBody>
          <a:bodyPr wrap="square" lIns="0" tIns="0" rIns="0" bIns="0" rtlCol="0" anchor="t"/>
          <a:lstStyle/>
          <a:p>
            <a:pPr marL="0" indent="0" algn="l">
              <a:buNone/>
            </a:pPr>
            <a:r>
              <a:rPr lang="en-US" sz="2000" dirty="0">
                <a:solidFill>
                  <a:srgbClr val="C9C4E0"/>
                </a:solidFill>
                <a:latin typeface="Segoe UI" pitchFamily="34" charset="0"/>
                <a:ea typeface="Segoe UI" pitchFamily="34" charset="-122"/>
                <a:cs typeface="Segoe UI" pitchFamily="34" charset="-120"/>
              </a:rPr>
              <a:t>Menyimpan banyak data bertipe sama dalam satu variabel</a:t>
            </a:r>
            <a:endParaRPr lang="en-US" sz="2000" dirty="0"/>
          </a:p>
        </p:txBody>
      </p:sp>
      <p:sp>
        <p:nvSpPr>
          <p:cNvPr id="7" name="Text 5"/>
          <p:cNvSpPr txBox="1"/>
          <p:nvPr/>
        </p:nvSpPr>
        <p:spPr>
          <a:xfrm>
            <a:off x="812800" y="5270500"/>
            <a:ext cx="5080000" cy="254000"/>
          </a:xfrm>
          <a:prstGeom prst="rect">
            <a:avLst/>
          </a:prstGeom>
          <a:noFill/>
          <a:ln/>
        </p:spPr>
        <p:txBody>
          <a:bodyPr wrap="square" lIns="0" tIns="0" rIns="0" bIns="0" rtlCol="0" anchor="t"/>
          <a:lstStyle/>
          <a:p>
            <a:pPr marL="0" indent="0">
              <a:buNone/>
            </a:pPr>
            <a:r>
              <a:rPr lang="en-US" sz="1200" dirty="0">
                <a:solidFill>
                  <a:srgbClr val="8A86A8"/>
                </a:solidFill>
                <a:latin typeface="Segoe UI" pitchFamily="34" charset="0"/>
                <a:ea typeface="Segoe UI" pitchFamily="34" charset="-122"/>
                <a:cs typeface="Segoe UI" pitchFamily="34" charset="-120"/>
              </a:rPr>
              <a:t>[Nama Penyaji]  ·  [Kelas / NIM]</a:t>
            </a:r>
            <a:endParaRPr lang="en-US" sz="1200" dirty="0"/>
          </a:p>
        </p:txBody>
      </p:sp>
      <p:sp>
        <p:nvSpPr>
          <p:cNvPr id="8" name="Kode"/>
          <p:cNvSpPr/>
          <p:nvPr/>
        </p:nvSpPr>
        <p:spPr>
          <a:xfrm>
            <a:off x="7302500" y="2032000"/>
            <a:ext cx="4076700" cy="1016000"/>
          </a:xfrm>
          <a:prstGeom prst="roundRect">
            <a:avLst>
              <a:gd name="adj" fmla="val 12500"/>
            </a:avLst>
          </a:prstGeom>
          <a:solidFill>
            <a:srgbClr val="0E0C1F"/>
          </a:solidFill>
          <a:ln w="12700">
            <a:solidFill>
              <a:srgbClr val="2E2A52"/>
            </a:solidFill>
            <a:prstDash val="solid"/>
          </a:ln>
        </p:spPr>
      </p:sp>
      <p:sp>
        <p:nvSpPr>
          <p:cNvPr id="9" name="Shape 7"/>
          <p:cNvSpPr/>
          <p:nvPr/>
        </p:nvSpPr>
        <p:spPr>
          <a:xfrm>
            <a:off x="7556500" y="2235200"/>
            <a:ext cx="101600" cy="101600"/>
          </a:xfrm>
          <a:prstGeom prst="ellipse">
            <a:avLst/>
          </a:prstGeom>
          <a:solidFill>
            <a:srgbClr val="FF5F57"/>
          </a:solidFill>
          <a:ln/>
        </p:spPr>
      </p:sp>
      <p:sp>
        <p:nvSpPr>
          <p:cNvPr id="10" name="Shape 8"/>
          <p:cNvSpPr/>
          <p:nvPr/>
        </p:nvSpPr>
        <p:spPr>
          <a:xfrm>
            <a:off x="7721600" y="2235200"/>
            <a:ext cx="101600" cy="101600"/>
          </a:xfrm>
          <a:prstGeom prst="ellipse">
            <a:avLst/>
          </a:prstGeom>
          <a:solidFill>
            <a:srgbClr val="FEBC2E"/>
          </a:solidFill>
          <a:ln/>
        </p:spPr>
      </p:sp>
      <p:sp>
        <p:nvSpPr>
          <p:cNvPr id="11" name="Shape 9"/>
          <p:cNvSpPr/>
          <p:nvPr/>
        </p:nvSpPr>
        <p:spPr>
          <a:xfrm>
            <a:off x="7886700" y="2235200"/>
            <a:ext cx="101600" cy="101600"/>
          </a:xfrm>
          <a:prstGeom prst="ellipse">
            <a:avLst/>
          </a:prstGeom>
          <a:solidFill>
            <a:srgbClr val="28C840"/>
          </a:solidFill>
          <a:ln/>
        </p:spPr>
      </p:sp>
      <p:sp>
        <p:nvSpPr>
          <p:cNvPr id="12" name="Text 10"/>
          <p:cNvSpPr txBox="1"/>
          <p:nvPr/>
        </p:nvSpPr>
        <p:spPr>
          <a:xfrm>
            <a:off x="7556500" y="2489200"/>
            <a:ext cx="3568700" cy="406400"/>
          </a:xfrm>
          <a:prstGeom prst="rect">
            <a:avLst/>
          </a:prstGeom>
          <a:noFill/>
          <a:ln/>
        </p:spPr>
        <p:txBody>
          <a:bodyPr wrap="square" lIns="0" tIns="0" rIns="0" bIns="0" rtlCol="0" anchor="t"/>
          <a:lstStyle/>
          <a:p>
            <a:pPr marL="0" indent="0">
              <a:lnSpc>
                <a:spcPct val="125000"/>
              </a:lnSpc>
              <a:buNone/>
            </a:pPr>
            <a:r>
              <a:rPr lang="en-US" sz="1500" dirty="0">
                <a:solidFill>
                  <a:srgbClr val="C792EA"/>
                </a:solidFill>
                <a:latin typeface="Consolas" pitchFamily="34" charset="0"/>
                <a:ea typeface="Consolas" pitchFamily="34" charset="-122"/>
                <a:cs typeface="Consolas" pitchFamily="34" charset="-120"/>
              </a:rPr>
              <a:t>int</a:t>
            </a:r>
            <a:r>
              <a:rPr lang="en-US" sz="1500" dirty="0">
                <a:solidFill>
                  <a:srgbClr val="E6E3F5"/>
                </a:solidFill>
                <a:latin typeface="Consolas" pitchFamily="34" charset="0"/>
                <a:ea typeface="Consolas" pitchFamily="34" charset="-122"/>
                <a:cs typeface="Consolas" pitchFamily="34" charset="-120"/>
              </a:rPr>
              <a:t>[] nilai = { </a:t>
            </a:r>
            <a:r>
              <a:rPr lang="en-US" sz="1500" dirty="0">
                <a:solidFill>
                  <a:srgbClr val="F78C6C"/>
                </a:solidFill>
                <a:latin typeface="Consolas" pitchFamily="34" charset="0"/>
                <a:ea typeface="Consolas" pitchFamily="34" charset="-122"/>
                <a:cs typeface="Consolas" pitchFamily="34" charset="-120"/>
              </a:rPr>
              <a:t>80</a:t>
            </a:r>
            <a:r>
              <a:rPr lang="en-US" sz="1500" dirty="0">
                <a:solidFill>
                  <a:srgbClr val="E6E3F5"/>
                </a:solidFill>
                <a:latin typeface="Consolas" pitchFamily="34" charset="0"/>
                <a:ea typeface="Consolas" pitchFamily="34" charset="-122"/>
                <a:cs typeface="Consolas" pitchFamily="34" charset="-120"/>
              </a:rPr>
              <a:t>, </a:t>
            </a:r>
            <a:r>
              <a:rPr lang="en-US" sz="1500" dirty="0">
                <a:solidFill>
                  <a:srgbClr val="F78C6C"/>
                </a:solidFill>
                <a:latin typeface="Consolas" pitchFamily="34" charset="0"/>
                <a:ea typeface="Consolas" pitchFamily="34" charset="-122"/>
                <a:cs typeface="Consolas" pitchFamily="34" charset="-120"/>
              </a:rPr>
              <a:t>75</a:t>
            </a:r>
            <a:r>
              <a:rPr lang="en-US" sz="1500" dirty="0">
                <a:solidFill>
                  <a:srgbClr val="E6E3F5"/>
                </a:solidFill>
                <a:latin typeface="Consolas" pitchFamily="34" charset="0"/>
                <a:ea typeface="Consolas" pitchFamily="34" charset="-122"/>
                <a:cs typeface="Consolas" pitchFamily="34" charset="-120"/>
              </a:rPr>
              <a:t>, </a:t>
            </a:r>
            <a:r>
              <a:rPr lang="en-US" sz="1500" dirty="0">
                <a:solidFill>
                  <a:srgbClr val="F78C6C"/>
                </a:solidFill>
                <a:latin typeface="Consolas" pitchFamily="34" charset="0"/>
                <a:ea typeface="Consolas" pitchFamily="34" charset="-122"/>
                <a:cs typeface="Consolas" pitchFamily="34" charset="-120"/>
              </a:rPr>
              <a:t>90 </a:t>
            </a:r>
            <a:r>
              <a:rPr lang="en-US" sz="1500" dirty="0">
                <a:solidFill>
                  <a:srgbClr val="E6E3F5"/>
                </a:solidFill>
                <a:latin typeface="Consolas" pitchFamily="34" charset="0"/>
                <a:ea typeface="Consolas" pitchFamily="34" charset="-122"/>
                <a:cs typeface="Consolas" pitchFamily="34" charset="-120"/>
              </a:rPr>
              <a:t>};</a:t>
            </a:r>
            <a:endParaRPr lang="en-US" sz="1500" dirty="0"/>
          </a:p>
        </p:txBody>
      </p:sp>
      <p:sp>
        <p:nvSpPr>
          <p:cNvPr id="13" name="Shape 11"/>
          <p:cNvSpPr/>
          <p:nvPr/>
        </p:nvSpPr>
        <p:spPr>
          <a:xfrm>
            <a:off x="7302500" y="3365500"/>
            <a:ext cx="1181100" cy="825500"/>
          </a:xfrm>
          <a:prstGeom prst="roundRect">
            <a:avLst>
              <a:gd name="adj" fmla="val 12308"/>
            </a:avLst>
          </a:prstGeom>
          <a:solidFill>
            <a:srgbClr val="221E45"/>
          </a:solidFill>
          <a:ln w="25400">
            <a:solidFill>
              <a:srgbClr val="A78BFA"/>
            </a:solidFill>
            <a:prstDash val="solid"/>
          </a:ln>
        </p:spPr>
      </p:sp>
      <p:sp>
        <p:nvSpPr>
          <p:cNvPr id="14" name="Text 12"/>
          <p:cNvSpPr txBox="1"/>
          <p:nvPr/>
        </p:nvSpPr>
        <p:spPr>
          <a:xfrm>
            <a:off x="7302500" y="3365500"/>
            <a:ext cx="1181100" cy="825500"/>
          </a:xfrm>
          <a:prstGeom prst="rect">
            <a:avLst/>
          </a:prstGeom>
          <a:noFill/>
          <a:ln/>
        </p:spPr>
        <p:txBody>
          <a:bodyPr wrap="square" lIns="0" tIns="0" rIns="0" bIns="0" rtlCol="0" anchor="ctr"/>
          <a:lstStyle/>
          <a:p>
            <a:pPr marL="0" indent="0" algn="ctr">
              <a:buNone/>
            </a:pPr>
            <a:r>
              <a:rPr lang="en-US" sz="2800" dirty="0">
                <a:solidFill>
                  <a:srgbClr val="F6F4FB"/>
                </a:solidFill>
                <a:latin typeface="Segoe UI Semibold" pitchFamily="34" charset="0"/>
                <a:ea typeface="Segoe UI Semibold" pitchFamily="34" charset="-122"/>
                <a:cs typeface="Segoe UI Semibold" pitchFamily="34" charset="-120"/>
              </a:rPr>
              <a:t>80</a:t>
            </a:r>
            <a:endParaRPr lang="en-US" sz="2800" dirty="0"/>
          </a:p>
        </p:txBody>
      </p:sp>
      <p:sp>
        <p:nvSpPr>
          <p:cNvPr id="15" name="Text 13"/>
          <p:cNvSpPr txBox="1"/>
          <p:nvPr/>
        </p:nvSpPr>
        <p:spPr>
          <a:xfrm>
            <a:off x="7302500" y="4292600"/>
            <a:ext cx="1181100" cy="228600"/>
          </a:xfrm>
          <a:prstGeom prst="rect">
            <a:avLst/>
          </a:prstGeom>
          <a:noFill/>
          <a:ln/>
        </p:spPr>
        <p:txBody>
          <a:bodyPr wrap="square" lIns="0" tIns="0" rIns="0" bIns="0" rtlCol="0" anchor="t"/>
          <a:lstStyle/>
          <a:p>
            <a:pPr marL="0" indent="0" algn="ctr">
              <a:buNone/>
            </a:pPr>
            <a:r>
              <a:rPr lang="en-US" sz="1200" dirty="0">
                <a:solidFill>
                  <a:srgbClr val="A78BFA"/>
                </a:solidFill>
                <a:latin typeface="Consolas" pitchFamily="34" charset="0"/>
                <a:ea typeface="Consolas" pitchFamily="34" charset="-122"/>
                <a:cs typeface="Consolas" pitchFamily="34" charset="-120"/>
              </a:rPr>
              <a:t>[0]</a:t>
            </a:r>
            <a:endParaRPr lang="en-US" sz="1200" dirty="0"/>
          </a:p>
        </p:txBody>
      </p:sp>
      <p:sp>
        <p:nvSpPr>
          <p:cNvPr id="16" name="Shape 14"/>
          <p:cNvSpPr/>
          <p:nvPr/>
        </p:nvSpPr>
        <p:spPr>
          <a:xfrm>
            <a:off x="8750300" y="3365500"/>
            <a:ext cx="1181100" cy="825500"/>
          </a:xfrm>
          <a:prstGeom prst="roundRect">
            <a:avLst>
              <a:gd name="adj" fmla="val 12308"/>
            </a:avLst>
          </a:prstGeom>
          <a:solidFill>
            <a:srgbClr val="221E45"/>
          </a:solidFill>
          <a:ln w="25400">
            <a:solidFill>
              <a:srgbClr val="3B3570"/>
            </a:solidFill>
            <a:prstDash val="solid"/>
          </a:ln>
        </p:spPr>
      </p:sp>
      <p:sp>
        <p:nvSpPr>
          <p:cNvPr id="17" name="Text 15"/>
          <p:cNvSpPr txBox="1"/>
          <p:nvPr/>
        </p:nvSpPr>
        <p:spPr>
          <a:xfrm>
            <a:off x="8750300" y="3365500"/>
            <a:ext cx="1181100" cy="825500"/>
          </a:xfrm>
          <a:prstGeom prst="rect">
            <a:avLst/>
          </a:prstGeom>
          <a:noFill/>
          <a:ln/>
        </p:spPr>
        <p:txBody>
          <a:bodyPr wrap="square" lIns="0" tIns="0" rIns="0" bIns="0" rtlCol="0" anchor="ctr"/>
          <a:lstStyle/>
          <a:p>
            <a:pPr marL="0" indent="0" algn="ctr">
              <a:buNone/>
            </a:pPr>
            <a:r>
              <a:rPr lang="en-US" sz="2800" dirty="0">
                <a:solidFill>
                  <a:srgbClr val="F6F4FB"/>
                </a:solidFill>
                <a:latin typeface="Segoe UI Semibold" pitchFamily="34" charset="0"/>
                <a:ea typeface="Segoe UI Semibold" pitchFamily="34" charset="-122"/>
                <a:cs typeface="Segoe UI Semibold" pitchFamily="34" charset="-120"/>
              </a:rPr>
              <a:t>75</a:t>
            </a:r>
            <a:endParaRPr lang="en-US" sz="2800" dirty="0"/>
          </a:p>
        </p:txBody>
      </p:sp>
      <p:sp>
        <p:nvSpPr>
          <p:cNvPr id="18" name="Text 16"/>
          <p:cNvSpPr txBox="1"/>
          <p:nvPr/>
        </p:nvSpPr>
        <p:spPr>
          <a:xfrm>
            <a:off x="8750300" y="4292600"/>
            <a:ext cx="1181100" cy="228600"/>
          </a:xfrm>
          <a:prstGeom prst="rect">
            <a:avLst/>
          </a:prstGeom>
          <a:noFill/>
          <a:ln/>
        </p:spPr>
        <p:txBody>
          <a:bodyPr wrap="square" lIns="0" tIns="0" rIns="0" bIns="0" rtlCol="0" anchor="t"/>
          <a:lstStyle/>
          <a:p>
            <a:pPr marL="0" indent="0" algn="ctr">
              <a:buNone/>
            </a:pPr>
            <a:r>
              <a:rPr lang="en-US" sz="1200" dirty="0">
                <a:solidFill>
                  <a:srgbClr val="8A86A8"/>
                </a:solidFill>
                <a:latin typeface="Consolas" pitchFamily="34" charset="0"/>
                <a:ea typeface="Consolas" pitchFamily="34" charset="-122"/>
                <a:cs typeface="Consolas" pitchFamily="34" charset="-120"/>
              </a:rPr>
              <a:t>[1]</a:t>
            </a:r>
            <a:endParaRPr lang="en-US" sz="1200" dirty="0"/>
          </a:p>
        </p:txBody>
      </p:sp>
      <p:sp>
        <p:nvSpPr>
          <p:cNvPr id="19" name="Shape 17"/>
          <p:cNvSpPr/>
          <p:nvPr/>
        </p:nvSpPr>
        <p:spPr>
          <a:xfrm>
            <a:off x="10198100" y="3365500"/>
            <a:ext cx="1181100" cy="825500"/>
          </a:xfrm>
          <a:prstGeom prst="roundRect">
            <a:avLst>
              <a:gd name="adj" fmla="val 12308"/>
            </a:avLst>
          </a:prstGeom>
          <a:solidFill>
            <a:srgbClr val="221E45"/>
          </a:solidFill>
          <a:ln w="25400">
            <a:solidFill>
              <a:srgbClr val="3B3570"/>
            </a:solidFill>
            <a:prstDash val="solid"/>
          </a:ln>
        </p:spPr>
      </p:sp>
      <p:sp>
        <p:nvSpPr>
          <p:cNvPr id="20" name="Text 18"/>
          <p:cNvSpPr txBox="1"/>
          <p:nvPr/>
        </p:nvSpPr>
        <p:spPr>
          <a:xfrm>
            <a:off x="10198100" y="3365500"/>
            <a:ext cx="1181100" cy="825500"/>
          </a:xfrm>
          <a:prstGeom prst="rect">
            <a:avLst/>
          </a:prstGeom>
          <a:noFill/>
          <a:ln/>
        </p:spPr>
        <p:txBody>
          <a:bodyPr wrap="square" lIns="0" tIns="0" rIns="0" bIns="0" rtlCol="0" anchor="ctr"/>
          <a:lstStyle/>
          <a:p>
            <a:pPr marL="0" indent="0" algn="ctr">
              <a:buNone/>
            </a:pPr>
            <a:r>
              <a:rPr lang="en-US" sz="2800" dirty="0">
                <a:solidFill>
                  <a:srgbClr val="F6F4FB"/>
                </a:solidFill>
                <a:latin typeface="Segoe UI Semibold" pitchFamily="34" charset="0"/>
                <a:ea typeface="Segoe UI Semibold" pitchFamily="34" charset="-122"/>
                <a:cs typeface="Segoe UI Semibold" pitchFamily="34" charset="-120"/>
              </a:rPr>
              <a:t>90</a:t>
            </a:r>
            <a:endParaRPr lang="en-US" sz="2800" dirty="0"/>
          </a:p>
        </p:txBody>
      </p:sp>
      <p:sp>
        <p:nvSpPr>
          <p:cNvPr id="21" name="Text 19"/>
          <p:cNvSpPr txBox="1"/>
          <p:nvPr/>
        </p:nvSpPr>
        <p:spPr>
          <a:xfrm>
            <a:off x="10198100" y="4292600"/>
            <a:ext cx="1181100" cy="228600"/>
          </a:xfrm>
          <a:prstGeom prst="rect">
            <a:avLst/>
          </a:prstGeom>
          <a:noFill/>
          <a:ln/>
        </p:spPr>
        <p:txBody>
          <a:bodyPr wrap="square" lIns="0" tIns="0" rIns="0" bIns="0" rtlCol="0" anchor="t"/>
          <a:lstStyle/>
          <a:p>
            <a:pPr marL="0" indent="0" algn="ctr">
              <a:buNone/>
            </a:pPr>
            <a:r>
              <a:rPr lang="en-US" sz="1200" dirty="0">
                <a:solidFill>
                  <a:srgbClr val="8A86A8"/>
                </a:solidFill>
                <a:latin typeface="Consolas" pitchFamily="34" charset="0"/>
                <a:ea typeface="Consolas" pitchFamily="34" charset="-122"/>
                <a:cs typeface="Consolas" pitchFamily="34" charset="-120"/>
              </a:rPr>
              <a:t>[2]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MATERI</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Yang akan kita bahas</a:t>
            </a:r>
            <a:endParaRPr lang="en-US" sz="3600" dirty="0"/>
          </a:p>
        </p:txBody>
      </p:sp>
      <p:sp>
        <p:nvSpPr>
          <p:cNvPr id="4" name="Shape 2"/>
          <p:cNvSpPr/>
          <p:nvPr/>
        </p:nvSpPr>
        <p:spPr>
          <a:xfrm>
            <a:off x="812800" y="1968500"/>
            <a:ext cx="3384550" cy="1524000"/>
          </a:xfrm>
          <a:prstGeom prst="roundRect">
            <a:avLst>
              <a:gd name="adj" fmla="val 8333"/>
            </a:avLst>
          </a:prstGeom>
          <a:solidFill>
            <a:srgbClr val="FDFCFF"/>
          </a:solidFill>
          <a:ln w="12700">
            <a:solidFill>
              <a:srgbClr val="E4E0F0"/>
            </a:solidFill>
            <a:prstDash val="solid"/>
          </a:ln>
        </p:spPr>
      </p:sp>
      <p:sp>
        <p:nvSpPr>
          <p:cNvPr id="5" name="Text 3"/>
          <p:cNvSpPr txBox="1"/>
          <p:nvPr/>
        </p:nvSpPr>
        <p:spPr>
          <a:xfrm>
            <a:off x="1066800" y="2171700"/>
            <a:ext cx="2876550" cy="355600"/>
          </a:xfrm>
          <a:prstGeom prst="rect">
            <a:avLst/>
          </a:prstGeom>
          <a:noFill/>
          <a:ln/>
        </p:spPr>
        <p:txBody>
          <a:bodyPr wrap="square" lIns="0" tIns="0" rIns="0" bIns="0" rtlCol="0" anchor="t"/>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01</a:t>
            </a:r>
            <a:endParaRPr lang="en-US" sz="2200" dirty="0"/>
          </a:p>
        </p:txBody>
      </p:sp>
      <p:sp>
        <p:nvSpPr>
          <p:cNvPr id="6" name="Text 4"/>
          <p:cNvSpPr txBox="1"/>
          <p:nvPr/>
        </p:nvSpPr>
        <p:spPr>
          <a:xfrm>
            <a:off x="1066800" y="2603500"/>
            <a:ext cx="2876550" cy="304800"/>
          </a:xfrm>
          <a:prstGeom prst="rect">
            <a:avLst/>
          </a:prstGeom>
          <a:noFill/>
          <a:ln/>
        </p:spPr>
        <p:txBody>
          <a:bodyPr wrap="square" lIns="0" tIns="0" rIns="0" bIns="0" rtlCol="0" anchor="t"/>
          <a:lstStyle/>
          <a:p>
            <a:pPr marL="0" indent="0">
              <a:buNone/>
            </a:pPr>
            <a:r>
              <a:rPr lang="en-US" sz="1800" dirty="0">
                <a:solidFill>
                  <a:srgbClr val="1B1838"/>
                </a:solidFill>
                <a:latin typeface="Segoe UI Semibold" pitchFamily="34" charset="0"/>
                <a:ea typeface="Segoe UI Semibold" pitchFamily="34" charset="-122"/>
                <a:cs typeface="Segoe UI Semibold" pitchFamily="34" charset="-120"/>
              </a:rPr>
              <a:t>Pengertian Array</a:t>
            </a:r>
            <a:endParaRPr lang="en-US" sz="1800" dirty="0"/>
          </a:p>
        </p:txBody>
      </p:sp>
      <p:sp>
        <p:nvSpPr>
          <p:cNvPr id="7" name="Text 5"/>
          <p:cNvSpPr txBox="1"/>
          <p:nvPr/>
        </p:nvSpPr>
        <p:spPr>
          <a:xfrm>
            <a:off x="1066800" y="2959100"/>
            <a:ext cx="2876550" cy="254000"/>
          </a:xfrm>
          <a:prstGeom prst="rect">
            <a:avLst/>
          </a:prstGeom>
          <a:noFill/>
          <a:ln/>
        </p:spPr>
        <p:txBody>
          <a:bodyPr wrap="square" lIns="0" tIns="0" rIns="0" bIns="0" rtlCol="0" anchor="t"/>
          <a:lstStyle/>
          <a:p>
            <a:pPr marL="0" indent="0">
              <a:buNone/>
            </a:pPr>
            <a:r>
              <a:rPr lang="en-US" sz="1300" dirty="0">
                <a:solidFill>
                  <a:srgbClr val="4A4766"/>
                </a:solidFill>
                <a:latin typeface="Segoe UI" pitchFamily="34" charset="0"/>
                <a:ea typeface="Segoe UI" pitchFamily="34" charset="-122"/>
                <a:cs typeface="Segoe UI" pitchFamily="34" charset="-120"/>
              </a:rPr>
              <a:t>Konsep dan analogi loker</a:t>
            </a:r>
            <a:endParaRPr lang="en-US" sz="1300" dirty="0"/>
          </a:p>
        </p:txBody>
      </p:sp>
      <p:sp>
        <p:nvSpPr>
          <p:cNvPr id="8" name="Shape 6"/>
          <p:cNvSpPr/>
          <p:nvPr/>
        </p:nvSpPr>
        <p:spPr>
          <a:xfrm>
            <a:off x="4400550" y="1968500"/>
            <a:ext cx="3384550" cy="1524000"/>
          </a:xfrm>
          <a:prstGeom prst="roundRect">
            <a:avLst>
              <a:gd name="adj" fmla="val 8333"/>
            </a:avLst>
          </a:prstGeom>
          <a:solidFill>
            <a:srgbClr val="FDFCFF"/>
          </a:solidFill>
          <a:ln w="12700">
            <a:solidFill>
              <a:srgbClr val="E4E0F0"/>
            </a:solidFill>
            <a:prstDash val="solid"/>
          </a:ln>
        </p:spPr>
      </p:sp>
      <p:sp>
        <p:nvSpPr>
          <p:cNvPr id="9" name="Text 7"/>
          <p:cNvSpPr txBox="1"/>
          <p:nvPr/>
        </p:nvSpPr>
        <p:spPr>
          <a:xfrm>
            <a:off x="4654550" y="2171700"/>
            <a:ext cx="2876550" cy="355600"/>
          </a:xfrm>
          <a:prstGeom prst="rect">
            <a:avLst/>
          </a:prstGeom>
          <a:noFill/>
          <a:ln/>
        </p:spPr>
        <p:txBody>
          <a:bodyPr wrap="square" lIns="0" tIns="0" rIns="0" bIns="0" rtlCol="0" anchor="t"/>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02</a:t>
            </a:r>
            <a:endParaRPr lang="en-US" sz="2200" dirty="0"/>
          </a:p>
        </p:txBody>
      </p:sp>
      <p:sp>
        <p:nvSpPr>
          <p:cNvPr id="10" name="Text 8"/>
          <p:cNvSpPr txBox="1"/>
          <p:nvPr/>
        </p:nvSpPr>
        <p:spPr>
          <a:xfrm>
            <a:off x="4654550" y="2603500"/>
            <a:ext cx="2876550" cy="304800"/>
          </a:xfrm>
          <a:prstGeom prst="rect">
            <a:avLst/>
          </a:prstGeom>
          <a:noFill/>
          <a:ln/>
        </p:spPr>
        <p:txBody>
          <a:bodyPr wrap="square" lIns="0" tIns="0" rIns="0" bIns="0" rtlCol="0" anchor="t"/>
          <a:lstStyle/>
          <a:p>
            <a:pPr marL="0" indent="0">
              <a:buNone/>
            </a:pPr>
            <a:r>
              <a:rPr lang="en-US" sz="1800" dirty="0">
                <a:solidFill>
                  <a:srgbClr val="1B1838"/>
                </a:solidFill>
                <a:latin typeface="Segoe UI Semibold" pitchFamily="34" charset="0"/>
                <a:ea typeface="Segoe UI Semibold" pitchFamily="34" charset="-122"/>
                <a:cs typeface="Segoe UI Semibold" pitchFamily="34" charset="-120"/>
              </a:rPr>
              <a:t>Array 1 Dimensi</a:t>
            </a:r>
            <a:endParaRPr lang="en-US" sz="1800" dirty="0"/>
          </a:p>
        </p:txBody>
      </p:sp>
      <p:sp>
        <p:nvSpPr>
          <p:cNvPr id="11" name="Text 9"/>
          <p:cNvSpPr txBox="1"/>
          <p:nvPr/>
        </p:nvSpPr>
        <p:spPr>
          <a:xfrm>
            <a:off x="4654550" y="2959100"/>
            <a:ext cx="2876550" cy="254000"/>
          </a:xfrm>
          <a:prstGeom prst="rect">
            <a:avLst/>
          </a:prstGeom>
          <a:noFill/>
          <a:ln/>
        </p:spPr>
        <p:txBody>
          <a:bodyPr wrap="square" lIns="0" tIns="0" rIns="0" bIns="0" rtlCol="0" anchor="t"/>
          <a:lstStyle/>
          <a:p>
            <a:pPr marL="0" indent="0">
              <a:buNone/>
            </a:pPr>
            <a:r>
              <a:rPr lang="en-US" sz="1300" dirty="0">
                <a:solidFill>
                  <a:srgbClr val="4A4766"/>
                </a:solidFill>
                <a:latin typeface="Segoe UI" pitchFamily="34" charset="0"/>
                <a:ea typeface="Segoe UI" pitchFamily="34" charset="-122"/>
                <a:cs typeface="Segoe UI" pitchFamily="34" charset="-120"/>
              </a:rPr>
              <a:t>Data tersusun satu baris</a:t>
            </a:r>
            <a:endParaRPr lang="en-US" sz="1300" dirty="0"/>
          </a:p>
        </p:txBody>
      </p:sp>
      <p:sp>
        <p:nvSpPr>
          <p:cNvPr id="12" name="Shape 10"/>
          <p:cNvSpPr/>
          <p:nvPr/>
        </p:nvSpPr>
        <p:spPr>
          <a:xfrm>
            <a:off x="7988300" y="1968500"/>
            <a:ext cx="3384550" cy="1524000"/>
          </a:xfrm>
          <a:prstGeom prst="roundRect">
            <a:avLst>
              <a:gd name="adj" fmla="val 8333"/>
            </a:avLst>
          </a:prstGeom>
          <a:solidFill>
            <a:srgbClr val="FDFCFF"/>
          </a:solidFill>
          <a:ln w="12700">
            <a:solidFill>
              <a:srgbClr val="E4E0F0"/>
            </a:solidFill>
            <a:prstDash val="solid"/>
          </a:ln>
        </p:spPr>
      </p:sp>
      <p:sp>
        <p:nvSpPr>
          <p:cNvPr id="13" name="Text 11"/>
          <p:cNvSpPr txBox="1"/>
          <p:nvPr/>
        </p:nvSpPr>
        <p:spPr>
          <a:xfrm>
            <a:off x="8242300" y="2171700"/>
            <a:ext cx="2876550" cy="355600"/>
          </a:xfrm>
          <a:prstGeom prst="rect">
            <a:avLst/>
          </a:prstGeom>
          <a:noFill/>
          <a:ln/>
        </p:spPr>
        <p:txBody>
          <a:bodyPr wrap="square" lIns="0" tIns="0" rIns="0" bIns="0" rtlCol="0" anchor="t"/>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03</a:t>
            </a:r>
            <a:endParaRPr lang="en-US" sz="2200" dirty="0"/>
          </a:p>
        </p:txBody>
      </p:sp>
      <p:sp>
        <p:nvSpPr>
          <p:cNvPr id="14" name="Text 12"/>
          <p:cNvSpPr txBox="1"/>
          <p:nvPr/>
        </p:nvSpPr>
        <p:spPr>
          <a:xfrm>
            <a:off x="8242300" y="2603500"/>
            <a:ext cx="2876550" cy="304800"/>
          </a:xfrm>
          <a:prstGeom prst="rect">
            <a:avLst/>
          </a:prstGeom>
          <a:noFill/>
          <a:ln/>
        </p:spPr>
        <p:txBody>
          <a:bodyPr wrap="square" lIns="0" tIns="0" rIns="0" bIns="0" rtlCol="0" anchor="t"/>
          <a:lstStyle/>
          <a:p>
            <a:pPr marL="0" indent="0">
              <a:buNone/>
            </a:pPr>
            <a:r>
              <a:rPr lang="en-US" sz="1800" dirty="0">
                <a:solidFill>
                  <a:srgbClr val="1B1838"/>
                </a:solidFill>
                <a:latin typeface="Segoe UI Semibold" pitchFamily="34" charset="0"/>
                <a:ea typeface="Segoe UI Semibold" pitchFamily="34" charset="-122"/>
                <a:cs typeface="Segoe UI Semibold" pitchFamily="34" charset="-120"/>
              </a:rPr>
              <a:t>Sintaks Array</a:t>
            </a:r>
            <a:endParaRPr lang="en-US" sz="1800" dirty="0"/>
          </a:p>
        </p:txBody>
      </p:sp>
      <p:sp>
        <p:nvSpPr>
          <p:cNvPr id="15" name="Text 13"/>
          <p:cNvSpPr txBox="1"/>
          <p:nvPr/>
        </p:nvSpPr>
        <p:spPr>
          <a:xfrm>
            <a:off x="8242300" y="2959100"/>
            <a:ext cx="2876550" cy="254000"/>
          </a:xfrm>
          <a:prstGeom prst="rect">
            <a:avLst/>
          </a:prstGeom>
          <a:noFill/>
          <a:ln/>
        </p:spPr>
        <p:txBody>
          <a:bodyPr wrap="square" lIns="0" tIns="0" rIns="0" bIns="0" rtlCol="0" anchor="t"/>
          <a:lstStyle/>
          <a:p>
            <a:pPr marL="0" indent="0">
              <a:buNone/>
            </a:pPr>
            <a:r>
              <a:rPr lang="en-US" sz="1300" dirty="0">
                <a:solidFill>
                  <a:srgbClr val="4A4766"/>
                </a:solidFill>
                <a:latin typeface="Segoe UI" pitchFamily="34" charset="0"/>
                <a:ea typeface="Segoe UI" pitchFamily="34" charset="-122"/>
                <a:cs typeface="Segoe UI" pitchFamily="34" charset="-120"/>
              </a:rPr>
              <a:t>Deklarasi dan inisialisasi</a:t>
            </a:r>
            <a:endParaRPr lang="en-US" sz="1300" dirty="0"/>
          </a:p>
        </p:txBody>
      </p:sp>
      <p:sp>
        <p:nvSpPr>
          <p:cNvPr id="16" name="Shape 14"/>
          <p:cNvSpPr/>
          <p:nvPr/>
        </p:nvSpPr>
        <p:spPr>
          <a:xfrm>
            <a:off x="812800" y="3695700"/>
            <a:ext cx="3384550" cy="1524000"/>
          </a:xfrm>
          <a:prstGeom prst="roundRect">
            <a:avLst>
              <a:gd name="adj" fmla="val 8333"/>
            </a:avLst>
          </a:prstGeom>
          <a:solidFill>
            <a:srgbClr val="FDFCFF"/>
          </a:solidFill>
          <a:ln w="12700">
            <a:solidFill>
              <a:srgbClr val="E4E0F0"/>
            </a:solidFill>
            <a:prstDash val="solid"/>
          </a:ln>
        </p:spPr>
      </p:sp>
      <p:sp>
        <p:nvSpPr>
          <p:cNvPr id="17" name="Text 15"/>
          <p:cNvSpPr txBox="1"/>
          <p:nvPr/>
        </p:nvSpPr>
        <p:spPr>
          <a:xfrm>
            <a:off x="1066800" y="3898900"/>
            <a:ext cx="2876550" cy="355600"/>
          </a:xfrm>
          <a:prstGeom prst="rect">
            <a:avLst/>
          </a:prstGeom>
          <a:noFill/>
          <a:ln/>
        </p:spPr>
        <p:txBody>
          <a:bodyPr wrap="square" lIns="0" tIns="0" rIns="0" bIns="0" rtlCol="0" anchor="t"/>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04</a:t>
            </a:r>
            <a:endParaRPr lang="en-US" sz="2200" dirty="0"/>
          </a:p>
        </p:txBody>
      </p:sp>
      <p:sp>
        <p:nvSpPr>
          <p:cNvPr id="18" name="Text 16"/>
          <p:cNvSpPr txBox="1"/>
          <p:nvPr/>
        </p:nvSpPr>
        <p:spPr>
          <a:xfrm>
            <a:off x="1066800" y="4330700"/>
            <a:ext cx="2876550" cy="304800"/>
          </a:xfrm>
          <a:prstGeom prst="rect">
            <a:avLst/>
          </a:prstGeom>
          <a:noFill/>
          <a:ln/>
        </p:spPr>
        <p:txBody>
          <a:bodyPr wrap="square" lIns="0" tIns="0" rIns="0" bIns="0" rtlCol="0" anchor="t"/>
          <a:lstStyle/>
          <a:p>
            <a:pPr marL="0" indent="0">
              <a:buNone/>
            </a:pPr>
            <a:r>
              <a:rPr lang="en-US" sz="1800" dirty="0">
                <a:solidFill>
                  <a:srgbClr val="1B1838"/>
                </a:solidFill>
                <a:latin typeface="Segoe UI Semibold" pitchFamily="34" charset="0"/>
                <a:ea typeface="Segoe UI Semibold" pitchFamily="34" charset="-122"/>
                <a:cs typeface="Segoe UI Semibold" pitchFamily="34" charset="-120"/>
              </a:rPr>
              <a:t>Menyimpan Data</a:t>
            </a:r>
            <a:endParaRPr lang="en-US" sz="1800" dirty="0"/>
          </a:p>
        </p:txBody>
      </p:sp>
      <p:sp>
        <p:nvSpPr>
          <p:cNvPr id="19" name="Text 17"/>
          <p:cNvSpPr txBox="1"/>
          <p:nvPr/>
        </p:nvSpPr>
        <p:spPr>
          <a:xfrm>
            <a:off x="1066800" y="4686300"/>
            <a:ext cx="2876550" cy="254000"/>
          </a:xfrm>
          <a:prstGeom prst="rect">
            <a:avLst/>
          </a:prstGeom>
          <a:noFill/>
          <a:ln/>
        </p:spPr>
        <p:txBody>
          <a:bodyPr wrap="square" lIns="0" tIns="0" rIns="0" bIns="0" rtlCol="0" anchor="t"/>
          <a:lstStyle/>
          <a:p>
            <a:pPr marL="0" indent="0">
              <a:buNone/>
            </a:pPr>
            <a:r>
              <a:rPr lang="en-US" sz="1300" dirty="0">
                <a:solidFill>
                  <a:srgbClr val="4A4766"/>
                </a:solidFill>
                <a:latin typeface="Segoe UI" pitchFamily="34" charset="0"/>
                <a:ea typeface="Segoe UI" pitchFamily="34" charset="-122"/>
                <a:cs typeface="Segoe UI" pitchFamily="34" charset="-120"/>
              </a:rPr>
              <a:t>Lewat index, for, input user</a:t>
            </a:r>
            <a:endParaRPr lang="en-US" sz="1300" dirty="0"/>
          </a:p>
        </p:txBody>
      </p:sp>
      <p:sp>
        <p:nvSpPr>
          <p:cNvPr id="20" name="Shape 18"/>
          <p:cNvSpPr/>
          <p:nvPr/>
        </p:nvSpPr>
        <p:spPr>
          <a:xfrm>
            <a:off x="4400550" y="3695700"/>
            <a:ext cx="3384550" cy="1524000"/>
          </a:xfrm>
          <a:prstGeom prst="roundRect">
            <a:avLst>
              <a:gd name="adj" fmla="val 8333"/>
            </a:avLst>
          </a:prstGeom>
          <a:solidFill>
            <a:srgbClr val="FDFCFF"/>
          </a:solidFill>
          <a:ln w="12700">
            <a:solidFill>
              <a:srgbClr val="E4E0F0"/>
            </a:solidFill>
            <a:prstDash val="solid"/>
          </a:ln>
        </p:spPr>
      </p:sp>
      <p:sp>
        <p:nvSpPr>
          <p:cNvPr id="21" name="Text 19"/>
          <p:cNvSpPr txBox="1"/>
          <p:nvPr/>
        </p:nvSpPr>
        <p:spPr>
          <a:xfrm>
            <a:off x="4654550" y="3898900"/>
            <a:ext cx="2876550" cy="355600"/>
          </a:xfrm>
          <a:prstGeom prst="rect">
            <a:avLst/>
          </a:prstGeom>
          <a:noFill/>
          <a:ln/>
        </p:spPr>
        <p:txBody>
          <a:bodyPr wrap="square" lIns="0" tIns="0" rIns="0" bIns="0" rtlCol="0" anchor="t"/>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05</a:t>
            </a:r>
            <a:endParaRPr lang="en-US" sz="2200" dirty="0"/>
          </a:p>
        </p:txBody>
      </p:sp>
      <p:sp>
        <p:nvSpPr>
          <p:cNvPr id="22" name="Text 20"/>
          <p:cNvSpPr txBox="1"/>
          <p:nvPr/>
        </p:nvSpPr>
        <p:spPr>
          <a:xfrm>
            <a:off x="4654550" y="4330700"/>
            <a:ext cx="2876550" cy="304800"/>
          </a:xfrm>
          <a:prstGeom prst="rect">
            <a:avLst/>
          </a:prstGeom>
          <a:noFill/>
          <a:ln/>
        </p:spPr>
        <p:txBody>
          <a:bodyPr wrap="square" lIns="0" tIns="0" rIns="0" bIns="0" rtlCol="0" anchor="t"/>
          <a:lstStyle/>
          <a:p>
            <a:pPr marL="0" indent="0">
              <a:buNone/>
            </a:pPr>
            <a:r>
              <a:rPr lang="en-US" sz="1800" dirty="0">
                <a:solidFill>
                  <a:srgbClr val="1B1838"/>
                </a:solidFill>
                <a:latin typeface="Segoe UI Semibold" pitchFamily="34" charset="0"/>
                <a:ea typeface="Segoe UI Semibold" pitchFamily="34" charset="-122"/>
                <a:cs typeface="Segoe UI Semibold" pitchFamily="34" charset="-120"/>
              </a:rPr>
              <a:t>Memanggil Data</a:t>
            </a:r>
            <a:endParaRPr lang="en-US" sz="1800" dirty="0"/>
          </a:p>
        </p:txBody>
      </p:sp>
      <p:sp>
        <p:nvSpPr>
          <p:cNvPr id="23" name="Text 21"/>
          <p:cNvSpPr txBox="1"/>
          <p:nvPr/>
        </p:nvSpPr>
        <p:spPr>
          <a:xfrm>
            <a:off x="4654550" y="4686300"/>
            <a:ext cx="2876550" cy="254000"/>
          </a:xfrm>
          <a:prstGeom prst="rect">
            <a:avLst/>
          </a:prstGeom>
          <a:noFill/>
          <a:ln/>
        </p:spPr>
        <p:txBody>
          <a:bodyPr wrap="square" lIns="0" tIns="0" rIns="0" bIns="0" rtlCol="0" anchor="t"/>
          <a:lstStyle/>
          <a:p>
            <a:pPr marL="0" indent="0">
              <a:buNone/>
            </a:pPr>
            <a:r>
              <a:rPr lang="en-US" sz="1300" dirty="0">
                <a:solidFill>
                  <a:srgbClr val="4A4766"/>
                </a:solidFill>
                <a:latin typeface="Segoe UI" pitchFamily="34" charset="0"/>
                <a:ea typeface="Segoe UI" pitchFamily="34" charset="-122"/>
                <a:cs typeface="Segoe UI" pitchFamily="34" charset="-120"/>
              </a:rPr>
              <a:t>Index, for, foreach, Join</a:t>
            </a:r>
            <a:endParaRPr lang="en-US" sz="1300" dirty="0"/>
          </a:p>
        </p:txBody>
      </p:sp>
      <p:sp>
        <p:nvSpPr>
          <p:cNvPr id="24" name="Shape 22"/>
          <p:cNvSpPr/>
          <p:nvPr/>
        </p:nvSpPr>
        <p:spPr>
          <a:xfrm>
            <a:off x="7988300" y="3695700"/>
            <a:ext cx="3384550" cy="1524000"/>
          </a:xfrm>
          <a:prstGeom prst="roundRect">
            <a:avLst>
              <a:gd name="adj" fmla="val 8333"/>
            </a:avLst>
          </a:prstGeom>
          <a:solidFill>
            <a:srgbClr val="1B1838"/>
          </a:solidFill>
          <a:ln w="12700">
            <a:solidFill>
              <a:srgbClr val="1B1838"/>
            </a:solidFill>
            <a:prstDash val="solid"/>
          </a:ln>
        </p:spPr>
      </p:sp>
      <p:sp>
        <p:nvSpPr>
          <p:cNvPr id="25" name="Text 23"/>
          <p:cNvSpPr txBox="1"/>
          <p:nvPr/>
        </p:nvSpPr>
        <p:spPr>
          <a:xfrm>
            <a:off x="8242300" y="3898900"/>
            <a:ext cx="2876550" cy="355600"/>
          </a:xfrm>
          <a:prstGeom prst="rect">
            <a:avLst/>
          </a:prstGeom>
          <a:noFill/>
          <a:ln/>
        </p:spPr>
        <p:txBody>
          <a:bodyPr wrap="square" lIns="0" tIns="0" rIns="0" bIns="0" rtlCol="0" anchor="t"/>
          <a:lstStyle/>
          <a:p>
            <a:pPr marL="0" indent="0">
              <a:buNone/>
            </a:pPr>
            <a:r>
              <a:rPr lang="en-US" sz="2200" dirty="0">
                <a:solidFill>
                  <a:srgbClr val="A78BFA"/>
                </a:solidFill>
                <a:latin typeface="Segoe UI Semibold" pitchFamily="34" charset="0"/>
                <a:ea typeface="Segoe UI Semibold" pitchFamily="34" charset="-122"/>
                <a:cs typeface="Segoe UI Semibold" pitchFamily="34" charset="-120"/>
              </a:rPr>
              <a:t>06</a:t>
            </a:r>
            <a:endParaRPr lang="en-US" sz="2200" dirty="0"/>
          </a:p>
        </p:txBody>
      </p:sp>
      <p:sp>
        <p:nvSpPr>
          <p:cNvPr id="26" name="Text 24"/>
          <p:cNvSpPr txBox="1"/>
          <p:nvPr/>
        </p:nvSpPr>
        <p:spPr>
          <a:xfrm>
            <a:off x="8242300" y="4330700"/>
            <a:ext cx="2876550" cy="304800"/>
          </a:xfrm>
          <a:prstGeom prst="rect">
            <a:avLst/>
          </a:prstGeom>
          <a:noFill/>
          <a:ln/>
        </p:spPr>
        <p:txBody>
          <a:bodyPr wrap="square" lIns="0" tIns="0" rIns="0" bIns="0" rtlCol="0" anchor="t"/>
          <a:lstStyle/>
          <a:p>
            <a:pPr marL="0" indent="0">
              <a:buNone/>
            </a:pPr>
            <a:r>
              <a:rPr lang="en-US" sz="1800" dirty="0">
                <a:solidFill>
                  <a:srgbClr val="F6F4FB"/>
                </a:solidFill>
                <a:latin typeface="Segoe UI Semibold" pitchFamily="34" charset="0"/>
                <a:ea typeface="Segoe UI Semibold" pitchFamily="34" charset="-122"/>
                <a:cs typeface="Segoe UI Semibold" pitchFamily="34" charset="-120"/>
              </a:rPr>
              <a:t>Studi Kasus</a:t>
            </a:r>
            <a:endParaRPr lang="en-US" sz="1800" dirty="0"/>
          </a:p>
        </p:txBody>
      </p:sp>
      <p:sp>
        <p:nvSpPr>
          <p:cNvPr id="27" name="Text 25"/>
          <p:cNvSpPr txBox="1"/>
          <p:nvPr/>
        </p:nvSpPr>
        <p:spPr>
          <a:xfrm>
            <a:off x="8242300" y="4686300"/>
            <a:ext cx="2876550" cy="254000"/>
          </a:xfrm>
          <a:prstGeom prst="rect">
            <a:avLst/>
          </a:prstGeom>
          <a:noFill/>
          <a:ln/>
        </p:spPr>
        <p:txBody>
          <a:bodyPr wrap="square" lIns="0" tIns="0" rIns="0" bIns="0" rtlCol="0" anchor="t"/>
          <a:lstStyle/>
          <a:p>
            <a:pPr marL="0" indent="0">
              <a:buNone/>
            </a:pPr>
            <a:r>
              <a:rPr lang="en-US" sz="1300" dirty="0">
                <a:solidFill>
                  <a:srgbClr val="C9C4E0"/>
                </a:solidFill>
                <a:latin typeface="Segoe UI" pitchFamily="34" charset="0"/>
                <a:ea typeface="Segoe UI" pitchFamily="34" charset="-122"/>
                <a:cs typeface="Segoe UI" pitchFamily="34" charset="-120"/>
              </a:rPr>
              <a:t>Program nilai mahasiswa</a:t>
            </a:r>
            <a:endParaRPr lang="en-US" sz="1300" dirty="0"/>
          </a:p>
        </p:txBody>
      </p:sp>
      <p:sp>
        <p:nvSpPr>
          <p:cNvPr id="28"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PENGERTIAN</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Apa itu Array?</a:t>
            </a:r>
            <a:endParaRPr lang="en-US" sz="3600" dirty="0"/>
          </a:p>
        </p:txBody>
      </p:sp>
      <p:sp>
        <p:nvSpPr>
          <p:cNvPr id="4" name="Text 2"/>
          <p:cNvSpPr txBox="1"/>
          <p:nvPr/>
        </p:nvSpPr>
        <p:spPr>
          <a:xfrm>
            <a:off x="812800" y="2032000"/>
            <a:ext cx="4978400" cy="1651000"/>
          </a:xfrm>
          <a:prstGeom prst="rect">
            <a:avLst/>
          </a:prstGeom>
          <a:noFill/>
          <a:ln/>
        </p:spPr>
        <p:txBody>
          <a:bodyPr wrap="square" lIns="0" tIns="0" rIns="0" bIns="0" rtlCol="0" anchor="t"/>
          <a:lstStyle/>
          <a:p>
            <a:pPr marL="0" indent="0">
              <a:lnSpc>
                <a:spcPct val="130000"/>
              </a:lnSpc>
              <a:buNone/>
            </a:pPr>
            <a:r>
              <a:rPr lang="en-US" sz="2000" b="1" dirty="0">
                <a:solidFill>
                  <a:srgbClr val="F6F4FB"/>
                </a:solidFill>
                <a:latin typeface="Segoe UI" pitchFamily="34" charset="0"/>
                <a:ea typeface="Segoe UI" pitchFamily="34" charset="-122"/>
                <a:cs typeface="Segoe UI" pitchFamily="34" charset="-120"/>
              </a:rPr>
              <a:t>Array</a:t>
            </a:r>
            <a:r>
              <a:rPr lang="en-US" sz="2000" dirty="0">
                <a:solidFill>
                  <a:srgbClr val="C9C4E0"/>
                </a:solidFill>
                <a:latin typeface="Segoe UI" pitchFamily="34" charset="0"/>
                <a:ea typeface="Segoe UI" pitchFamily="34" charset="-122"/>
                <a:cs typeface="Segoe UI" pitchFamily="34" charset="-120"/>
              </a:rPr>
              <a:t> adalah struktur data untuk menyimpan </a:t>
            </a:r>
            <a:r>
              <a:rPr lang="en-US" sz="2000" b="1" dirty="0">
                <a:solidFill>
                  <a:srgbClr val="C4B5FD"/>
                </a:solidFill>
                <a:latin typeface="Segoe UI" pitchFamily="34" charset="0"/>
                <a:ea typeface="Segoe UI" pitchFamily="34" charset="-122"/>
                <a:cs typeface="Segoe UI" pitchFamily="34" charset="-120"/>
              </a:rPr>
              <a:t>banyak nilai</a:t>
            </a:r>
            <a:r>
              <a:rPr lang="en-US" sz="2000" dirty="0">
                <a:solidFill>
                  <a:srgbClr val="C9C4E0"/>
                </a:solidFill>
                <a:latin typeface="Segoe UI" pitchFamily="34" charset="0"/>
                <a:ea typeface="Segoe UI" pitchFamily="34" charset="-122"/>
                <a:cs typeface="Segoe UI" pitchFamily="34" charset="-120"/>
              </a:rPr>
              <a:t> dengan </a:t>
            </a:r>
            <a:r>
              <a:rPr lang="en-US" sz="2000" b="1" dirty="0">
                <a:solidFill>
                  <a:srgbClr val="C4B5FD"/>
                </a:solidFill>
                <a:latin typeface="Segoe UI" pitchFamily="34" charset="0"/>
                <a:ea typeface="Segoe UI" pitchFamily="34" charset="-122"/>
                <a:cs typeface="Segoe UI" pitchFamily="34" charset="-120"/>
              </a:rPr>
              <a:t>tipe data yang sama</a:t>
            </a:r>
            <a:r>
              <a:rPr lang="en-US" sz="2000" dirty="0">
                <a:solidFill>
                  <a:srgbClr val="C9C4E0"/>
                </a:solidFill>
                <a:latin typeface="Segoe UI" pitchFamily="34" charset="0"/>
                <a:ea typeface="Segoe UI" pitchFamily="34" charset="-122"/>
                <a:cs typeface="Segoe UI" pitchFamily="34" charset="-120"/>
              </a:rPr>
              <a:t> dalam </a:t>
            </a:r>
            <a:r>
              <a:rPr lang="en-US" sz="2000" b="1" dirty="0">
                <a:solidFill>
                  <a:srgbClr val="C4B5FD"/>
                </a:solidFill>
                <a:latin typeface="Segoe UI" pitchFamily="34" charset="0"/>
                <a:ea typeface="Segoe UI" pitchFamily="34" charset="-122"/>
                <a:cs typeface="Segoe UI" pitchFamily="34" charset="-120"/>
              </a:rPr>
              <a:t>satu variabel</a:t>
            </a:r>
            <a:r>
              <a:rPr lang="en-US" sz="2000" dirty="0">
                <a:solidFill>
                  <a:srgbClr val="C9C4E0"/>
                </a:solidFill>
                <a:latin typeface="Segoe UI" pitchFamily="34" charset="0"/>
                <a:ea typeface="Segoe UI" pitchFamily="34" charset="-122"/>
                <a:cs typeface="Segoe UI" pitchFamily="34" charset="-120"/>
              </a:rPr>
              <a:t>.</a:t>
            </a:r>
            <a:endParaRPr lang="en-US" sz="2000" dirty="0"/>
          </a:p>
        </p:txBody>
      </p:sp>
      <p:sp>
        <p:nvSpPr>
          <p:cNvPr id="5" name="Kode"/>
          <p:cNvSpPr/>
          <p:nvPr/>
        </p:nvSpPr>
        <p:spPr>
          <a:xfrm>
            <a:off x="812800" y="3937000"/>
            <a:ext cx="4978400" cy="698500"/>
          </a:xfrm>
          <a:prstGeom prst="roundRect">
            <a:avLst>
              <a:gd name="adj" fmla="val 18182"/>
            </a:avLst>
          </a:prstGeom>
          <a:solidFill>
            <a:srgbClr val="0E0C1F"/>
          </a:solidFill>
          <a:ln w="12700">
            <a:solidFill>
              <a:srgbClr val="2E2A52"/>
            </a:solidFill>
            <a:prstDash val="solid"/>
          </a:ln>
        </p:spPr>
      </p:sp>
      <p:sp>
        <p:nvSpPr>
          <p:cNvPr id="6" name="Text 4"/>
          <p:cNvSpPr txBox="1"/>
          <p:nvPr/>
        </p:nvSpPr>
        <p:spPr>
          <a:xfrm>
            <a:off x="1066800" y="4089400"/>
            <a:ext cx="4470400" cy="393700"/>
          </a:xfrm>
          <a:prstGeom prst="rect">
            <a:avLst/>
          </a:prstGeom>
          <a:noFill/>
          <a:ln/>
        </p:spPr>
        <p:txBody>
          <a:bodyPr wrap="square" lIns="0" tIns="0" rIns="0" bIns="0" rtlCol="0" anchor="ctr"/>
          <a:lstStyle/>
          <a:p>
            <a:pPr marL="0" indent="0">
              <a:lnSpc>
                <a:spcPct val="125000"/>
              </a:lnSpc>
              <a:buNone/>
            </a:pPr>
            <a:r>
              <a:rPr lang="en-US" sz="1400" dirty="0">
                <a:solidFill>
                  <a:srgbClr val="C792EA"/>
                </a:solidFill>
                <a:latin typeface="Consolas" pitchFamily="34" charset="0"/>
                <a:ea typeface="Consolas" pitchFamily="34" charset="-122"/>
                <a:cs typeface="Consolas" pitchFamily="34" charset="-120"/>
              </a:rPr>
              <a:t>int</a:t>
            </a:r>
            <a:r>
              <a:rPr lang="en-US" sz="1400" dirty="0">
                <a:solidFill>
                  <a:srgbClr val="E6E3F5"/>
                </a:solidFill>
                <a:latin typeface="Consolas" pitchFamily="34" charset="0"/>
                <a:ea typeface="Consolas" pitchFamily="34" charset="-122"/>
                <a:cs typeface="Consolas" pitchFamily="34" charset="-120"/>
              </a:rPr>
              <a:t>[] nilai = { </a:t>
            </a:r>
            <a:r>
              <a:rPr lang="en-US" sz="1400" dirty="0">
                <a:solidFill>
                  <a:srgbClr val="F78C6C"/>
                </a:solidFill>
                <a:latin typeface="Consolas" pitchFamily="34" charset="0"/>
                <a:ea typeface="Consolas" pitchFamily="34" charset="-122"/>
                <a:cs typeface="Consolas" pitchFamily="34" charset="-120"/>
              </a:rPr>
              <a:t>80</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78C6C"/>
                </a:solidFill>
                <a:latin typeface="Consolas" pitchFamily="34" charset="0"/>
                <a:ea typeface="Consolas" pitchFamily="34" charset="-122"/>
                <a:cs typeface="Consolas" pitchFamily="34" charset="-120"/>
              </a:rPr>
              <a:t>75</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78C6C"/>
                </a:solidFill>
                <a:latin typeface="Consolas" pitchFamily="34" charset="0"/>
                <a:ea typeface="Consolas" pitchFamily="34" charset="-122"/>
                <a:cs typeface="Consolas" pitchFamily="34" charset="-120"/>
              </a:rPr>
              <a:t>90</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78C6C"/>
                </a:solidFill>
                <a:latin typeface="Consolas" pitchFamily="34" charset="0"/>
                <a:ea typeface="Consolas" pitchFamily="34" charset="-122"/>
                <a:cs typeface="Consolas" pitchFamily="34" charset="-120"/>
              </a:rPr>
              <a:t>85</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78C6C"/>
                </a:solidFill>
                <a:latin typeface="Consolas" pitchFamily="34" charset="0"/>
                <a:ea typeface="Consolas" pitchFamily="34" charset="-122"/>
                <a:cs typeface="Consolas" pitchFamily="34" charset="-120"/>
              </a:rPr>
              <a:t>70 </a:t>
            </a:r>
            <a:r>
              <a:rPr lang="en-US" sz="1400" dirty="0">
                <a:solidFill>
                  <a:srgbClr val="E6E3F5"/>
                </a:solidFill>
                <a:latin typeface="Consolas" pitchFamily="34" charset="0"/>
                <a:ea typeface="Consolas" pitchFamily="34" charset="-122"/>
                <a:cs typeface="Consolas" pitchFamily="34" charset="-120"/>
              </a:rPr>
              <a:t>};</a:t>
            </a:r>
            <a:endParaRPr lang="en-US" sz="1400" dirty="0"/>
          </a:p>
        </p:txBody>
      </p:sp>
      <p:sp>
        <p:nvSpPr>
          <p:cNvPr id="7" name="Shape 5"/>
          <p:cNvSpPr/>
          <p:nvPr/>
        </p:nvSpPr>
        <p:spPr>
          <a:xfrm>
            <a:off x="6400800" y="2032000"/>
            <a:ext cx="762000" cy="1905000"/>
          </a:xfrm>
          <a:prstGeom prst="roundRect">
            <a:avLst>
              <a:gd name="adj" fmla="val 11667"/>
            </a:avLst>
          </a:prstGeom>
          <a:solidFill>
            <a:srgbClr val="221E45"/>
          </a:solidFill>
          <a:ln w="25400">
            <a:solidFill>
              <a:srgbClr val="A78BFA"/>
            </a:solidFill>
            <a:prstDash val="solid"/>
          </a:ln>
        </p:spPr>
      </p:sp>
      <p:sp>
        <p:nvSpPr>
          <p:cNvPr id="8" name="Text 6"/>
          <p:cNvSpPr txBox="1"/>
          <p:nvPr/>
        </p:nvSpPr>
        <p:spPr>
          <a:xfrm>
            <a:off x="6400800" y="2159000"/>
            <a:ext cx="762000" cy="279400"/>
          </a:xfrm>
          <a:prstGeom prst="rect">
            <a:avLst/>
          </a:prstGeom>
          <a:noFill/>
          <a:ln/>
        </p:spPr>
        <p:txBody>
          <a:bodyPr wrap="square" lIns="0" tIns="0" rIns="0" bIns="0" rtlCol="0" anchor="t"/>
          <a:lstStyle/>
          <a:p>
            <a:pPr marL="0" indent="0" algn="ctr">
              <a:buNone/>
            </a:pPr>
            <a:r>
              <a:rPr lang="en-US" sz="1600" b="1" dirty="0">
                <a:solidFill>
                  <a:srgbClr val="A78BFA"/>
                </a:solidFill>
                <a:latin typeface="Consolas" pitchFamily="34" charset="0"/>
                <a:ea typeface="Consolas" pitchFamily="34" charset="-122"/>
                <a:cs typeface="Consolas" pitchFamily="34" charset="-120"/>
              </a:rPr>
              <a:t>0</a:t>
            </a:r>
            <a:endParaRPr lang="en-US" sz="1600" dirty="0"/>
          </a:p>
        </p:txBody>
      </p:sp>
      <p:sp>
        <p:nvSpPr>
          <p:cNvPr id="9" name="Shape 7"/>
          <p:cNvSpPr/>
          <p:nvPr/>
        </p:nvSpPr>
        <p:spPr>
          <a:xfrm>
            <a:off x="6654800" y="2952750"/>
            <a:ext cx="254000" cy="63500"/>
          </a:xfrm>
          <a:prstGeom prst="roundRect">
            <a:avLst>
              <a:gd name="adj" fmla="val 50000"/>
            </a:avLst>
          </a:prstGeom>
          <a:solidFill>
            <a:srgbClr val="A78BFA"/>
          </a:solidFill>
          <a:ln/>
        </p:spPr>
      </p:sp>
      <p:sp>
        <p:nvSpPr>
          <p:cNvPr id="10" name="Text 8"/>
          <p:cNvSpPr txBox="1"/>
          <p:nvPr/>
        </p:nvSpPr>
        <p:spPr>
          <a:xfrm>
            <a:off x="6400800" y="3530600"/>
            <a:ext cx="762000" cy="254000"/>
          </a:xfrm>
          <a:prstGeom prst="rect">
            <a:avLst/>
          </a:prstGeom>
          <a:noFill/>
          <a:ln/>
        </p:spPr>
        <p:txBody>
          <a:bodyPr wrap="square" lIns="0" tIns="0" rIns="0" bIns="0" rtlCol="0" anchor="t"/>
          <a:lstStyle/>
          <a:p>
            <a:pPr marL="0" indent="0" algn="ctr">
              <a:buNone/>
            </a:pPr>
            <a:r>
              <a:rPr lang="en-US" sz="1300" dirty="0">
                <a:solidFill>
                  <a:srgbClr val="8A86A8"/>
                </a:solidFill>
                <a:latin typeface="Segoe UI" pitchFamily="34" charset="0"/>
                <a:ea typeface="Segoe UI" pitchFamily="34" charset="-122"/>
                <a:cs typeface="Segoe UI" pitchFamily="34" charset="-120"/>
              </a:rPr>
              <a:t>80</a:t>
            </a:r>
            <a:endParaRPr lang="en-US" sz="1300" dirty="0"/>
          </a:p>
        </p:txBody>
      </p:sp>
      <p:sp>
        <p:nvSpPr>
          <p:cNvPr id="11" name="Shape 9"/>
          <p:cNvSpPr/>
          <p:nvPr/>
        </p:nvSpPr>
        <p:spPr>
          <a:xfrm>
            <a:off x="7315200" y="2032000"/>
            <a:ext cx="762000" cy="1905000"/>
          </a:xfrm>
          <a:prstGeom prst="roundRect">
            <a:avLst>
              <a:gd name="adj" fmla="val 11667"/>
            </a:avLst>
          </a:prstGeom>
          <a:solidFill>
            <a:srgbClr val="221E45"/>
          </a:solidFill>
          <a:ln w="25400">
            <a:solidFill>
              <a:srgbClr val="3B3570"/>
            </a:solidFill>
            <a:prstDash val="solid"/>
          </a:ln>
        </p:spPr>
      </p:sp>
      <p:sp>
        <p:nvSpPr>
          <p:cNvPr id="12" name="Text 10"/>
          <p:cNvSpPr txBox="1"/>
          <p:nvPr/>
        </p:nvSpPr>
        <p:spPr>
          <a:xfrm>
            <a:off x="7315200" y="2159000"/>
            <a:ext cx="762000" cy="279400"/>
          </a:xfrm>
          <a:prstGeom prst="rect">
            <a:avLst/>
          </a:prstGeom>
          <a:noFill/>
          <a:ln/>
        </p:spPr>
        <p:txBody>
          <a:bodyPr wrap="square" lIns="0" tIns="0" rIns="0" bIns="0" rtlCol="0" anchor="t"/>
          <a:lstStyle/>
          <a:p>
            <a:pPr marL="0" indent="0" algn="ctr">
              <a:buNone/>
            </a:pPr>
            <a:r>
              <a:rPr lang="en-US" sz="1600" b="1" dirty="0">
                <a:solidFill>
                  <a:srgbClr val="C9C4E0"/>
                </a:solidFill>
                <a:latin typeface="Consolas" pitchFamily="34" charset="0"/>
                <a:ea typeface="Consolas" pitchFamily="34" charset="-122"/>
                <a:cs typeface="Consolas" pitchFamily="34" charset="-120"/>
              </a:rPr>
              <a:t>1</a:t>
            </a:r>
            <a:endParaRPr lang="en-US" sz="1600" dirty="0"/>
          </a:p>
        </p:txBody>
      </p:sp>
      <p:sp>
        <p:nvSpPr>
          <p:cNvPr id="13" name="Shape 11"/>
          <p:cNvSpPr/>
          <p:nvPr/>
        </p:nvSpPr>
        <p:spPr>
          <a:xfrm>
            <a:off x="7569200" y="2952750"/>
            <a:ext cx="254000" cy="63500"/>
          </a:xfrm>
          <a:prstGeom prst="roundRect">
            <a:avLst>
              <a:gd name="adj" fmla="val 50000"/>
            </a:avLst>
          </a:prstGeom>
          <a:solidFill>
            <a:srgbClr val="5A5390"/>
          </a:solidFill>
          <a:ln/>
        </p:spPr>
      </p:sp>
      <p:sp>
        <p:nvSpPr>
          <p:cNvPr id="14" name="Text 12"/>
          <p:cNvSpPr txBox="1"/>
          <p:nvPr/>
        </p:nvSpPr>
        <p:spPr>
          <a:xfrm>
            <a:off x="7315200" y="3530600"/>
            <a:ext cx="762000" cy="254000"/>
          </a:xfrm>
          <a:prstGeom prst="rect">
            <a:avLst/>
          </a:prstGeom>
          <a:noFill/>
          <a:ln/>
        </p:spPr>
        <p:txBody>
          <a:bodyPr wrap="square" lIns="0" tIns="0" rIns="0" bIns="0" rtlCol="0" anchor="t"/>
          <a:lstStyle/>
          <a:p>
            <a:pPr marL="0" indent="0" algn="ctr">
              <a:buNone/>
            </a:pPr>
            <a:r>
              <a:rPr lang="en-US" sz="1300" dirty="0">
                <a:solidFill>
                  <a:srgbClr val="8A86A8"/>
                </a:solidFill>
                <a:latin typeface="Segoe UI" pitchFamily="34" charset="0"/>
                <a:ea typeface="Segoe UI" pitchFamily="34" charset="-122"/>
                <a:cs typeface="Segoe UI" pitchFamily="34" charset="-120"/>
              </a:rPr>
              <a:t>75</a:t>
            </a:r>
            <a:endParaRPr lang="en-US" sz="1300" dirty="0"/>
          </a:p>
        </p:txBody>
      </p:sp>
      <p:sp>
        <p:nvSpPr>
          <p:cNvPr id="15" name="Shape 13"/>
          <p:cNvSpPr/>
          <p:nvPr/>
        </p:nvSpPr>
        <p:spPr>
          <a:xfrm>
            <a:off x="8229600" y="2032000"/>
            <a:ext cx="762000" cy="1905000"/>
          </a:xfrm>
          <a:prstGeom prst="roundRect">
            <a:avLst>
              <a:gd name="adj" fmla="val 11667"/>
            </a:avLst>
          </a:prstGeom>
          <a:solidFill>
            <a:srgbClr val="221E45"/>
          </a:solidFill>
          <a:ln w="25400">
            <a:solidFill>
              <a:srgbClr val="3B3570"/>
            </a:solidFill>
            <a:prstDash val="solid"/>
          </a:ln>
        </p:spPr>
      </p:sp>
      <p:sp>
        <p:nvSpPr>
          <p:cNvPr id="16" name="Text 14"/>
          <p:cNvSpPr txBox="1"/>
          <p:nvPr/>
        </p:nvSpPr>
        <p:spPr>
          <a:xfrm>
            <a:off x="8229600" y="2159000"/>
            <a:ext cx="762000" cy="279400"/>
          </a:xfrm>
          <a:prstGeom prst="rect">
            <a:avLst/>
          </a:prstGeom>
          <a:noFill/>
          <a:ln/>
        </p:spPr>
        <p:txBody>
          <a:bodyPr wrap="square" lIns="0" tIns="0" rIns="0" bIns="0" rtlCol="0" anchor="t"/>
          <a:lstStyle/>
          <a:p>
            <a:pPr marL="0" indent="0" algn="ctr">
              <a:buNone/>
            </a:pPr>
            <a:r>
              <a:rPr lang="en-US" sz="1600" b="1" dirty="0">
                <a:solidFill>
                  <a:srgbClr val="C9C4E0"/>
                </a:solidFill>
                <a:latin typeface="Consolas" pitchFamily="34" charset="0"/>
                <a:ea typeface="Consolas" pitchFamily="34" charset="-122"/>
                <a:cs typeface="Consolas" pitchFamily="34" charset="-120"/>
              </a:rPr>
              <a:t>2</a:t>
            </a:r>
            <a:endParaRPr lang="en-US" sz="1600" dirty="0"/>
          </a:p>
        </p:txBody>
      </p:sp>
      <p:sp>
        <p:nvSpPr>
          <p:cNvPr id="17" name="Shape 15"/>
          <p:cNvSpPr/>
          <p:nvPr/>
        </p:nvSpPr>
        <p:spPr>
          <a:xfrm>
            <a:off x="8483600" y="2952750"/>
            <a:ext cx="254000" cy="63500"/>
          </a:xfrm>
          <a:prstGeom prst="roundRect">
            <a:avLst>
              <a:gd name="adj" fmla="val 50000"/>
            </a:avLst>
          </a:prstGeom>
          <a:solidFill>
            <a:srgbClr val="5A5390"/>
          </a:solidFill>
          <a:ln/>
        </p:spPr>
      </p:sp>
      <p:sp>
        <p:nvSpPr>
          <p:cNvPr id="18" name="Text 16"/>
          <p:cNvSpPr txBox="1"/>
          <p:nvPr/>
        </p:nvSpPr>
        <p:spPr>
          <a:xfrm>
            <a:off x="8229600" y="3530600"/>
            <a:ext cx="762000" cy="254000"/>
          </a:xfrm>
          <a:prstGeom prst="rect">
            <a:avLst/>
          </a:prstGeom>
          <a:noFill/>
          <a:ln/>
        </p:spPr>
        <p:txBody>
          <a:bodyPr wrap="square" lIns="0" tIns="0" rIns="0" bIns="0" rtlCol="0" anchor="t"/>
          <a:lstStyle/>
          <a:p>
            <a:pPr marL="0" indent="0" algn="ctr">
              <a:buNone/>
            </a:pPr>
            <a:r>
              <a:rPr lang="en-US" sz="1300" dirty="0">
                <a:solidFill>
                  <a:srgbClr val="8A86A8"/>
                </a:solidFill>
                <a:latin typeface="Segoe UI" pitchFamily="34" charset="0"/>
                <a:ea typeface="Segoe UI" pitchFamily="34" charset="-122"/>
                <a:cs typeface="Segoe UI" pitchFamily="34" charset="-120"/>
              </a:rPr>
              <a:t>90</a:t>
            </a:r>
            <a:endParaRPr lang="en-US" sz="1300" dirty="0"/>
          </a:p>
        </p:txBody>
      </p:sp>
      <p:sp>
        <p:nvSpPr>
          <p:cNvPr id="19" name="Shape 17"/>
          <p:cNvSpPr/>
          <p:nvPr/>
        </p:nvSpPr>
        <p:spPr>
          <a:xfrm>
            <a:off x="9144000" y="2032000"/>
            <a:ext cx="762000" cy="1905000"/>
          </a:xfrm>
          <a:prstGeom prst="roundRect">
            <a:avLst>
              <a:gd name="adj" fmla="val 11667"/>
            </a:avLst>
          </a:prstGeom>
          <a:solidFill>
            <a:srgbClr val="221E45"/>
          </a:solidFill>
          <a:ln w="25400">
            <a:solidFill>
              <a:srgbClr val="3B3570"/>
            </a:solidFill>
            <a:prstDash val="solid"/>
          </a:ln>
        </p:spPr>
      </p:sp>
      <p:sp>
        <p:nvSpPr>
          <p:cNvPr id="20" name="Text 18"/>
          <p:cNvSpPr txBox="1"/>
          <p:nvPr/>
        </p:nvSpPr>
        <p:spPr>
          <a:xfrm>
            <a:off x="9144000" y="2159000"/>
            <a:ext cx="762000" cy="279400"/>
          </a:xfrm>
          <a:prstGeom prst="rect">
            <a:avLst/>
          </a:prstGeom>
          <a:noFill/>
          <a:ln/>
        </p:spPr>
        <p:txBody>
          <a:bodyPr wrap="square" lIns="0" tIns="0" rIns="0" bIns="0" rtlCol="0" anchor="t"/>
          <a:lstStyle/>
          <a:p>
            <a:pPr marL="0" indent="0" algn="ctr">
              <a:buNone/>
            </a:pPr>
            <a:r>
              <a:rPr lang="en-US" sz="1600" b="1" dirty="0">
                <a:solidFill>
                  <a:srgbClr val="C9C4E0"/>
                </a:solidFill>
                <a:latin typeface="Consolas" pitchFamily="34" charset="0"/>
                <a:ea typeface="Consolas" pitchFamily="34" charset="-122"/>
                <a:cs typeface="Consolas" pitchFamily="34" charset="-120"/>
              </a:rPr>
              <a:t>3</a:t>
            </a:r>
            <a:endParaRPr lang="en-US" sz="1600" dirty="0"/>
          </a:p>
        </p:txBody>
      </p:sp>
      <p:sp>
        <p:nvSpPr>
          <p:cNvPr id="21" name="Shape 19"/>
          <p:cNvSpPr/>
          <p:nvPr/>
        </p:nvSpPr>
        <p:spPr>
          <a:xfrm>
            <a:off x="9398000" y="2952750"/>
            <a:ext cx="254000" cy="63500"/>
          </a:xfrm>
          <a:prstGeom prst="roundRect">
            <a:avLst>
              <a:gd name="adj" fmla="val 50000"/>
            </a:avLst>
          </a:prstGeom>
          <a:solidFill>
            <a:srgbClr val="5A5390"/>
          </a:solidFill>
          <a:ln/>
        </p:spPr>
      </p:sp>
      <p:sp>
        <p:nvSpPr>
          <p:cNvPr id="22" name="Text 20"/>
          <p:cNvSpPr txBox="1"/>
          <p:nvPr/>
        </p:nvSpPr>
        <p:spPr>
          <a:xfrm>
            <a:off x="9144000" y="3530600"/>
            <a:ext cx="762000" cy="254000"/>
          </a:xfrm>
          <a:prstGeom prst="rect">
            <a:avLst/>
          </a:prstGeom>
          <a:noFill/>
          <a:ln/>
        </p:spPr>
        <p:txBody>
          <a:bodyPr wrap="square" lIns="0" tIns="0" rIns="0" bIns="0" rtlCol="0" anchor="t"/>
          <a:lstStyle/>
          <a:p>
            <a:pPr marL="0" indent="0" algn="ctr">
              <a:buNone/>
            </a:pPr>
            <a:r>
              <a:rPr lang="en-US" sz="1300" dirty="0">
                <a:solidFill>
                  <a:srgbClr val="8A86A8"/>
                </a:solidFill>
                <a:latin typeface="Segoe UI" pitchFamily="34" charset="0"/>
                <a:ea typeface="Segoe UI" pitchFamily="34" charset="-122"/>
                <a:cs typeface="Segoe UI" pitchFamily="34" charset="-120"/>
              </a:rPr>
              <a:t>85</a:t>
            </a:r>
            <a:endParaRPr lang="en-US" sz="1300" dirty="0"/>
          </a:p>
        </p:txBody>
      </p:sp>
      <p:sp>
        <p:nvSpPr>
          <p:cNvPr id="23" name="Shape 21"/>
          <p:cNvSpPr/>
          <p:nvPr/>
        </p:nvSpPr>
        <p:spPr>
          <a:xfrm>
            <a:off x="10058400" y="2032000"/>
            <a:ext cx="762000" cy="1905000"/>
          </a:xfrm>
          <a:prstGeom prst="roundRect">
            <a:avLst>
              <a:gd name="adj" fmla="val 11667"/>
            </a:avLst>
          </a:prstGeom>
          <a:solidFill>
            <a:srgbClr val="221E45"/>
          </a:solidFill>
          <a:ln w="25400">
            <a:solidFill>
              <a:srgbClr val="3B3570"/>
            </a:solidFill>
            <a:prstDash val="solid"/>
          </a:ln>
        </p:spPr>
      </p:sp>
      <p:sp>
        <p:nvSpPr>
          <p:cNvPr id="24" name="Text 22"/>
          <p:cNvSpPr txBox="1"/>
          <p:nvPr/>
        </p:nvSpPr>
        <p:spPr>
          <a:xfrm>
            <a:off x="10058400" y="2159000"/>
            <a:ext cx="762000" cy="279400"/>
          </a:xfrm>
          <a:prstGeom prst="rect">
            <a:avLst/>
          </a:prstGeom>
          <a:noFill/>
          <a:ln/>
        </p:spPr>
        <p:txBody>
          <a:bodyPr wrap="square" lIns="0" tIns="0" rIns="0" bIns="0" rtlCol="0" anchor="t"/>
          <a:lstStyle/>
          <a:p>
            <a:pPr marL="0" indent="0" algn="ctr">
              <a:buNone/>
            </a:pPr>
            <a:r>
              <a:rPr lang="en-US" sz="1600" b="1" dirty="0">
                <a:solidFill>
                  <a:srgbClr val="C9C4E0"/>
                </a:solidFill>
                <a:latin typeface="Consolas" pitchFamily="34" charset="0"/>
                <a:ea typeface="Consolas" pitchFamily="34" charset="-122"/>
                <a:cs typeface="Consolas" pitchFamily="34" charset="-120"/>
              </a:rPr>
              <a:t>4</a:t>
            </a:r>
            <a:endParaRPr lang="en-US" sz="1600" dirty="0"/>
          </a:p>
        </p:txBody>
      </p:sp>
      <p:sp>
        <p:nvSpPr>
          <p:cNvPr id="25" name="Shape 23"/>
          <p:cNvSpPr/>
          <p:nvPr/>
        </p:nvSpPr>
        <p:spPr>
          <a:xfrm>
            <a:off x="10312400" y="2952750"/>
            <a:ext cx="254000" cy="63500"/>
          </a:xfrm>
          <a:prstGeom prst="roundRect">
            <a:avLst>
              <a:gd name="adj" fmla="val 50000"/>
            </a:avLst>
          </a:prstGeom>
          <a:solidFill>
            <a:srgbClr val="5A5390"/>
          </a:solidFill>
          <a:ln/>
        </p:spPr>
      </p:sp>
      <p:sp>
        <p:nvSpPr>
          <p:cNvPr id="26" name="Text 24"/>
          <p:cNvSpPr txBox="1"/>
          <p:nvPr/>
        </p:nvSpPr>
        <p:spPr>
          <a:xfrm>
            <a:off x="10058400" y="3530600"/>
            <a:ext cx="762000" cy="254000"/>
          </a:xfrm>
          <a:prstGeom prst="rect">
            <a:avLst/>
          </a:prstGeom>
          <a:noFill/>
          <a:ln/>
        </p:spPr>
        <p:txBody>
          <a:bodyPr wrap="square" lIns="0" tIns="0" rIns="0" bIns="0" rtlCol="0" anchor="t"/>
          <a:lstStyle/>
          <a:p>
            <a:pPr marL="0" indent="0" algn="ctr">
              <a:buNone/>
            </a:pPr>
            <a:r>
              <a:rPr lang="en-US" sz="1300" dirty="0">
                <a:solidFill>
                  <a:srgbClr val="8A86A8"/>
                </a:solidFill>
                <a:latin typeface="Segoe UI" pitchFamily="34" charset="0"/>
                <a:ea typeface="Segoe UI" pitchFamily="34" charset="-122"/>
                <a:cs typeface="Segoe UI" pitchFamily="34" charset="-120"/>
              </a:rPr>
              <a:t>70</a:t>
            </a:r>
            <a:endParaRPr lang="en-US" sz="1300" dirty="0"/>
          </a:p>
        </p:txBody>
      </p:sp>
      <p:sp>
        <p:nvSpPr>
          <p:cNvPr id="27" name="Text 25"/>
          <p:cNvSpPr txBox="1"/>
          <p:nvPr/>
        </p:nvSpPr>
        <p:spPr>
          <a:xfrm>
            <a:off x="6400800" y="4191000"/>
            <a:ext cx="4978400" cy="762000"/>
          </a:xfrm>
          <a:prstGeom prst="rect">
            <a:avLst/>
          </a:prstGeom>
          <a:noFill/>
          <a:ln/>
        </p:spPr>
        <p:txBody>
          <a:bodyPr wrap="square" lIns="0" tIns="0" rIns="0" bIns="0" rtlCol="0" anchor="t"/>
          <a:lstStyle/>
          <a:p>
            <a:pPr marL="0" indent="0">
              <a:lnSpc>
                <a:spcPct val="130000"/>
              </a:lnSpc>
              <a:buNone/>
            </a:pPr>
            <a:r>
              <a:rPr lang="en-US" sz="1500" dirty="0">
                <a:solidFill>
                  <a:srgbClr val="C9C4E0"/>
                </a:solidFill>
                <a:latin typeface="Segoe UI" pitchFamily="34" charset="0"/>
                <a:ea typeface="Segoe UI" pitchFamily="34" charset="-122"/>
                <a:cs typeface="Segoe UI" pitchFamily="34" charset="-120"/>
              </a:rPr>
              <a:t>Analogi: </a:t>
            </a:r>
            <a:r>
              <a:rPr lang="en-US" sz="1500" b="1" dirty="0">
                <a:solidFill>
                  <a:srgbClr val="F6F4FB"/>
                </a:solidFill>
                <a:latin typeface="Segoe UI" pitchFamily="34" charset="0"/>
                <a:ea typeface="Segoe UI" pitchFamily="34" charset="-122"/>
                <a:cs typeface="Segoe UI" pitchFamily="34" charset="-120"/>
              </a:rPr>
              <a:t>loker berderet</a:t>
            </a:r>
            <a:r>
              <a:rPr lang="en-US" sz="1500" dirty="0">
                <a:solidFill>
                  <a:srgbClr val="C9C4E0"/>
                </a:solidFill>
                <a:latin typeface="Segoe UI" pitchFamily="34" charset="0"/>
                <a:ea typeface="Segoe UI" pitchFamily="34" charset="-122"/>
                <a:cs typeface="Segoe UI" pitchFamily="34" charset="-120"/>
              </a:rPr>
              <a:t>. Setiap loker punya </a:t>
            </a:r>
            <a:r>
              <a:rPr lang="en-US" sz="1500" b="1" dirty="0">
                <a:solidFill>
                  <a:srgbClr val="C4B5FD"/>
                </a:solidFill>
                <a:latin typeface="Segoe UI" pitchFamily="34" charset="0"/>
                <a:ea typeface="Segoe UI" pitchFamily="34" charset="-122"/>
                <a:cs typeface="Segoe UI" pitchFamily="34" charset="-120"/>
              </a:rPr>
              <a:t>nomor (index)</a:t>
            </a:r>
            <a:r>
              <a:rPr lang="en-US" sz="1500" dirty="0">
                <a:solidFill>
                  <a:srgbClr val="C9C4E0"/>
                </a:solidFill>
                <a:latin typeface="Segoe UI" pitchFamily="34" charset="0"/>
                <a:ea typeface="Segoe UI" pitchFamily="34" charset="-122"/>
                <a:cs typeface="Segoe UI" pitchFamily="34" charset="-120"/>
              </a:rPr>
              <a:t>, dan isinya harus sejenis.</a:t>
            </a:r>
            <a:endParaRPr lang="en-US" sz="1500" dirty="0"/>
          </a:p>
        </p:txBody>
      </p:sp>
      <p:sp>
        <p:nvSpPr>
          <p:cNvPr id="28"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MENGAPA ARRAY?</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Tanpa array vs dengan array</a:t>
            </a:r>
            <a:endParaRPr lang="en-US" sz="3600" dirty="0"/>
          </a:p>
        </p:txBody>
      </p:sp>
      <p:sp>
        <p:nvSpPr>
          <p:cNvPr id="4" name="Shape 2"/>
          <p:cNvSpPr/>
          <p:nvPr/>
        </p:nvSpPr>
        <p:spPr>
          <a:xfrm>
            <a:off x="812800" y="1905000"/>
            <a:ext cx="304800" cy="304800"/>
          </a:xfrm>
          <a:prstGeom prst="ellipse">
            <a:avLst/>
          </a:prstGeom>
          <a:solidFill>
            <a:srgbClr val="C2410C"/>
          </a:solidFill>
          <a:ln/>
        </p:spPr>
      </p:sp>
      <p:sp>
        <p:nvSpPr>
          <p:cNvPr id="5" name="Text 3"/>
          <p:cNvSpPr txBox="1"/>
          <p:nvPr/>
        </p:nvSpPr>
        <p:spPr>
          <a:xfrm>
            <a:off x="812800" y="1905000"/>
            <a:ext cx="304800" cy="304800"/>
          </a:xfrm>
          <a:prstGeom prst="rect">
            <a:avLst/>
          </a:prstGeom>
          <a:noFill/>
          <a:ln/>
        </p:spPr>
        <p:txBody>
          <a:bodyPr wrap="square" lIns="0" tIns="0" rIns="0" bIns="0" rtlCol="0" anchor="ctr"/>
          <a:lstStyle/>
          <a:p>
            <a:pPr marL="0" indent="0" algn="ctr">
              <a:buNone/>
            </a:pPr>
            <a:r>
              <a:rPr lang="en-US" sz="1600" dirty="0">
                <a:solidFill>
                  <a:srgbClr val="F6F4FB"/>
                </a:solidFill>
                <a:latin typeface="Segoe UI Semibold" pitchFamily="34" charset="0"/>
                <a:ea typeface="Segoe UI Semibold" pitchFamily="34" charset="-122"/>
                <a:cs typeface="Segoe UI Semibold" pitchFamily="34" charset="-120"/>
              </a:rPr>
              <a:t>!</a:t>
            </a:r>
            <a:endParaRPr lang="en-US" sz="1600" dirty="0"/>
          </a:p>
        </p:txBody>
      </p:sp>
      <p:sp>
        <p:nvSpPr>
          <p:cNvPr id="6" name="Text 4"/>
          <p:cNvSpPr txBox="1"/>
          <p:nvPr/>
        </p:nvSpPr>
        <p:spPr>
          <a:xfrm>
            <a:off x="1244600" y="1905000"/>
            <a:ext cx="3810000" cy="304800"/>
          </a:xfrm>
          <a:prstGeom prst="rect">
            <a:avLst/>
          </a:prstGeom>
          <a:noFill/>
          <a:ln/>
        </p:spPr>
        <p:txBody>
          <a:bodyPr wrap="square" lIns="0" tIns="0" rIns="0" bIns="0" rtlCol="0" anchor="ctr"/>
          <a:lstStyle/>
          <a:p>
            <a:pPr marL="0" indent="0">
              <a:buNone/>
            </a:pPr>
            <a:r>
              <a:rPr lang="en-US" sz="1800" dirty="0">
                <a:solidFill>
                  <a:srgbClr val="1B1838"/>
                </a:solidFill>
                <a:latin typeface="Segoe UI Semibold" pitchFamily="34" charset="0"/>
                <a:ea typeface="Segoe UI Semibold" pitchFamily="34" charset="-122"/>
                <a:cs typeface="Segoe UI Semibold" pitchFamily="34" charset="-120"/>
              </a:rPr>
              <a:t>Tanpa array</a:t>
            </a:r>
            <a:endParaRPr lang="en-US" sz="1800" dirty="0"/>
          </a:p>
        </p:txBody>
      </p:sp>
      <p:sp>
        <p:nvSpPr>
          <p:cNvPr id="7" name="Shape 5"/>
          <p:cNvSpPr/>
          <p:nvPr/>
        </p:nvSpPr>
        <p:spPr>
          <a:xfrm>
            <a:off x="6400800" y="1905000"/>
            <a:ext cx="304800" cy="304800"/>
          </a:xfrm>
          <a:prstGeom prst="ellipse">
            <a:avLst/>
          </a:prstGeom>
          <a:solidFill>
            <a:srgbClr val="6D28D9"/>
          </a:solidFill>
          <a:ln/>
        </p:spPr>
      </p:sp>
      <p:sp>
        <p:nvSpPr>
          <p:cNvPr id="8" name="Text 6"/>
          <p:cNvSpPr txBox="1"/>
          <p:nvPr/>
        </p:nvSpPr>
        <p:spPr>
          <a:xfrm>
            <a:off x="6400800" y="1905000"/>
            <a:ext cx="304800" cy="304800"/>
          </a:xfrm>
          <a:prstGeom prst="rect">
            <a:avLst/>
          </a:prstGeom>
          <a:noFill/>
          <a:ln/>
        </p:spPr>
        <p:txBody>
          <a:bodyPr wrap="square" lIns="0" tIns="0" rIns="0" bIns="0" rtlCol="0" anchor="ctr"/>
          <a:lstStyle/>
          <a:p>
            <a:pPr marL="0" indent="0" algn="ctr">
              <a:buNone/>
            </a:pPr>
            <a:r>
              <a:rPr lang="en-US" sz="1600" dirty="0">
                <a:solidFill>
                  <a:srgbClr val="F6F4FB"/>
                </a:solidFill>
                <a:latin typeface="Segoe UI Semibold" pitchFamily="34" charset="0"/>
                <a:ea typeface="Segoe UI Semibold" pitchFamily="34" charset="-122"/>
                <a:cs typeface="Segoe UI Semibold" pitchFamily="34" charset="-120"/>
              </a:rPr>
              <a:t>✓</a:t>
            </a:r>
            <a:endParaRPr lang="en-US" sz="1600" dirty="0"/>
          </a:p>
        </p:txBody>
      </p:sp>
      <p:sp>
        <p:nvSpPr>
          <p:cNvPr id="9" name="Text 7"/>
          <p:cNvSpPr txBox="1"/>
          <p:nvPr/>
        </p:nvSpPr>
        <p:spPr>
          <a:xfrm>
            <a:off x="6832600" y="1905000"/>
            <a:ext cx="3810000" cy="304800"/>
          </a:xfrm>
          <a:prstGeom prst="rect">
            <a:avLst/>
          </a:prstGeom>
          <a:noFill/>
          <a:ln/>
        </p:spPr>
        <p:txBody>
          <a:bodyPr wrap="square" lIns="0" tIns="0" rIns="0" bIns="0" rtlCol="0" anchor="ctr"/>
          <a:lstStyle/>
          <a:p>
            <a:pPr marL="0" indent="0">
              <a:buNone/>
            </a:pPr>
            <a:r>
              <a:rPr lang="en-US" sz="1800" dirty="0">
                <a:solidFill>
                  <a:srgbClr val="1B1838"/>
                </a:solidFill>
                <a:latin typeface="Segoe UI Semibold" pitchFamily="34" charset="0"/>
                <a:ea typeface="Segoe UI Semibold" pitchFamily="34" charset="-122"/>
                <a:cs typeface="Segoe UI Semibold" pitchFamily="34" charset="-120"/>
              </a:rPr>
              <a:t>Dengan array</a:t>
            </a:r>
            <a:endParaRPr lang="en-US" sz="1800" dirty="0"/>
          </a:p>
        </p:txBody>
      </p:sp>
      <p:sp>
        <p:nvSpPr>
          <p:cNvPr id="10" name="Kode"/>
          <p:cNvSpPr/>
          <p:nvPr/>
        </p:nvSpPr>
        <p:spPr>
          <a:xfrm>
            <a:off x="812800" y="2387600"/>
            <a:ext cx="4978400" cy="1905000"/>
          </a:xfrm>
          <a:prstGeom prst="roundRect">
            <a:avLst>
              <a:gd name="adj" fmla="val 6667"/>
            </a:avLst>
          </a:prstGeom>
          <a:solidFill>
            <a:srgbClr val="0E0C1F"/>
          </a:solidFill>
          <a:ln w="12700">
            <a:solidFill>
              <a:srgbClr val="2E2A52"/>
            </a:solidFill>
            <a:prstDash val="solid"/>
          </a:ln>
        </p:spPr>
      </p:sp>
      <p:sp>
        <p:nvSpPr>
          <p:cNvPr id="11" name="Shape 9"/>
          <p:cNvSpPr/>
          <p:nvPr/>
        </p:nvSpPr>
        <p:spPr>
          <a:xfrm>
            <a:off x="1066800" y="2590800"/>
            <a:ext cx="101600" cy="101600"/>
          </a:xfrm>
          <a:prstGeom prst="ellipse">
            <a:avLst/>
          </a:prstGeom>
          <a:solidFill>
            <a:srgbClr val="FF5F57"/>
          </a:solidFill>
          <a:ln/>
        </p:spPr>
      </p:sp>
      <p:sp>
        <p:nvSpPr>
          <p:cNvPr id="12" name="Shape 10"/>
          <p:cNvSpPr/>
          <p:nvPr/>
        </p:nvSpPr>
        <p:spPr>
          <a:xfrm>
            <a:off x="1231900" y="2590800"/>
            <a:ext cx="101600" cy="101600"/>
          </a:xfrm>
          <a:prstGeom prst="ellipse">
            <a:avLst/>
          </a:prstGeom>
          <a:solidFill>
            <a:srgbClr val="FEBC2E"/>
          </a:solidFill>
          <a:ln/>
        </p:spPr>
      </p:sp>
      <p:sp>
        <p:nvSpPr>
          <p:cNvPr id="13" name="Shape 11"/>
          <p:cNvSpPr/>
          <p:nvPr/>
        </p:nvSpPr>
        <p:spPr>
          <a:xfrm>
            <a:off x="1397000" y="2590800"/>
            <a:ext cx="101600" cy="101600"/>
          </a:xfrm>
          <a:prstGeom prst="ellipse">
            <a:avLst/>
          </a:prstGeom>
          <a:solidFill>
            <a:srgbClr val="28C840"/>
          </a:solidFill>
          <a:ln/>
        </p:spPr>
      </p:sp>
      <p:sp>
        <p:nvSpPr>
          <p:cNvPr id="14" name="Text 12"/>
          <p:cNvSpPr txBox="1"/>
          <p:nvPr/>
        </p:nvSpPr>
        <p:spPr>
          <a:xfrm>
            <a:off x="1066800" y="2844800"/>
            <a:ext cx="4470400" cy="1295400"/>
          </a:xfrm>
          <a:prstGeom prst="rect">
            <a:avLst/>
          </a:prstGeom>
          <a:noFill/>
          <a:ln/>
        </p:spPr>
        <p:txBody>
          <a:bodyPr wrap="square" lIns="0" tIns="0" rIns="0" bIns="0" rtlCol="0" anchor="t"/>
          <a:lstStyle/>
          <a:p>
            <a:pPr marL="0" indent="0">
              <a:lnSpc>
                <a:spcPct val="125000"/>
              </a:lnSpc>
              <a:buNone/>
            </a:pPr>
            <a:r>
              <a:rPr lang="en-US" sz="1400" dirty="0">
                <a:solidFill>
                  <a:srgbClr val="C792EA"/>
                </a:solidFill>
                <a:latin typeface="Consolas" pitchFamily="34" charset="0"/>
                <a:ea typeface="Consolas" pitchFamily="34" charset="-122"/>
                <a:cs typeface="Consolas" pitchFamily="34" charset="-120"/>
              </a:rPr>
              <a:t>int </a:t>
            </a:r>
            <a:r>
              <a:rPr lang="en-US" sz="1400" dirty="0">
                <a:solidFill>
                  <a:srgbClr val="E6E3F5"/>
                </a:solidFill>
                <a:latin typeface="Consolas" pitchFamily="34" charset="0"/>
                <a:ea typeface="Consolas" pitchFamily="34" charset="-122"/>
                <a:cs typeface="Consolas" pitchFamily="34" charset="-120"/>
              </a:rPr>
              <a:t>nilai1 = </a:t>
            </a:r>
            <a:r>
              <a:rPr lang="en-US" sz="1400" dirty="0">
                <a:solidFill>
                  <a:srgbClr val="F78C6C"/>
                </a:solidFill>
                <a:latin typeface="Consolas" pitchFamily="34" charset="0"/>
                <a:ea typeface="Consolas" pitchFamily="34" charset="-122"/>
                <a:cs typeface="Consolas" pitchFamily="34" charset="-120"/>
              </a:rPr>
              <a:t>80</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25000"/>
              </a:lnSpc>
              <a:buNone/>
            </a:pPr>
            <a:r>
              <a:rPr lang="en-US" sz="1400" dirty="0">
                <a:solidFill>
                  <a:srgbClr val="C792EA"/>
                </a:solidFill>
                <a:latin typeface="Consolas" pitchFamily="34" charset="0"/>
                <a:ea typeface="Consolas" pitchFamily="34" charset="-122"/>
                <a:cs typeface="Consolas" pitchFamily="34" charset="-120"/>
              </a:rPr>
              <a:t>int </a:t>
            </a:r>
            <a:r>
              <a:rPr lang="en-US" sz="1400" dirty="0">
                <a:solidFill>
                  <a:srgbClr val="E6E3F5"/>
                </a:solidFill>
                <a:latin typeface="Consolas" pitchFamily="34" charset="0"/>
                <a:ea typeface="Consolas" pitchFamily="34" charset="-122"/>
                <a:cs typeface="Consolas" pitchFamily="34" charset="-120"/>
              </a:rPr>
              <a:t>nilai2 = </a:t>
            </a:r>
            <a:r>
              <a:rPr lang="en-US" sz="1400" dirty="0">
                <a:solidFill>
                  <a:srgbClr val="F78C6C"/>
                </a:solidFill>
                <a:latin typeface="Consolas" pitchFamily="34" charset="0"/>
                <a:ea typeface="Consolas" pitchFamily="34" charset="-122"/>
                <a:cs typeface="Consolas" pitchFamily="34" charset="-120"/>
              </a:rPr>
              <a:t>75</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25000"/>
              </a:lnSpc>
              <a:buNone/>
            </a:pPr>
            <a:r>
              <a:rPr lang="en-US" sz="1400" dirty="0">
                <a:solidFill>
                  <a:srgbClr val="C792EA"/>
                </a:solidFill>
                <a:latin typeface="Consolas" pitchFamily="34" charset="0"/>
                <a:ea typeface="Consolas" pitchFamily="34" charset="-122"/>
                <a:cs typeface="Consolas" pitchFamily="34" charset="-120"/>
              </a:rPr>
              <a:t>int </a:t>
            </a:r>
            <a:r>
              <a:rPr lang="en-US" sz="1400" dirty="0">
                <a:solidFill>
                  <a:srgbClr val="E6E3F5"/>
                </a:solidFill>
                <a:latin typeface="Consolas" pitchFamily="34" charset="0"/>
                <a:ea typeface="Consolas" pitchFamily="34" charset="-122"/>
                <a:cs typeface="Consolas" pitchFamily="34" charset="-120"/>
              </a:rPr>
              <a:t>nilai3 = </a:t>
            </a:r>
            <a:r>
              <a:rPr lang="en-US" sz="1400" dirty="0">
                <a:solidFill>
                  <a:srgbClr val="F78C6C"/>
                </a:solidFill>
                <a:latin typeface="Consolas" pitchFamily="34" charset="0"/>
                <a:ea typeface="Consolas" pitchFamily="34" charset="-122"/>
                <a:cs typeface="Consolas" pitchFamily="34" charset="-120"/>
              </a:rPr>
              <a:t>90</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25000"/>
              </a:lnSpc>
              <a:buNone/>
            </a:pPr>
            <a:r>
              <a:rPr lang="en-US" sz="1400" dirty="0">
                <a:solidFill>
                  <a:srgbClr val="C792EA"/>
                </a:solidFill>
                <a:latin typeface="Consolas" pitchFamily="34" charset="0"/>
                <a:ea typeface="Consolas" pitchFamily="34" charset="-122"/>
                <a:cs typeface="Consolas" pitchFamily="34" charset="-120"/>
              </a:rPr>
              <a:t>int </a:t>
            </a:r>
            <a:r>
              <a:rPr lang="en-US" sz="1400" dirty="0">
                <a:solidFill>
                  <a:srgbClr val="E6E3F5"/>
                </a:solidFill>
                <a:latin typeface="Consolas" pitchFamily="34" charset="0"/>
                <a:ea typeface="Consolas" pitchFamily="34" charset="-122"/>
                <a:cs typeface="Consolas" pitchFamily="34" charset="-120"/>
              </a:rPr>
              <a:t>nilai4 = </a:t>
            </a:r>
            <a:r>
              <a:rPr lang="en-US" sz="1400" dirty="0">
                <a:solidFill>
                  <a:srgbClr val="F78C6C"/>
                </a:solidFill>
                <a:latin typeface="Consolas" pitchFamily="34" charset="0"/>
                <a:ea typeface="Consolas" pitchFamily="34" charset="-122"/>
                <a:cs typeface="Consolas" pitchFamily="34" charset="-120"/>
              </a:rPr>
              <a:t>85</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25000"/>
              </a:lnSpc>
              <a:buNone/>
            </a:pPr>
            <a:r>
              <a:rPr lang="en-US" sz="1400" dirty="0">
                <a:solidFill>
                  <a:srgbClr val="C792EA"/>
                </a:solidFill>
                <a:latin typeface="Consolas" pitchFamily="34" charset="0"/>
                <a:ea typeface="Consolas" pitchFamily="34" charset="-122"/>
                <a:cs typeface="Consolas" pitchFamily="34" charset="-120"/>
              </a:rPr>
              <a:t>int </a:t>
            </a:r>
            <a:r>
              <a:rPr lang="en-US" sz="1400" dirty="0">
                <a:solidFill>
                  <a:srgbClr val="E6E3F5"/>
                </a:solidFill>
                <a:latin typeface="Consolas" pitchFamily="34" charset="0"/>
                <a:ea typeface="Consolas" pitchFamily="34" charset="-122"/>
                <a:cs typeface="Consolas" pitchFamily="34" charset="-120"/>
              </a:rPr>
              <a:t>nilai5 = </a:t>
            </a:r>
            <a:r>
              <a:rPr lang="en-US" sz="1400" dirty="0">
                <a:solidFill>
                  <a:srgbClr val="F78C6C"/>
                </a:solidFill>
                <a:latin typeface="Consolas" pitchFamily="34" charset="0"/>
                <a:ea typeface="Consolas" pitchFamily="34" charset="-122"/>
                <a:cs typeface="Consolas" pitchFamily="34" charset="-120"/>
              </a:rPr>
              <a:t>70</a:t>
            </a:r>
            <a:r>
              <a:rPr lang="en-US" sz="1400" dirty="0">
                <a:solidFill>
                  <a:srgbClr val="E6E3F5"/>
                </a:solidFill>
                <a:latin typeface="Consolas" pitchFamily="34" charset="0"/>
                <a:ea typeface="Consolas" pitchFamily="34" charset="-122"/>
                <a:cs typeface="Consolas" pitchFamily="34" charset="-120"/>
              </a:rPr>
              <a:t>;</a:t>
            </a:r>
            <a:endParaRPr lang="en-US" sz="1400" dirty="0"/>
          </a:p>
        </p:txBody>
      </p:sp>
      <p:sp>
        <p:nvSpPr>
          <p:cNvPr id="15" name="Kode"/>
          <p:cNvSpPr/>
          <p:nvPr/>
        </p:nvSpPr>
        <p:spPr>
          <a:xfrm>
            <a:off x="6400800" y="2387600"/>
            <a:ext cx="4978400" cy="1905000"/>
          </a:xfrm>
          <a:prstGeom prst="roundRect">
            <a:avLst>
              <a:gd name="adj" fmla="val 6667"/>
            </a:avLst>
          </a:prstGeom>
          <a:solidFill>
            <a:srgbClr val="0E0C1F"/>
          </a:solidFill>
          <a:ln w="25400">
            <a:solidFill>
              <a:srgbClr val="A78BFA"/>
            </a:solidFill>
            <a:prstDash val="solid"/>
          </a:ln>
        </p:spPr>
      </p:sp>
      <p:sp>
        <p:nvSpPr>
          <p:cNvPr id="16" name="Shape 14"/>
          <p:cNvSpPr/>
          <p:nvPr/>
        </p:nvSpPr>
        <p:spPr>
          <a:xfrm>
            <a:off x="6654800" y="2590800"/>
            <a:ext cx="101600" cy="101600"/>
          </a:xfrm>
          <a:prstGeom prst="ellipse">
            <a:avLst/>
          </a:prstGeom>
          <a:solidFill>
            <a:srgbClr val="FF5F57"/>
          </a:solidFill>
          <a:ln/>
        </p:spPr>
      </p:sp>
      <p:sp>
        <p:nvSpPr>
          <p:cNvPr id="17" name="Shape 15"/>
          <p:cNvSpPr/>
          <p:nvPr/>
        </p:nvSpPr>
        <p:spPr>
          <a:xfrm>
            <a:off x="6819900" y="2590800"/>
            <a:ext cx="101600" cy="101600"/>
          </a:xfrm>
          <a:prstGeom prst="ellipse">
            <a:avLst/>
          </a:prstGeom>
          <a:solidFill>
            <a:srgbClr val="FEBC2E"/>
          </a:solidFill>
          <a:ln/>
        </p:spPr>
      </p:sp>
      <p:sp>
        <p:nvSpPr>
          <p:cNvPr id="18" name="Shape 16"/>
          <p:cNvSpPr/>
          <p:nvPr/>
        </p:nvSpPr>
        <p:spPr>
          <a:xfrm>
            <a:off x="6985000" y="2590800"/>
            <a:ext cx="101600" cy="101600"/>
          </a:xfrm>
          <a:prstGeom prst="ellipse">
            <a:avLst/>
          </a:prstGeom>
          <a:solidFill>
            <a:srgbClr val="28C840"/>
          </a:solidFill>
          <a:ln/>
        </p:spPr>
      </p:sp>
      <p:sp>
        <p:nvSpPr>
          <p:cNvPr id="19" name="Text 17"/>
          <p:cNvSpPr txBox="1"/>
          <p:nvPr/>
        </p:nvSpPr>
        <p:spPr>
          <a:xfrm>
            <a:off x="6654800" y="2844800"/>
            <a:ext cx="4470400" cy="1295400"/>
          </a:xfrm>
          <a:prstGeom prst="rect">
            <a:avLst/>
          </a:prstGeom>
          <a:noFill/>
          <a:ln/>
        </p:spPr>
        <p:txBody>
          <a:bodyPr wrap="square" lIns="0" tIns="0" rIns="0" bIns="0" rtlCol="0" anchor="t"/>
          <a:lstStyle/>
          <a:p>
            <a:pPr marL="0" indent="0">
              <a:lnSpc>
                <a:spcPct val="125000"/>
              </a:lnSpc>
              <a:buNone/>
            </a:pPr>
            <a:r>
              <a:rPr lang="en-US" sz="1400" dirty="0">
                <a:solidFill>
                  <a:srgbClr val="C792EA"/>
                </a:solidFill>
                <a:latin typeface="Consolas" pitchFamily="34" charset="0"/>
                <a:ea typeface="Consolas" pitchFamily="34" charset="-122"/>
                <a:cs typeface="Consolas" pitchFamily="34" charset="-120"/>
              </a:rPr>
              <a:t>int</a:t>
            </a:r>
            <a:r>
              <a:rPr lang="en-US" sz="1400" dirty="0">
                <a:solidFill>
                  <a:srgbClr val="E6E3F5"/>
                </a:solidFill>
                <a:latin typeface="Consolas" pitchFamily="34" charset="0"/>
                <a:ea typeface="Consolas" pitchFamily="34" charset="-122"/>
                <a:cs typeface="Consolas" pitchFamily="34" charset="-120"/>
              </a:rPr>
              <a:t>[] nilai = { </a:t>
            </a:r>
            <a:r>
              <a:rPr lang="en-US" sz="1400" dirty="0">
                <a:solidFill>
                  <a:srgbClr val="F78C6C"/>
                </a:solidFill>
                <a:latin typeface="Consolas" pitchFamily="34" charset="0"/>
                <a:ea typeface="Consolas" pitchFamily="34" charset="-122"/>
                <a:cs typeface="Consolas" pitchFamily="34" charset="-120"/>
              </a:rPr>
              <a:t>80</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78C6C"/>
                </a:solidFill>
                <a:latin typeface="Consolas" pitchFamily="34" charset="0"/>
                <a:ea typeface="Consolas" pitchFamily="34" charset="-122"/>
                <a:cs typeface="Consolas" pitchFamily="34" charset="-120"/>
              </a:rPr>
              <a:t>75</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78C6C"/>
                </a:solidFill>
                <a:latin typeface="Consolas" pitchFamily="34" charset="0"/>
                <a:ea typeface="Consolas" pitchFamily="34" charset="-122"/>
                <a:cs typeface="Consolas" pitchFamily="34" charset="-120"/>
              </a:rPr>
              <a:t>90</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78C6C"/>
                </a:solidFill>
                <a:latin typeface="Consolas" pitchFamily="34" charset="0"/>
                <a:ea typeface="Consolas" pitchFamily="34" charset="-122"/>
                <a:cs typeface="Consolas" pitchFamily="34" charset="-120"/>
              </a:rPr>
              <a:t>85</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78C6C"/>
                </a:solidFill>
                <a:latin typeface="Consolas" pitchFamily="34" charset="0"/>
                <a:ea typeface="Consolas" pitchFamily="34" charset="-122"/>
                <a:cs typeface="Consolas" pitchFamily="34" charset="-120"/>
              </a:rPr>
              <a:t>70 </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25000"/>
              </a:lnSpc>
              <a:buNone/>
            </a:pPr>
            <a:r>
              <a:rPr lang="en-US" sz="1400" dirty="0">
                <a:solidFill>
                  <a:srgbClr val="E6E3F5"/>
                </a:solidFill>
                <a:latin typeface="Consolas" pitchFamily="34" charset="0"/>
                <a:ea typeface="Consolas" pitchFamily="34" charset="-122"/>
                <a:cs typeface="Consolas" pitchFamily="34" charset="-120"/>
              </a:rPr>
              <a:t> </a:t>
            </a:r>
            <a:endParaRPr lang="en-US" sz="1400" dirty="0"/>
          </a:p>
          <a:p>
            <a:pPr marL="0" indent="0">
              <a:lnSpc>
                <a:spcPct val="125000"/>
              </a:lnSpc>
              <a:buNone/>
            </a:pPr>
            <a:r>
              <a:rPr lang="en-US" sz="1400" dirty="0">
                <a:solidFill>
                  <a:srgbClr val="8A86A8"/>
                </a:solidFill>
                <a:latin typeface="Consolas" pitchFamily="34" charset="0"/>
                <a:ea typeface="Consolas" pitchFamily="34" charset="-122"/>
                <a:cs typeface="Consolas" pitchFamily="34" charset="-120"/>
              </a:rPr>
              <a:t>// akses: nilai[0] sampai nilai[4]</a:t>
            </a:r>
            <a:endParaRPr lang="en-US" sz="1400" dirty="0"/>
          </a:p>
        </p:txBody>
      </p:sp>
      <p:sp>
        <p:nvSpPr>
          <p:cNvPr id="20" name="Text 18"/>
          <p:cNvSpPr txBox="1"/>
          <p:nvPr/>
        </p:nvSpPr>
        <p:spPr>
          <a:xfrm>
            <a:off x="812800" y="4495800"/>
            <a:ext cx="4978400" cy="635000"/>
          </a:xfrm>
          <a:prstGeom prst="rect">
            <a:avLst/>
          </a:prstGeom>
          <a:noFill/>
          <a:ln/>
        </p:spPr>
        <p:txBody>
          <a:bodyPr wrap="square" lIns="0" tIns="0" rIns="0" bIns="0" rtlCol="0" anchor="t"/>
          <a:lstStyle/>
          <a:p>
            <a:pPr marL="0" indent="0">
              <a:lnSpc>
                <a:spcPct val="125000"/>
              </a:lnSpc>
              <a:buNone/>
            </a:pPr>
            <a:r>
              <a:rPr lang="en-US" sz="1500" b="1" dirty="0">
                <a:solidFill>
                  <a:srgbClr val="1B1838"/>
                </a:solidFill>
                <a:latin typeface="Segoe UI" pitchFamily="34" charset="0"/>
                <a:ea typeface="Segoe UI" pitchFamily="34" charset="-122"/>
                <a:cs typeface="Segoe UI" pitchFamily="34" charset="-120"/>
              </a:rPr>
              <a:t>5 data = 5 variabel. </a:t>
            </a:r>
            <a:r>
              <a:rPr lang="en-US" sz="1500" dirty="0">
                <a:solidFill>
                  <a:srgbClr val="4A4766"/>
                </a:solidFill>
                <a:latin typeface="Segoe UI" pitchFamily="34" charset="0"/>
                <a:ea typeface="Segoe UI" pitchFamily="34" charset="-122"/>
                <a:cs typeface="Segoe UI" pitchFamily="34" charset="-120"/>
              </a:rPr>
              <a:t>Bayangkan kalau ada 100 data!</a:t>
            </a:r>
            <a:endParaRPr lang="en-US" sz="1500" dirty="0"/>
          </a:p>
        </p:txBody>
      </p:sp>
      <p:sp>
        <p:nvSpPr>
          <p:cNvPr id="21" name="Text 19"/>
          <p:cNvSpPr txBox="1"/>
          <p:nvPr/>
        </p:nvSpPr>
        <p:spPr>
          <a:xfrm>
            <a:off x="6400800" y="4495800"/>
            <a:ext cx="4978400" cy="635000"/>
          </a:xfrm>
          <a:prstGeom prst="rect">
            <a:avLst/>
          </a:prstGeom>
          <a:noFill/>
          <a:ln/>
        </p:spPr>
        <p:txBody>
          <a:bodyPr wrap="square" lIns="0" tIns="0" rIns="0" bIns="0" rtlCol="0" anchor="t"/>
          <a:lstStyle/>
          <a:p>
            <a:pPr marL="0" indent="0">
              <a:lnSpc>
                <a:spcPct val="125000"/>
              </a:lnSpc>
              <a:buNone/>
            </a:pPr>
            <a:r>
              <a:rPr lang="en-US" sz="1500" b="1" dirty="0">
                <a:solidFill>
                  <a:srgbClr val="1B1838"/>
                </a:solidFill>
                <a:latin typeface="Segoe UI" pitchFamily="34" charset="0"/>
                <a:ea typeface="Segoe UI" pitchFamily="34" charset="-122"/>
                <a:cs typeface="Segoe UI" pitchFamily="34" charset="-120"/>
              </a:rPr>
              <a:t>5 data = 1 variabel. </a:t>
            </a:r>
            <a:r>
              <a:rPr lang="en-US" sz="1500" dirty="0">
                <a:solidFill>
                  <a:srgbClr val="4A4766"/>
                </a:solidFill>
                <a:latin typeface="Segoe UI" pitchFamily="34" charset="0"/>
                <a:ea typeface="Segoe UI" pitchFamily="34" charset="-122"/>
                <a:cs typeface="Segoe UI" pitchFamily="34" charset="-120"/>
              </a:rPr>
              <a:t>Lebih ringkas dan mudah diolah dengan perulangan.</a:t>
            </a:r>
            <a:endParaRPr lang="en-US" sz="15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KARAKTERISTIK</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Ciri-ciri array di C#</a:t>
            </a:r>
            <a:endParaRPr lang="en-US" sz="3600" dirty="0"/>
          </a:p>
        </p:txBody>
      </p:sp>
      <p:sp>
        <p:nvSpPr>
          <p:cNvPr id="4" name="Shape 2"/>
          <p:cNvSpPr/>
          <p:nvPr/>
        </p:nvSpPr>
        <p:spPr>
          <a:xfrm>
            <a:off x="812800" y="1968500"/>
            <a:ext cx="5181600" cy="1460500"/>
          </a:xfrm>
          <a:prstGeom prst="roundRect">
            <a:avLst>
              <a:gd name="adj" fmla="val 8696"/>
            </a:avLst>
          </a:prstGeom>
          <a:solidFill>
            <a:srgbClr val="1D1A3A"/>
          </a:solidFill>
          <a:ln w="12700">
            <a:solidFill>
              <a:srgbClr val="2E2A52"/>
            </a:solidFill>
            <a:prstDash val="solid"/>
          </a:ln>
        </p:spPr>
      </p:sp>
      <p:sp>
        <p:nvSpPr>
          <p:cNvPr id="5" name="Shape 3"/>
          <p:cNvSpPr/>
          <p:nvPr/>
        </p:nvSpPr>
        <p:spPr>
          <a:xfrm>
            <a:off x="1066800" y="2222500"/>
            <a:ext cx="508000" cy="508000"/>
          </a:xfrm>
          <a:prstGeom prst="roundRect">
            <a:avLst>
              <a:gd name="adj" fmla="val 20000"/>
            </a:avLst>
          </a:prstGeom>
          <a:solidFill>
            <a:srgbClr val="2E2766"/>
          </a:solidFill>
          <a:ln/>
        </p:spPr>
      </p:sp>
      <p:sp>
        <p:nvSpPr>
          <p:cNvPr id="6" name="Text 4"/>
          <p:cNvSpPr txBox="1"/>
          <p:nvPr/>
        </p:nvSpPr>
        <p:spPr>
          <a:xfrm>
            <a:off x="1066800" y="2222500"/>
            <a:ext cx="508000" cy="508000"/>
          </a:xfrm>
          <a:prstGeom prst="rect">
            <a:avLst/>
          </a:prstGeom>
          <a:noFill/>
          <a:ln/>
        </p:spPr>
        <p:txBody>
          <a:bodyPr wrap="square" lIns="0" tIns="0" rIns="0" bIns="0" rtlCol="0" anchor="ctr"/>
          <a:lstStyle/>
          <a:p>
            <a:pPr marL="0" indent="0" algn="ctr">
              <a:buNone/>
            </a:pPr>
            <a:r>
              <a:rPr lang="en-US" sz="1600" b="1" dirty="0">
                <a:solidFill>
                  <a:srgbClr val="C4B5FD"/>
                </a:solidFill>
                <a:latin typeface="Consolas" pitchFamily="34" charset="0"/>
                <a:ea typeface="Consolas" pitchFamily="34" charset="-122"/>
                <a:cs typeface="Consolas" pitchFamily="34" charset="-120"/>
              </a:rPr>
              <a:t>int</a:t>
            </a:r>
            <a:endParaRPr lang="en-US" sz="1600" dirty="0"/>
          </a:p>
        </p:txBody>
      </p:sp>
      <p:sp>
        <p:nvSpPr>
          <p:cNvPr id="7" name="Text 5"/>
          <p:cNvSpPr txBox="1"/>
          <p:nvPr/>
        </p:nvSpPr>
        <p:spPr>
          <a:xfrm>
            <a:off x="1778000" y="2197100"/>
            <a:ext cx="3962400" cy="304800"/>
          </a:xfrm>
          <a:prstGeom prst="rect">
            <a:avLst/>
          </a:prstGeom>
          <a:noFill/>
          <a:ln/>
        </p:spPr>
        <p:txBody>
          <a:bodyPr wrap="square" lIns="0" tIns="0" rIns="0" bIns="0" rtlCol="0" anchor="t"/>
          <a:lstStyle/>
          <a:p>
            <a:pPr marL="0" indent="0">
              <a:buNone/>
            </a:pPr>
            <a:r>
              <a:rPr lang="en-US" sz="1800" dirty="0">
                <a:solidFill>
                  <a:srgbClr val="F6F4FB"/>
                </a:solidFill>
                <a:latin typeface="Segoe UI Semibold" pitchFamily="34" charset="0"/>
                <a:ea typeface="Segoe UI Semibold" pitchFamily="34" charset="-122"/>
                <a:cs typeface="Segoe UI Semibold" pitchFamily="34" charset="-120"/>
              </a:rPr>
              <a:t>Tipe data sama</a:t>
            </a:r>
            <a:endParaRPr lang="en-US" sz="1800" dirty="0"/>
          </a:p>
        </p:txBody>
      </p:sp>
      <p:sp>
        <p:nvSpPr>
          <p:cNvPr id="8" name="Text 6"/>
          <p:cNvSpPr txBox="1"/>
          <p:nvPr/>
        </p:nvSpPr>
        <p:spPr>
          <a:xfrm>
            <a:off x="1778000" y="2552700"/>
            <a:ext cx="3962400" cy="698500"/>
          </a:xfrm>
          <a:prstGeom prst="rect">
            <a:avLst/>
          </a:prstGeom>
          <a:noFill/>
          <a:ln/>
        </p:spPr>
        <p:txBody>
          <a:bodyPr wrap="square" lIns="0" tIns="0" rIns="0" bIns="0" rtlCol="0" anchor="t"/>
          <a:lstStyle/>
          <a:p>
            <a:pPr marL="0" indent="0">
              <a:lnSpc>
                <a:spcPct val="125000"/>
              </a:lnSpc>
              <a:buNone/>
            </a:pPr>
            <a:r>
              <a:rPr lang="en-US" sz="1400" dirty="0">
                <a:solidFill>
                  <a:srgbClr val="C9C4E0"/>
                </a:solidFill>
                <a:latin typeface="Segoe UI" pitchFamily="34" charset="0"/>
                <a:ea typeface="Segoe UI" pitchFamily="34" charset="-122"/>
                <a:cs typeface="Segoe UI" pitchFamily="34" charset="-120"/>
              </a:rPr>
              <a:t>Semua elemen bertipe sama, misalnya semua int atau semua string.</a:t>
            </a:r>
            <a:endParaRPr lang="en-US" sz="1400" dirty="0"/>
          </a:p>
        </p:txBody>
      </p:sp>
      <p:sp>
        <p:nvSpPr>
          <p:cNvPr id="9" name="Shape 7"/>
          <p:cNvSpPr/>
          <p:nvPr/>
        </p:nvSpPr>
        <p:spPr>
          <a:xfrm>
            <a:off x="6197600" y="1968500"/>
            <a:ext cx="5181600" cy="1460500"/>
          </a:xfrm>
          <a:prstGeom prst="roundRect">
            <a:avLst>
              <a:gd name="adj" fmla="val 8696"/>
            </a:avLst>
          </a:prstGeom>
          <a:solidFill>
            <a:srgbClr val="1D1A3A"/>
          </a:solidFill>
          <a:ln w="12700">
            <a:solidFill>
              <a:srgbClr val="2E2A52"/>
            </a:solidFill>
            <a:prstDash val="solid"/>
          </a:ln>
        </p:spPr>
      </p:sp>
      <p:sp>
        <p:nvSpPr>
          <p:cNvPr id="10" name="Shape 8"/>
          <p:cNvSpPr/>
          <p:nvPr/>
        </p:nvSpPr>
        <p:spPr>
          <a:xfrm>
            <a:off x="6451600" y="2222500"/>
            <a:ext cx="508000" cy="508000"/>
          </a:xfrm>
          <a:prstGeom prst="roundRect">
            <a:avLst>
              <a:gd name="adj" fmla="val 20000"/>
            </a:avLst>
          </a:prstGeom>
          <a:solidFill>
            <a:srgbClr val="2E2766"/>
          </a:solidFill>
          <a:ln/>
        </p:spPr>
      </p:sp>
      <p:sp>
        <p:nvSpPr>
          <p:cNvPr id="11" name="Text 9"/>
          <p:cNvSpPr txBox="1"/>
          <p:nvPr/>
        </p:nvSpPr>
        <p:spPr>
          <a:xfrm>
            <a:off x="6451600" y="2222500"/>
            <a:ext cx="508000" cy="508000"/>
          </a:xfrm>
          <a:prstGeom prst="rect">
            <a:avLst/>
          </a:prstGeom>
          <a:noFill/>
          <a:ln/>
        </p:spPr>
        <p:txBody>
          <a:bodyPr wrap="square" lIns="0" tIns="0" rIns="0" bIns="0" rtlCol="0" anchor="ctr"/>
          <a:lstStyle/>
          <a:p>
            <a:pPr marL="0" indent="0" algn="ctr">
              <a:buNone/>
            </a:pPr>
            <a:r>
              <a:rPr lang="en-US" sz="1600" b="1" dirty="0">
                <a:solidFill>
                  <a:srgbClr val="C4B5FD"/>
                </a:solidFill>
                <a:latin typeface="Consolas" pitchFamily="34" charset="0"/>
                <a:ea typeface="Consolas" pitchFamily="34" charset="-122"/>
                <a:cs typeface="Consolas" pitchFamily="34" charset="-120"/>
              </a:rPr>
              <a:t>[5]</a:t>
            </a:r>
            <a:endParaRPr lang="en-US" sz="1600" dirty="0"/>
          </a:p>
        </p:txBody>
      </p:sp>
      <p:sp>
        <p:nvSpPr>
          <p:cNvPr id="12" name="Text 10"/>
          <p:cNvSpPr txBox="1"/>
          <p:nvPr/>
        </p:nvSpPr>
        <p:spPr>
          <a:xfrm>
            <a:off x="7162800" y="2197100"/>
            <a:ext cx="3962400" cy="304800"/>
          </a:xfrm>
          <a:prstGeom prst="rect">
            <a:avLst/>
          </a:prstGeom>
          <a:noFill/>
          <a:ln/>
        </p:spPr>
        <p:txBody>
          <a:bodyPr wrap="square" lIns="0" tIns="0" rIns="0" bIns="0" rtlCol="0" anchor="t"/>
          <a:lstStyle/>
          <a:p>
            <a:pPr marL="0" indent="0">
              <a:buNone/>
            </a:pPr>
            <a:r>
              <a:rPr lang="en-US" sz="1800" dirty="0">
                <a:solidFill>
                  <a:srgbClr val="F6F4FB"/>
                </a:solidFill>
                <a:latin typeface="Segoe UI Semibold" pitchFamily="34" charset="0"/>
                <a:ea typeface="Segoe UI Semibold" pitchFamily="34" charset="-122"/>
                <a:cs typeface="Segoe UI Semibold" pitchFamily="34" charset="-120"/>
              </a:rPr>
              <a:t>Ukuran tetap</a:t>
            </a:r>
            <a:endParaRPr lang="en-US" sz="1800" dirty="0"/>
          </a:p>
        </p:txBody>
      </p:sp>
      <p:sp>
        <p:nvSpPr>
          <p:cNvPr id="13" name="Text 11"/>
          <p:cNvSpPr txBox="1"/>
          <p:nvPr/>
        </p:nvSpPr>
        <p:spPr>
          <a:xfrm>
            <a:off x="7162800" y="2552700"/>
            <a:ext cx="3962400" cy="698500"/>
          </a:xfrm>
          <a:prstGeom prst="rect">
            <a:avLst/>
          </a:prstGeom>
          <a:noFill/>
          <a:ln/>
        </p:spPr>
        <p:txBody>
          <a:bodyPr wrap="square" lIns="0" tIns="0" rIns="0" bIns="0" rtlCol="0" anchor="t"/>
          <a:lstStyle/>
          <a:p>
            <a:pPr marL="0" indent="0">
              <a:lnSpc>
                <a:spcPct val="125000"/>
              </a:lnSpc>
              <a:buNone/>
            </a:pPr>
            <a:r>
              <a:rPr lang="en-US" sz="1400" dirty="0">
                <a:solidFill>
                  <a:srgbClr val="C9C4E0"/>
                </a:solidFill>
                <a:latin typeface="Segoe UI" pitchFamily="34" charset="0"/>
                <a:ea typeface="Segoe UI" pitchFamily="34" charset="-122"/>
                <a:cs typeface="Segoe UI" pitchFamily="34" charset="-120"/>
              </a:rPr>
              <a:t>Setelah dibuat, jumlah elemen tidak bisa ditambah atau dikurangi.</a:t>
            </a:r>
            <a:endParaRPr lang="en-US" sz="1400" dirty="0"/>
          </a:p>
        </p:txBody>
      </p:sp>
      <p:sp>
        <p:nvSpPr>
          <p:cNvPr id="14" name="Shape 12"/>
          <p:cNvSpPr/>
          <p:nvPr/>
        </p:nvSpPr>
        <p:spPr>
          <a:xfrm>
            <a:off x="812800" y="3632200"/>
            <a:ext cx="5181600" cy="1460500"/>
          </a:xfrm>
          <a:prstGeom prst="roundRect">
            <a:avLst>
              <a:gd name="adj" fmla="val 8696"/>
            </a:avLst>
          </a:prstGeom>
          <a:solidFill>
            <a:srgbClr val="1D1A3A"/>
          </a:solidFill>
          <a:ln w="12700">
            <a:solidFill>
              <a:srgbClr val="2E2A52"/>
            </a:solidFill>
            <a:prstDash val="solid"/>
          </a:ln>
        </p:spPr>
      </p:sp>
      <p:sp>
        <p:nvSpPr>
          <p:cNvPr id="15" name="Shape 13"/>
          <p:cNvSpPr/>
          <p:nvPr/>
        </p:nvSpPr>
        <p:spPr>
          <a:xfrm>
            <a:off x="1066800" y="3886200"/>
            <a:ext cx="508000" cy="508000"/>
          </a:xfrm>
          <a:prstGeom prst="roundRect">
            <a:avLst>
              <a:gd name="adj" fmla="val 20000"/>
            </a:avLst>
          </a:prstGeom>
          <a:solidFill>
            <a:srgbClr val="2E2766"/>
          </a:solidFill>
          <a:ln/>
        </p:spPr>
      </p:sp>
      <p:sp>
        <p:nvSpPr>
          <p:cNvPr id="16" name="Text 14"/>
          <p:cNvSpPr txBox="1"/>
          <p:nvPr/>
        </p:nvSpPr>
        <p:spPr>
          <a:xfrm>
            <a:off x="1066800" y="3886200"/>
            <a:ext cx="508000" cy="508000"/>
          </a:xfrm>
          <a:prstGeom prst="rect">
            <a:avLst/>
          </a:prstGeom>
          <a:noFill/>
          <a:ln/>
        </p:spPr>
        <p:txBody>
          <a:bodyPr wrap="square" lIns="0" tIns="0" rIns="0" bIns="0" rtlCol="0" anchor="ctr"/>
          <a:lstStyle/>
          <a:p>
            <a:pPr marL="0" indent="0" algn="ctr">
              <a:buNone/>
            </a:pPr>
            <a:r>
              <a:rPr lang="en-US" sz="1600" b="1" dirty="0">
                <a:solidFill>
                  <a:srgbClr val="C4B5FD"/>
                </a:solidFill>
                <a:latin typeface="Consolas" pitchFamily="34" charset="0"/>
                <a:ea typeface="Consolas" pitchFamily="34" charset="-122"/>
                <a:cs typeface="Consolas" pitchFamily="34" charset="-120"/>
              </a:rPr>
              <a:t>0</a:t>
            </a:r>
            <a:endParaRPr lang="en-US" sz="1600" dirty="0"/>
          </a:p>
        </p:txBody>
      </p:sp>
      <p:sp>
        <p:nvSpPr>
          <p:cNvPr id="17" name="Text 15"/>
          <p:cNvSpPr txBox="1"/>
          <p:nvPr/>
        </p:nvSpPr>
        <p:spPr>
          <a:xfrm>
            <a:off x="1778000" y="3860800"/>
            <a:ext cx="3962400" cy="304800"/>
          </a:xfrm>
          <a:prstGeom prst="rect">
            <a:avLst/>
          </a:prstGeom>
          <a:noFill/>
          <a:ln/>
        </p:spPr>
        <p:txBody>
          <a:bodyPr wrap="square" lIns="0" tIns="0" rIns="0" bIns="0" rtlCol="0" anchor="t"/>
          <a:lstStyle/>
          <a:p>
            <a:pPr marL="0" indent="0">
              <a:buNone/>
            </a:pPr>
            <a:r>
              <a:rPr lang="en-US" sz="1800" dirty="0">
                <a:solidFill>
                  <a:srgbClr val="F6F4FB"/>
                </a:solidFill>
                <a:latin typeface="Segoe UI Semibold" pitchFamily="34" charset="0"/>
                <a:ea typeface="Segoe UI Semibold" pitchFamily="34" charset="-122"/>
                <a:cs typeface="Segoe UI Semibold" pitchFamily="34" charset="-120"/>
              </a:rPr>
              <a:t>Index mulai dari 0</a:t>
            </a:r>
            <a:endParaRPr lang="en-US" sz="1800" dirty="0"/>
          </a:p>
        </p:txBody>
      </p:sp>
      <p:sp>
        <p:nvSpPr>
          <p:cNvPr id="18" name="Text 16"/>
          <p:cNvSpPr txBox="1"/>
          <p:nvPr/>
        </p:nvSpPr>
        <p:spPr>
          <a:xfrm>
            <a:off x="1778000" y="4216400"/>
            <a:ext cx="3962400" cy="698500"/>
          </a:xfrm>
          <a:prstGeom prst="rect">
            <a:avLst/>
          </a:prstGeom>
          <a:noFill/>
          <a:ln/>
        </p:spPr>
        <p:txBody>
          <a:bodyPr wrap="square" lIns="0" tIns="0" rIns="0" bIns="0" rtlCol="0" anchor="t"/>
          <a:lstStyle/>
          <a:p>
            <a:pPr marL="0" indent="0">
              <a:lnSpc>
                <a:spcPct val="125000"/>
              </a:lnSpc>
              <a:buNone/>
            </a:pPr>
            <a:r>
              <a:rPr lang="en-US" sz="1400" dirty="0">
                <a:solidFill>
                  <a:srgbClr val="C9C4E0"/>
                </a:solidFill>
                <a:latin typeface="Segoe UI" pitchFamily="34" charset="0"/>
                <a:ea typeface="Segoe UI" pitchFamily="34" charset="-122"/>
                <a:cs typeface="Segoe UI" pitchFamily="34" charset="-120"/>
              </a:rPr>
              <a:t>Elemen pertama di index 0, elemen terakhir di Length − 1.</a:t>
            </a:r>
            <a:endParaRPr lang="en-US" sz="1400" dirty="0"/>
          </a:p>
        </p:txBody>
      </p:sp>
      <p:sp>
        <p:nvSpPr>
          <p:cNvPr id="19" name="Shape 17"/>
          <p:cNvSpPr/>
          <p:nvPr/>
        </p:nvSpPr>
        <p:spPr>
          <a:xfrm>
            <a:off x="6197600" y="3632200"/>
            <a:ext cx="5181600" cy="1460500"/>
          </a:xfrm>
          <a:prstGeom prst="roundRect">
            <a:avLst>
              <a:gd name="adj" fmla="val 8696"/>
            </a:avLst>
          </a:prstGeom>
          <a:solidFill>
            <a:srgbClr val="1D1A3A"/>
          </a:solidFill>
          <a:ln w="12700">
            <a:solidFill>
              <a:srgbClr val="2E2A52"/>
            </a:solidFill>
            <a:prstDash val="solid"/>
          </a:ln>
        </p:spPr>
      </p:sp>
      <p:sp>
        <p:nvSpPr>
          <p:cNvPr id="20" name="Shape 18"/>
          <p:cNvSpPr/>
          <p:nvPr/>
        </p:nvSpPr>
        <p:spPr>
          <a:xfrm>
            <a:off x="6451600" y="3886200"/>
            <a:ext cx="508000" cy="508000"/>
          </a:xfrm>
          <a:prstGeom prst="roundRect">
            <a:avLst>
              <a:gd name="adj" fmla="val 20000"/>
            </a:avLst>
          </a:prstGeom>
          <a:solidFill>
            <a:srgbClr val="2E2766"/>
          </a:solidFill>
          <a:ln/>
        </p:spPr>
      </p:sp>
      <p:sp>
        <p:nvSpPr>
          <p:cNvPr id="21" name="Text 19"/>
          <p:cNvSpPr txBox="1"/>
          <p:nvPr/>
        </p:nvSpPr>
        <p:spPr>
          <a:xfrm>
            <a:off x="6451600" y="3886200"/>
            <a:ext cx="508000" cy="508000"/>
          </a:xfrm>
          <a:prstGeom prst="rect">
            <a:avLst/>
          </a:prstGeom>
          <a:noFill/>
          <a:ln/>
        </p:spPr>
        <p:txBody>
          <a:bodyPr wrap="square" lIns="0" tIns="0" rIns="0" bIns="0" rtlCol="0" anchor="ctr"/>
          <a:lstStyle/>
          <a:p>
            <a:pPr marL="0" indent="0" algn="ctr">
              <a:buNone/>
            </a:pPr>
            <a:r>
              <a:rPr lang="en-US" sz="1600" b="1" dirty="0">
                <a:solidFill>
                  <a:srgbClr val="C4B5FD"/>
                </a:solidFill>
                <a:latin typeface="Consolas" pitchFamily="34" charset="0"/>
                <a:ea typeface="Consolas" pitchFamily="34" charset="-122"/>
                <a:cs typeface="Consolas" pitchFamily="34" charset="-120"/>
              </a:rPr>
              <a:t>[i]</a:t>
            </a:r>
            <a:endParaRPr lang="en-US" sz="1600" dirty="0"/>
          </a:p>
        </p:txBody>
      </p:sp>
      <p:sp>
        <p:nvSpPr>
          <p:cNvPr id="22" name="Text 20"/>
          <p:cNvSpPr txBox="1"/>
          <p:nvPr/>
        </p:nvSpPr>
        <p:spPr>
          <a:xfrm>
            <a:off x="7162800" y="3860800"/>
            <a:ext cx="3962400" cy="304800"/>
          </a:xfrm>
          <a:prstGeom prst="rect">
            <a:avLst/>
          </a:prstGeom>
          <a:noFill/>
          <a:ln/>
        </p:spPr>
        <p:txBody>
          <a:bodyPr wrap="square" lIns="0" tIns="0" rIns="0" bIns="0" rtlCol="0" anchor="t"/>
          <a:lstStyle/>
          <a:p>
            <a:pPr marL="0" indent="0">
              <a:buNone/>
            </a:pPr>
            <a:r>
              <a:rPr lang="en-US" sz="1800" dirty="0">
                <a:solidFill>
                  <a:srgbClr val="F6F4FB"/>
                </a:solidFill>
                <a:latin typeface="Segoe UI Semibold" pitchFamily="34" charset="0"/>
                <a:ea typeface="Segoe UI Semibold" pitchFamily="34" charset="-122"/>
                <a:cs typeface="Segoe UI Semibold" pitchFamily="34" charset="-120"/>
              </a:rPr>
              <a:t>Diakses lewat index</a:t>
            </a:r>
            <a:endParaRPr lang="en-US" sz="1800" dirty="0"/>
          </a:p>
        </p:txBody>
      </p:sp>
      <p:sp>
        <p:nvSpPr>
          <p:cNvPr id="23" name="Text 21"/>
          <p:cNvSpPr txBox="1"/>
          <p:nvPr/>
        </p:nvSpPr>
        <p:spPr>
          <a:xfrm>
            <a:off x="7162800" y="4216400"/>
            <a:ext cx="3962400" cy="698500"/>
          </a:xfrm>
          <a:prstGeom prst="rect">
            <a:avLst/>
          </a:prstGeom>
          <a:noFill/>
          <a:ln/>
        </p:spPr>
        <p:txBody>
          <a:bodyPr wrap="square" lIns="0" tIns="0" rIns="0" bIns="0" rtlCol="0" anchor="t"/>
          <a:lstStyle/>
          <a:p>
            <a:pPr marL="0" indent="0">
              <a:lnSpc>
                <a:spcPct val="125000"/>
              </a:lnSpc>
              <a:buNone/>
            </a:pPr>
            <a:r>
              <a:rPr lang="en-US" sz="1400" dirty="0">
                <a:solidFill>
                  <a:srgbClr val="C9C4E0"/>
                </a:solidFill>
                <a:latin typeface="Segoe UI" pitchFamily="34" charset="0"/>
                <a:ea typeface="Segoe UI" pitchFamily="34" charset="-122"/>
                <a:cs typeface="Segoe UI" pitchFamily="34" charset="-120"/>
              </a:rPr>
              <a:t>Setiap elemen diambil dengan menulis namaArray[index].</a:t>
            </a:r>
            <a:endParaRPr lang="en-US" sz="14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ARRAY 1 DIMENSI</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Data tersusun dalam satu baris</a:t>
            </a:r>
            <a:endParaRPr lang="en-US" sz="3600" dirty="0"/>
          </a:p>
        </p:txBody>
      </p:sp>
      <p:sp>
        <p:nvSpPr>
          <p:cNvPr id="4" name="Kode"/>
          <p:cNvSpPr/>
          <p:nvPr/>
        </p:nvSpPr>
        <p:spPr>
          <a:xfrm>
            <a:off x="812800" y="1841500"/>
            <a:ext cx="5207000" cy="508000"/>
          </a:xfrm>
          <a:prstGeom prst="roundRect">
            <a:avLst>
              <a:gd name="adj" fmla="val 25000"/>
            </a:avLst>
          </a:prstGeom>
          <a:solidFill>
            <a:srgbClr val="1B1838"/>
          </a:solidFill>
          <a:ln w="12700">
            <a:solidFill>
              <a:srgbClr val="1B1838"/>
            </a:solidFill>
            <a:prstDash val="solid"/>
          </a:ln>
        </p:spPr>
      </p:sp>
      <p:sp>
        <p:nvSpPr>
          <p:cNvPr id="5" name="Text 3"/>
          <p:cNvSpPr txBox="1"/>
          <p:nvPr/>
        </p:nvSpPr>
        <p:spPr>
          <a:xfrm>
            <a:off x="1066800" y="1993900"/>
            <a:ext cx="4699000" cy="203200"/>
          </a:xfrm>
          <a:prstGeom prst="rect">
            <a:avLst/>
          </a:prstGeom>
          <a:noFill/>
          <a:ln/>
        </p:spPr>
        <p:txBody>
          <a:bodyPr wrap="square" lIns="0" tIns="0" rIns="0" bIns="0" rtlCol="0" anchor="ctr"/>
          <a:lstStyle/>
          <a:p>
            <a:pPr marL="0" indent="0">
              <a:lnSpc>
                <a:spcPct val="125000"/>
              </a:lnSpc>
              <a:buNone/>
            </a:pPr>
            <a:r>
              <a:rPr lang="en-US" sz="1500" dirty="0">
                <a:solidFill>
                  <a:srgbClr val="C792EA"/>
                </a:solidFill>
                <a:latin typeface="Consolas" pitchFamily="34" charset="0"/>
                <a:ea typeface="Consolas" pitchFamily="34" charset="-122"/>
                <a:cs typeface="Consolas" pitchFamily="34" charset="-120"/>
              </a:rPr>
              <a:t>int</a:t>
            </a:r>
            <a:r>
              <a:rPr lang="en-US" sz="1500" dirty="0">
                <a:solidFill>
                  <a:srgbClr val="E6E3F5"/>
                </a:solidFill>
                <a:latin typeface="Consolas" pitchFamily="34" charset="0"/>
                <a:ea typeface="Consolas" pitchFamily="34" charset="-122"/>
                <a:cs typeface="Consolas" pitchFamily="34" charset="-120"/>
              </a:rPr>
              <a:t>[] nilai = { </a:t>
            </a:r>
            <a:r>
              <a:rPr lang="en-US" sz="1500" dirty="0">
                <a:solidFill>
                  <a:srgbClr val="F78C6C"/>
                </a:solidFill>
                <a:latin typeface="Consolas" pitchFamily="34" charset="0"/>
                <a:ea typeface="Consolas" pitchFamily="34" charset="-122"/>
                <a:cs typeface="Consolas" pitchFamily="34" charset="-120"/>
              </a:rPr>
              <a:t>80</a:t>
            </a:r>
            <a:r>
              <a:rPr lang="en-US" sz="1500" dirty="0">
                <a:solidFill>
                  <a:srgbClr val="E6E3F5"/>
                </a:solidFill>
                <a:latin typeface="Consolas" pitchFamily="34" charset="0"/>
                <a:ea typeface="Consolas" pitchFamily="34" charset="-122"/>
                <a:cs typeface="Consolas" pitchFamily="34" charset="-120"/>
              </a:rPr>
              <a:t>, </a:t>
            </a:r>
            <a:r>
              <a:rPr lang="en-US" sz="1500" dirty="0">
                <a:solidFill>
                  <a:srgbClr val="F78C6C"/>
                </a:solidFill>
                <a:latin typeface="Consolas" pitchFamily="34" charset="0"/>
                <a:ea typeface="Consolas" pitchFamily="34" charset="-122"/>
                <a:cs typeface="Consolas" pitchFamily="34" charset="-120"/>
              </a:rPr>
              <a:t>75</a:t>
            </a:r>
            <a:r>
              <a:rPr lang="en-US" sz="1500" dirty="0">
                <a:solidFill>
                  <a:srgbClr val="E6E3F5"/>
                </a:solidFill>
                <a:latin typeface="Consolas" pitchFamily="34" charset="0"/>
                <a:ea typeface="Consolas" pitchFamily="34" charset="-122"/>
                <a:cs typeface="Consolas" pitchFamily="34" charset="-120"/>
              </a:rPr>
              <a:t>, </a:t>
            </a:r>
            <a:r>
              <a:rPr lang="en-US" sz="1500" dirty="0">
                <a:solidFill>
                  <a:srgbClr val="F78C6C"/>
                </a:solidFill>
                <a:latin typeface="Consolas" pitchFamily="34" charset="0"/>
                <a:ea typeface="Consolas" pitchFamily="34" charset="-122"/>
                <a:cs typeface="Consolas" pitchFamily="34" charset="-120"/>
              </a:rPr>
              <a:t>90</a:t>
            </a:r>
            <a:r>
              <a:rPr lang="en-US" sz="1500" dirty="0">
                <a:solidFill>
                  <a:srgbClr val="E6E3F5"/>
                </a:solidFill>
                <a:latin typeface="Consolas" pitchFamily="34" charset="0"/>
                <a:ea typeface="Consolas" pitchFamily="34" charset="-122"/>
                <a:cs typeface="Consolas" pitchFamily="34" charset="-120"/>
              </a:rPr>
              <a:t>, </a:t>
            </a:r>
            <a:r>
              <a:rPr lang="en-US" sz="1500" dirty="0">
                <a:solidFill>
                  <a:srgbClr val="F78C6C"/>
                </a:solidFill>
                <a:latin typeface="Consolas" pitchFamily="34" charset="0"/>
                <a:ea typeface="Consolas" pitchFamily="34" charset="-122"/>
                <a:cs typeface="Consolas" pitchFamily="34" charset="-120"/>
              </a:rPr>
              <a:t>85</a:t>
            </a:r>
            <a:r>
              <a:rPr lang="en-US" sz="1500" dirty="0">
                <a:solidFill>
                  <a:srgbClr val="E6E3F5"/>
                </a:solidFill>
                <a:latin typeface="Consolas" pitchFamily="34" charset="0"/>
                <a:ea typeface="Consolas" pitchFamily="34" charset="-122"/>
                <a:cs typeface="Consolas" pitchFamily="34" charset="-120"/>
              </a:rPr>
              <a:t>, </a:t>
            </a:r>
            <a:r>
              <a:rPr lang="en-US" sz="1500" dirty="0">
                <a:solidFill>
                  <a:srgbClr val="F78C6C"/>
                </a:solidFill>
                <a:latin typeface="Consolas" pitchFamily="34" charset="0"/>
                <a:ea typeface="Consolas" pitchFamily="34" charset="-122"/>
                <a:cs typeface="Consolas" pitchFamily="34" charset="-120"/>
              </a:rPr>
              <a:t>70 </a:t>
            </a:r>
            <a:r>
              <a:rPr lang="en-US" sz="1500" dirty="0">
                <a:solidFill>
                  <a:srgbClr val="E6E3F5"/>
                </a:solidFill>
                <a:latin typeface="Consolas" pitchFamily="34" charset="0"/>
                <a:ea typeface="Consolas" pitchFamily="34" charset="-122"/>
                <a:cs typeface="Consolas" pitchFamily="34" charset="-120"/>
              </a:rPr>
              <a:t>};</a:t>
            </a:r>
            <a:endParaRPr lang="en-US" sz="1500" dirty="0"/>
          </a:p>
        </p:txBody>
      </p:sp>
      <p:sp>
        <p:nvSpPr>
          <p:cNvPr id="6" name="Text 4"/>
          <p:cNvSpPr txBox="1"/>
          <p:nvPr/>
        </p:nvSpPr>
        <p:spPr>
          <a:xfrm>
            <a:off x="812800" y="2540000"/>
            <a:ext cx="1987550" cy="228600"/>
          </a:xfrm>
          <a:prstGeom prst="rect">
            <a:avLst/>
          </a:prstGeom>
          <a:noFill/>
          <a:ln/>
        </p:spPr>
        <p:txBody>
          <a:bodyPr wrap="square" lIns="0" tIns="0" rIns="0" bIns="0" rtlCol="0" anchor="t"/>
          <a:lstStyle/>
          <a:p>
            <a:pPr marL="0" indent="0" algn="ctr">
              <a:buNone/>
            </a:pPr>
            <a:r>
              <a:rPr lang="en-US" sz="1300" b="1" dirty="0">
                <a:solidFill>
                  <a:srgbClr val="6D28D9"/>
                </a:solidFill>
                <a:latin typeface="Consolas" pitchFamily="34" charset="0"/>
                <a:ea typeface="Consolas" pitchFamily="34" charset="-122"/>
                <a:cs typeface="Consolas" pitchFamily="34" charset="-120"/>
              </a:rPr>
              <a:t>index 0</a:t>
            </a:r>
            <a:endParaRPr lang="en-US" sz="1300" dirty="0"/>
          </a:p>
        </p:txBody>
      </p:sp>
      <p:sp>
        <p:nvSpPr>
          <p:cNvPr id="7" name="Shape 5"/>
          <p:cNvSpPr/>
          <p:nvPr/>
        </p:nvSpPr>
        <p:spPr>
          <a:xfrm>
            <a:off x="812800" y="2832100"/>
            <a:ext cx="1987550" cy="1016000"/>
          </a:xfrm>
          <a:prstGeom prst="roundRect">
            <a:avLst>
              <a:gd name="adj" fmla="val 11250"/>
            </a:avLst>
          </a:prstGeom>
          <a:solidFill>
            <a:srgbClr val="6D28D9"/>
          </a:solidFill>
          <a:ln/>
        </p:spPr>
      </p:sp>
      <p:sp>
        <p:nvSpPr>
          <p:cNvPr id="8" name="Text 6"/>
          <p:cNvSpPr txBox="1"/>
          <p:nvPr/>
        </p:nvSpPr>
        <p:spPr>
          <a:xfrm>
            <a:off x="812800" y="2832100"/>
            <a:ext cx="1987550" cy="1016000"/>
          </a:xfrm>
          <a:prstGeom prst="rect">
            <a:avLst/>
          </a:prstGeom>
          <a:noFill/>
          <a:ln/>
        </p:spPr>
        <p:txBody>
          <a:bodyPr wrap="square" lIns="0" tIns="0" rIns="0" bIns="0" rtlCol="0" anchor="ctr"/>
          <a:lstStyle/>
          <a:p>
            <a:pPr marL="0" indent="0" algn="ctr">
              <a:buNone/>
            </a:pPr>
            <a:r>
              <a:rPr lang="en-US" sz="3600" dirty="0">
                <a:solidFill>
                  <a:srgbClr val="F6F4FB"/>
                </a:solidFill>
                <a:latin typeface="Segoe UI Semibold" pitchFamily="34" charset="0"/>
                <a:ea typeface="Segoe UI Semibold" pitchFamily="34" charset="-122"/>
                <a:cs typeface="Segoe UI Semibold" pitchFamily="34" charset="-120"/>
              </a:rPr>
              <a:t>80</a:t>
            </a:r>
            <a:endParaRPr lang="en-US" sz="3600" dirty="0"/>
          </a:p>
        </p:txBody>
      </p:sp>
      <p:sp>
        <p:nvSpPr>
          <p:cNvPr id="9" name="Text 7"/>
          <p:cNvSpPr txBox="1"/>
          <p:nvPr/>
        </p:nvSpPr>
        <p:spPr>
          <a:xfrm>
            <a:off x="812800" y="3937000"/>
            <a:ext cx="1987550" cy="228600"/>
          </a:xfrm>
          <a:prstGeom prst="rect">
            <a:avLst/>
          </a:prstGeom>
          <a:noFill/>
          <a:ln/>
        </p:spPr>
        <p:txBody>
          <a:bodyPr wrap="square" lIns="0" tIns="0" rIns="0" bIns="0" rtlCol="0" anchor="t"/>
          <a:lstStyle/>
          <a:p>
            <a:pPr marL="0" indent="0" algn="ctr">
              <a:buNone/>
            </a:pPr>
            <a:r>
              <a:rPr lang="en-US" sz="1300" dirty="0">
                <a:solidFill>
                  <a:srgbClr val="4A4766"/>
                </a:solidFill>
                <a:latin typeface="Consolas" pitchFamily="34" charset="0"/>
                <a:ea typeface="Consolas" pitchFamily="34" charset="-122"/>
                <a:cs typeface="Consolas" pitchFamily="34" charset="-120"/>
              </a:rPr>
              <a:t>nilai[0]</a:t>
            </a:r>
            <a:endParaRPr lang="en-US" sz="1300" dirty="0"/>
          </a:p>
        </p:txBody>
      </p:sp>
      <p:sp>
        <p:nvSpPr>
          <p:cNvPr id="10" name="Text 8"/>
          <p:cNvSpPr txBox="1"/>
          <p:nvPr/>
        </p:nvSpPr>
        <p:spPr>
          <a:xfrm>
            <a:off x="2952750" y="2540000"/>
            <a:ext cx="1987550" cy="228600"/>
          </a:xfrm>
          <a:prstGeom prst="rect">
            <a:avLst/>
          </a:prstGeom>
          <a:noFill/>
          <a:ln/>
        </p:spPr>
        <p:txBody>
          <a:bodyPr wrap="square" lIns="0" tIns="0" rIns="0" bIns="0" rtlCol="0" anchor="t"/>
          <a:lstStyle/>
          <a:p>
            <a:pPr marL="0" indent="0" algn="ctr">
              <a:buNone/>
            </a:pPr>
            <a:r>
              <a:rPr lang="en-US" sz="1300" b="1" dirty="0">
                <a:solidFill>
                  <a:srgbClr val="6B6789"/>
                </a:solidFill>
                <a:latin typeface="Consolas" pitchFamily="34" charset="0"/>
                <a:ea typeface="Consolas" pitchFamily="34" charset="-122"/>
                <a:cs typeface="Consolas" pitchFamily="34" charset="-120"/>
              </a:rPr>
              <a:t>index 1</a:t>
            </a:r>
            <a:endParaRPr lang="en-US" sz="1300" dirty="0"/>
          </a:p>
        </p:txBody>
      </p:sp>
      <p:sp>
        <p:nvSpPr>
          <p:cNvPr id="11" name="Shape 9"/>
          <p:cNvSpPr/>
          <p:nvPr/>
        </p:nvSpPr>
        <p:spPr>
          <a:xfrm>
            <a:off x="2952750" y="2832100"/>
            <a:ext cx="1987550" cy="1016000"/>
          </a:xfrm>
          <a:prstGeom prst="roundRect">
            <a:avLst>
              <a:gd name="adj" fmla="val 11250"/>
            </a:avLst>
          </a:prstGeom>
          <a:solidFill>
            <a:srgbClr val="1B1838"/>
          </a:solidFill>
          <a:ln/>
        </p:spPr>
      </p:sp>
      <p:sp>
        <p:nvSpPr>
          <p:cNvPr id="12" name="Text 10"/>
          <p:cNvSpPr txBox="1"/>
          <p:nvPr/>
        </p:nvSpPr>
        <p:spPr>
          <a:xfrm>
            <a:off x="2952750" y="2832100"/>
            <a:ext cx="1987550" cy="1016000"/>
          </a:xfrm>
          <a:prstGeom prst="rect">
            <a:avLst/>
          </a:prstGeom>
          <a:noFill/>
          <a:ln/>
        </p:spPr>
        <p:txBody>
          <a:bodyPr wrap="square" lIns="0" tIns="0" rIns="0" bIns="0" rtlCol="0" anchor="ctr"/>
          <a:lstStyle/>
          <a:p>
            <a:pPr marL="0" indent="0" algn="ctr">
              <a:buNone/>
            </a:pPr>
            <a:r>
              <a:rPr lang="en-US" sz="3600" dirty="0">
                <a:solidFill>
                  <a:srgbClr val="F6F4FB"/>
                </a:solidFill>
                <a:latin typeface="Segoe UI Semibold" pitchFamily="34" charset="0"/>
                <a:ea typeface="Segoe UI Semibold" pitchFamily="34" charset="-122"/>
                <a:cs typeface="Segoe UI Semibold" pitchFamily="34" charset="-120"/>
              </a:rPr>
              <a:t>75</a:t>
            </a:r>
            <a:endParaRPr lang="en-US" sz="3600" dirty="0"/>
          </a:p>
        </p:txBody>
      </p:sp>
      <p:sp>
        <p:nvSpPr>
          <p:cNvPr id="13" name="Text 11"/>
          <p:cNvSpPr txBox="1"/>
          <p:nvPr/>
        </p:nvSpPr>
        <p:spPr>
          <a:xfrm>
            <a:off x="2952750" y="3937000"/>
            <a:ext cx="1987550" cy="228600"/>
          </a:xfrm>
          <a:prstGeom prst="rect">
            <a:avLst/>
          </a:prstGeom>
          <a:noFill/>
          <a:ln/>
        </p:spPr>
        <p:txBody>
          <a:bodyPr wrap="square" lIns="0" tIns="0" rIns="0" bIns="0" rtlCol="0" anchor="t"/>
          <a:lstStyle/>
          <a:p>
            <a:pPr marL="0" indent="0" algn="ctr">
              <a:buNone/>
            </a:pPr>
            <a:r>
              <a:rPr lang="en-US" sz="1300" dirty="0">
                <a:solidFill>
                  <a:srgbClr val="4A4766"/>
                </a:solidFill>
                <a:latin typeface="Consolas" pitchFamily="34" charset="0"/>
                <a:ea typeface="Consolas" pitchFamily="34" charset="-122"/>
                <a:cs typeface="Consolas" pitchFamily="34" charset="-120"/>
              </a:rPr>
              <a:t>nilai[1]</a:t>
            </a:r>
            <a:endParaRPr lang="en-US" sz="1300" dirty="0"/>
          </a:p>
        </p:txBody>
      </p:sp>
      <p:sp>
        <p:nvSpPr>
          <p:cNvPr id="14" name="Text 12"/>
          <p:cNvSpPr txBox="1"/>
          <p:nvPr/>
        </p:nvSpPr>
        <p:spPr>
          <a:xfrm>
            <a:off x="5092700" y="2540000"/>
            <a:ext cx="1987550" cy="228600"/>
          </a:xfrm>
          <a:prstGeom prst="rect">
            <a:avLst/>
          </a:prstGeom>
          <a:noFill/>
          <a:ln/>
        </p:spPr>
        <p:txBody>
          <a:bodyPr wrap="square" lIns="0" tIns="0" rIns="0" bIns="0" rtlCol="0" anchor="t"/>
          <a:lstStyle/>
          <a:p>
            <a:pPr marL="0" indent="0" algn="ctr">
              <a:buNone/>
            </a:pPr>
            <a:r>
              <a:rPr lang="en-US" sz="1300" b="1" dirty="0">
                <a:solidFill>
                  <a:srgbClr val="6B6789"/>
                </a:solidFill>
                <a:latin typeface="Consolas" pitchFamily="34" charset="0"/>
                <a:ea typeface="Consolas" pitchFamily="34" charset="-122"/>
                <a:cs typeface="Consolas" pitchFamily="34" charset="-120"/>
              </a:rPr>
              <a:t>index 2</a:t>
            </a:r>
            <a:endParaRPr lang="en-US" sz="1300" dirty="0"/>
          </a:p>
        </p:txBody>
      </p:sp>
      <p:sp>
        <p:nvSpPr>
          <p:cNvPr id="15" name="Shape 13"/>
          <p:cNvSpPr/>
          <p:nvPr/>
        </p:nvSpPr>
        <p:spPr>
          <a:xfrm>
            <a:off x="5092700" y="2832100"/>
            <a:ext cx="1987550" cy="1016000"/>
          </a:xfrm>
          <a:prstGeom prst="roundRect">
            <a:avLst>
              <a:gd name="adj" fmla="val 11250"/>
            </a:avLst>
          </a:prstGeom>
          <a:solidFill>
            <a:srgbClr val="1B1838"/>
          </a:solidFill>
          <a:ln/>
        </p:spPr>
      </p:sp>
      <p:sp>
        <p:nvSpPr>
          <p:cNvPr id="16" name="Text 14"/>
          <p:cNvSpPr txBox="1"/>
          <p:nvPr/>
        </p:nvSpPr>
        <p:spPr>
          <a:xfrm>
            <a:off x="5092700" y="2832100"/>
            <a:ext cx="1987550" cy="1016000"/>
          </a:xfrm>
          <a:prstGeom prst="rect">
            <a:avLst/>
          </a:prstGeom>
          <a:noFill/>
          <a:ln/>
        </p:spPr>
        <p:txBody>
          <a:bodyPr wrap="square" lIns="0" tIns="0" rIns="0" bIns="0" rtlCol="0" anchor="ctr"/>
          <a:lstStyle/>
          <a:p>
            <a:pPr marL="0" indent="0" algn="ctr">
              <a:buNone/>
            </a:pPr>
            <a:r>
              <a:rPr lang="en-US" sz="3600" dirty="0">
                <a:solidFill>
                  <a:srgbClr val="F6F4FB"/>
                </a:solidFill>
                <a:latin typeface="Segoe UI Semibold" pitchFamily="34" charset="0"/>
                <a:ea typeface="Segoe UI Semibold" pitchFamily="34" charset="-122"/>
                <a:cs typeface="Segoe UI Semibold" pitchFamily="34" charset="-120"/>
              </a:rPr>
              <a:t>90</a:t>
            </a:r>
            <a:endParaRPr lang="en-US" sz="3600" dirty="0"/>
          </a:p>
        </p:txBody>
      </p:sp>
      <p:sp>
        <p:nvSpPr>
          <p:cNvPr id="17" name="Text 15"/>
          <p:cNvSpPr txBox="1"/>
          <p:nvPr/>
        </p:nvSpPr>
        <p:spPr>
          <a:xfrm>
            <a:off x="5092700" y="3937000"/>
            <a:ext cx="1987550" cy="228600"/>
          </a:xfrm>
          <a:prstGeom prst="rect">
            <a:avLst/>
          </a:prstGeom>
          <a:noFill/>
          <a:ln/>
        </p:spPr>
        <p:txBody>
          <a:bodyPr wrap="square" lIns="0" tIns="0" rIns="0" bIns="0" rtlCol="0" anchor="t"/>
          <a:lstStyle/>
          <a:p>
            <a:pPr marL="0" indent="0" algn="ctr">
              <a:buNone/>
            </a:pPr>
            <a:r>
              <a:rPr lang="en-US" sz="1300" dirty="0">
                <a:solidFill>
                  <a:srgbClr val="4A4766"/>
                </a:solidFill>
                <a:latin typeface="Consolas" pitchFamily="34" charset="0"/>
                <a:ea typeface="Consolas" pitchFamily="34" charset="-122"/>
                <a:cs typeface="Consolas" pitchFamily="34" charset="-120"/>
              </a:rPr>
              <a:t>nilai[2]</a:t>
            </a:r>
            <a:endParaRPr lang="en-US" sz="1300" dirty="0"/>
          </a:p>
        </p:txBody>
      </p:sp>
      <p:sp>
        <p:nvSpPr>
          <p:cNvPr id="18" name="Text 16"/>
          <p:cNvSpPr txBox="1"/>
          <p:nvPr/>
        </p:nvSpPr>
        <p:spPr>
          <a:xfrm>
            <a:off x="7232650" y="2540000"/>
            <a:ext cx="1987550" cy="228600"/>
          </a:xfrm>
          <a:prstGeom prst="rect">
            <a:avLst/>
          </a:prstGeom>
          <a:noFill/>
          <a:ln/>
        </p:spPr>
        <p:txBody>
          <a:bodyPr wrap="square" lIns="0" tIns="0" rIns="0" bIns="0" rtlCol="0" anchor="t"/>
          <a:lstStyle/>
          <a:p>
            <a:pPr marL="0" indent="0" algn="ctr">
              <a:buNone/>
            </a:pPr>
            <a:r>
              <a:rPr lang="en-US" sz="1300" b="1" dirty="0">
                <a:solidFill>
                  <a:srgbClr val="6B6789"/>
                </a:solidFill>
                <a:latin typeface="Consolas" pitchFamily="34" charset="0"/>
                <a:ea typeface="Consolas" pitchFamily="34" charset="-122"/>
                <a:cs typeface="Consolas" pitchFamily="34" charset="-120"/>
              </a:rPr>
              <a:t>index 3</a:t>
            </a:r>
            <a:endParaRPr lang="en-US" sz="1300" dirty="0"/>
          </a:p>
        </p:txBody>
      </p:sp>
      <p:sp>
        <p:nvSpPr>
          <p:cNvPr id="19" name="Shape 17"/>
          <p:cNvSpPr/>
          <p:nvPr/>
        </p:nvSpPr>
        <p:spPr>
          <a:xfrm>
            <a:off x="7232650" y="2832100"/>
            <a:ext cx="1987550" cy="1016000"/>
          </a:xfrm>
          <a:prstGeom prst="roundRect">
            <a:avLst>
              <a:gd name="adj" fmla="val 11250"/>
            </a:avLst>
          </a:prstGeom>
          <a:solidFill>
            <a:srgbClr val="1B1838"/>
          </a:solidFill>
          <a:ln/>
        </p:spPr>
      </p:sp>
      <p:sp>
        <p:nvSpPr>
          <p:cNvPr id="20" name="Text 18"/>
          <p:cNvSpPr txBox="1"/>
          <p:nvPr/>
        </p:nvSpPr>
        <p:spPr>
          <a:xfrm>
            <a:off x="7232650" y="2832100"/>
            <a:ext cx="1987550" cy="1016000"/>
          </a:xfrm>
          <a:prstGeom prst="rect">
            <a:avLst/>
          </a:prstGeom>
          <a:noFill/>
          <a:ln/>
        </p:spPr>
        <p:txBody>
          <a:bodyPr wrap="square" lIns="0" tIns="0" rIns="0" bIns="0" rtlCol="0" anchor="ctr"/>
          <a:lstStyle/>
          <a:p>
            <a:pPr marL="0" indent="0" algn="ctr">
              <a:buNone/>
            </a:pPr>
            <a:r>
              <a:rPr lang="en-US" sz="3600" dirty="0">
                <a:solidFill>
                  <a:srgbClr val="F6F4FB"/>
                </a:solidFill>
                <a:latin typeface="Segoe UI Semibold" pitchFamily="34" charset="0"/>
                <a:ea typeface="Segoe UI Semibold" pitchFamily="34" charset="-122"/>
                <a:cs typeface="Segoe UI Semibold" pitchFamily="34" charset="-120"/>
              </a:rPr>
              <a:t>85</a:t>
            </a:r>
            <a:endParaRPr lang="en-US" sz="3600" dirty="0"/>
          </a:p>
        </p:txBody>
      </p:sp>
      <p:sp>
        <p:nvSpPr>
          <p:cNvPr id="21" name="Text 19"/>
          <p:cNvSpPr txBox="1"/>
          <p:nvPr/>
        </p:nvSpPr>
        <p:spPr>
          <a:xfrm>
            <a:off x="7232650" y="3937000"/>
            <a:ext cx="1987550" cy="228600"/>
          </a:xfrm>
          <a:prstGeom prst="rect">
            <a:avLst/>
          </a:prstGeom>
          <a:noFill/>
          <a:ln/>
        </p:spPr>
        <p:txBody>
          <a:bodyPr wrap="square" lIns="0" tIns="0" rIns="0" bIns="0" rtlCol="0" anchor="t"/>
          <a:lstStyle/>
          <a:p>
            <a:pPr marL="0" indent="0" algn="ctr">
              <a:buNone/>
            </a:pPr>
            <a:r>
              <a:rPr lang="en-US" sz="1300" dirty="0">
                <a:solidFill>
                  <a:srgbClr val="4A4766"/>
                </a:solidFill>
                <a:latin typeface="Consolas" pitchFamily="34" charset="0"/>
                <a:ea typeface="Consolas" pitchFamily="34" charset="-122"/>
                <a:cs typeface="Consolas" pitchFamily="34" charset="-120"/>
              </a:rPr>
              <a:t>nilai[3]</a:t>
            </a:r>
            <a:endParaRPr lang="en-US" sz="1300" dirty="0"/>
          </a:p>
        </p:txBody>
      </p:sp>
      <p:sp>
        <p:nvSpPr>
          <p:cNvPr id="22" name="Text 20"/>
          <p:cNvSpPr txBox="1"/>
          <p:nvPr/>
        </p:nvSpPr>
        <p:spPr>
          <a:xfrm>
            <a:off x="9372600" y="2540000"/>
            <a:ext cx="1987550" cy="228600"/>
          </a:xfrm>
          <a:prstGeom prst="rect">
            <a:avLst/>
          </a:prstGeom>
          <a:noFill/>
          <a:ln/>
        </p:spPr>
        <p:txBody>
          <a:bodyPr wrap="square" lIns="0" tIns="0" rIns="0" bIns="0" rtlCol="0" anchor="t"/>
          <a:lstStyle/>
          <a:p>
            <a:pPr marL="0" indent="0" algn="ctr">
              <a:buNone/>
            </a:pPr>
            <a:r>
              <a:rPr lang="en-US" sz="1300" b="1" dirty="0">
                <a:solidFill>
                  <a:srgbClr val="C2410C"/>
                </a:solidFill>
                <a:latin typeface="Consolas" pitchFamily="34" charset="0"/>
                <a:ea typeface="Consolas" pitchFamily="34" charset="-122"/>
                <a:cs typeface="Consolas" pitchFamily="34" charset="-120"/>
              </a:rPr>
              <a:t>index 4</a:t>
            </a:r>
            <a:endParaRPr lang="en-US" sz="1300" dirty="0"/>
          </a:p>
        </p:txBody>
      </p:sp>
      <p:sp>
        <p:nvSpPr>
          <p:cNvPr id="23" name="Shape 21"/>
          <p:cNvSpPr/>
          <p:nvPr/>
        </p:nvSpPr>
        <p:spPr>
          <a:xfrm>
            <a:off x="9372600" y="2832100"/>
            <a:ext cx="1987550" cy="1016000"/>
          </a:xfrm>
          <a:prstGeom prst="roundRect">
            <a:avLst>
              <a:gd name="adj" fmla="val 11250"/>
            </a:avLst>
          </a:prstGeom>
          <a:solidFill>
            <a:srgbClr val="1B1838"/>
          </a:solidFill>
          <a:ln w="50800">
            <a:solidFill>
              <a:srgbClr val="F59E0B"/>
            </a:solidFill>
            <a:prstDash val="solid"/>
          </a:ln>
        </p:spPr>
      </p:sp>
      <p:sp>
        <p:nvSpPr>
          <p:cNvPr id="24" name="Text 22"/>
          <p:cNvSpPr txBox="1"/>
          <p:nvPr/>
        </p:nvSpPr>
        <p:spPr>
          <a:xfrm>
            <a:off x="9372600" y="2832100"/>
            <a:ext cx="1987550" cy="1016000"/>
          </a:xfrm>
          <a:prstGeom prst="rect">
            <a:avLst/>
          </a:prstGeom>
          <a:noFill/>
          <a:ln/>
        </p:spPr>
        <p:txBody>
          <a:bodyPr wrap="square" lIns="0" tIns="0" rIns="0" bIns="0" rtlCol="0" anchor="ctr"/>
          <a:lstStyle/>
          <a:p>
            <a:pPr marL="0" indent="0" algn="ctr">
              <a:buNone/>
            </a:pPr>
            <a:r>
              <a:rPr lang="en-US" sz="3600" dirty="0">
                <a:solidFill>
                  <a:srgbClr val="F6F4FB"/>
                </a:solidFill>
                <a:latin typeface="Segoe UI Semibold" pitchFamily="34" charset="0"/>
                <a:ea typeface="Segoe UI Semibold" pitchFamily="34" charset="-122"/>
                <a:cs typeface="Segoe UI Semibold" pitchFamily="34" charset="-120"/>
              </a:rPr>
              <a:t>70</a:t>
            </a:r>
            <a:endParaRPr lang="en-US" sz="3600" dirty="0"/>
          </a:p>
        </p:txBody>
      </p:sp>
      <p:sp>
        <p:nvSpPr>
          <p:cNvPr id="25" name="Text 23"/>
          <p:cNvSpPr txBox="1"/>
          <p:nvPr/>
        </p:nvSpPr>
        <p:spPr>
          <a:xfrm>
            <a:off x="9372600" y="3937000"/>
            <a:ext cx="1987550" cy="228600"/>
          </a:xfrm>
          <a:prstGeom prst="rect">
            <a:avLst/>
          </a:prstGeom>
          <a:noFill/>
          <a:ln/>
        </p:spPr>
        <p:txBody>
          <a:bodyPr wrap="square" lIns="0" tIns="0" rIns="0" bIns="0" rtlCol="0" anchor="t"/>
          <a:lstStyle/>
          <a:p>
            <a:pPr marL="0" indent="0" algn="ctr">
              <a:buNone/>
            </a:pPr>
            <a:r>
              <a:rPr lang="en-US" sz="1300" dirty="0">
                <a:solidFill>
                  <a:srgbClr val="4A4766"/>
                </a:solidFill>
                <a:latin typeface="Consolas" pitchFamily="34" charset="0"/>
                <a:ea typeface="Consolas" pitchFamily="34" charset="-122"/>
                <a:cs typeface="Consolas" pitchFamily="34" charset="-120"/>
              </a:rPr>
              <a:t>nilai[4]</a:t>
            </a:r>
            <a:endParaRPr lang="en-US" sz="1300" dirty="0"/>
          </a:p>
        </p:txBody>
      </p:sp>
      <p:sp>
        <p:nvSpPr>
          <p:cNvPr id="26" name="Shape 24"/>
          <p:cNvSpPr/>
          <p:nvPr/>
        </p:nvSpPr>
        <p:spPr>
          <a:xfrm>
            <a:off x="812800" y="4445000"/>
            <a:ext cx="3416300" cy="889000"/>
          </a:xfrm>
          <a:prstGeom prst="roundRect">
            <a:avLst>
              <a:gd name="adj" fmla="val 11429"/>
            </a:avLst>
          </a:prstGeom>
          <a:solidFill>
            <a:srgbClr val="EDE9F7"/>
          </a:solidFill>
          <a:ln/>
        </p:spPr>
      </p:sp>
      <p:sp>
        <p:nvSpPr>
          <p:cNvPr id="27" name="Text 25"/>
          <p:cNvSpPr txBox="1"/>
          <p:nvPr/>
        </p:nvSpPr>
        <p:spPr>
          <a:xfrm>
            <a:off x="1016000" y="4597400"/>
            <a:ext cx="3009900" cy="228600"/>
          </a:xfrm>
          <a:prstGeom prst="rect">
            <a:avLst/>
          </a:prstGeom>
          <a:noFill/>
          <a:ln/>
        </p:spPr>
        <p:txBody>
          <a:bodyPr wrap="square" lIns="0" tIns="0" rIns="0" bIns="0" rtlCol="0" anchor="t"/>
          <a:lstStyle/>
          <a:p>
            <a:pPr marL="0" indent="0">
              <a:buNone/>
            </a:pPr>
            <a:r>
              <a:rPr lang="en-US" sz="1200" b="1" kern="0" spc="200" dirty="0">
                <a:solidFill>
                  <a:srgbClr val="6B6789"/>
                </a:solidFill>
                <a:latin typeface="Segoe UI" pitchFamily="34" charset="0"/>
                <a:ea typeface="Segoe UI" pitchFamily="34" charset="-122"/>
                <a:cs typeface="Segoe UI" pitchFamily="34" charset="-120"/>
              </a:rPr>
              <a:t>JUMLAH ELEMEN</a:t>
            </a:r>
            <a:endParaRPr lang="en-US" sz="1200" dirty="0"/>
          </a:p>
        </p:txBody>
      </p:sp>
      <p:sp>
        <p:nvSpPr>
          <p:cNvPr id="28" name="Text 26"/>
          <p:cNvSpPr txBox="1"/>
          <p:nvPr/>
        </p:nvSpPr>
        <p:spPr>
          <a:xfrm>
            <a:off x="1016000" y="4889500"/>
            <a:ext cx="3009900" cy="304800"/>
          </a:xfrm>
          <a:prstGeom prst="rect">
            <a:avLst/>
          </a:prstGeom>
          <a:noFill/>
          <a:ln/>
        </p:spPr>
        <p:txBody>
          <a:bodyPr wrap="square" lIns="0" tIns="0" rIns="0" bIns="0" rtlCol="0" anchor="t"/>
          <a:lstStyle/>
          <a:p>
            <a:pPr marL="0" indent="0">
              <a:buNone/>
            </a:pPr>
            <a:r>
              <a:rPr lang="en-US" sz="1600" b="1" dirty="0">
                <a:solidFill>
                  <a:srgbClr val="1B1838"/>
                </a:solidFill>
                <a:latin typeface="Consolas" pitchFamily="34" charset="0"/>
                <a:ea typeface="Consolas" pitchFamily="34" charset="-122"/>
                <a:cs typeface="Consolas" pitchFamily="34" charset="-120"/>
              </a:rPr>
              <a:t>nilai.Length = 5</a:t>
            </a:r>
            <a:endParaRPr lang="en-US" sz="1600" dirty="0"/>
          </a:p>
        </p:txBody>
      </p:sp>
      <p:sp>
        <p:nvSpPr>
          <p:cNvPr id="29" name="Shape 27"/>
          <p:cNvSpPr/>
          <p:nvPr/>
        </p:nvSpPr>
        <p:spPr>
          <a:xfrm>
            <a:off x="4387850" y="4445000"/>
            <a:ext cx="3416300" cy="889000"/>
          </a:xfrm>
          <a:prstGeom prst="roundRect">
            <a:avLst>
              <a:gd name="adj" fmla="val 11429"/>
            </a:avLst>
          </a:prstGeom>
          <a:solidFill>
            <a:srgbClr val="EDE9F7"/>
          </a:solidFill>
          <a:ln/>
        </p:spPr>
      </p:sp>
      <p:sp>
        <p:nvSpPr>
          <p:cNvPr id="30" name="Text 28"/>
          <p:cNvSpPr txBox="1"/>
          <p:nvPr/>
        </p:nvSpPr>
        <p:spPr>
          <a:xfrm>
            <a:off x="4591050" y="4597400"/>
            <a:ext cx="3009900" cy="228600"/>
          </a:xfrm>
          <a:prstGeom prst="rect">
            <a:avLst/>
          </a:prstGeom>
          <a:noFill/>
          <a:ln/>
        </p:spPr>
        <p:txBody>
          <a:bodyPr wrap="square" lIns="0" tIns="0" rIns="0" bIns="0" rtlCol="0" anchor="t"/>
          <a:lstStyle/>
          <a:p>
            <a:pPr marL="0" indent="0">
              <a:buNone/>
            </a:pPr>
            <a:r>
              <a:rPr lang="en-US" sz="1200" b="1" kern="0" spc="200" dirty="0">
                <a:solidFill>
                  <a:srgbClr val="6B6789"/>
                </a:solidFill>
                <a:latin typeface="Segoe UI" pitchFamily="34" charset="0"/>
                <a:ea typeface="Segoe UI" pitchFamily="34" charset="-122"/>
                <a:cs typeface="Segoe UI" pitchFamily="34" charset="-120"/>
              </a:rPr>
              <a:t>INDEX PERTAMA</a:t>
            </a:r>
            <a:endParaRPr lang="en-US" sz="1200" dirty="0"/>
          </a:p>
        </p:txBody>
      </p:sp>
      <p:sp>
        <p:nvSpPr>
          <p:cNvPr id="31" name="Text 29"/>
          <p:cNvSpPr txBox="1"/>
          <p:nvPr/>
        </p:nvSpPr>
        <p:spPr>
          <a:xfrm>
            <a:off x="4591050" y="4889500"/>
            <a:ext cx="3009900" cy="304800"/>
          </a:xfrm>
          <a:prstGeom prst="rect">
            <a:avLst/>
          </a:prstGeom>
          <a:noFill/>
          <a:ln/>
        </p:spPr>
        <p:txBody>
          <a:bodyPr wrap="square" lIns="0" tIns="0" rIns="0" bIns="0" rtlCol="0" anchor="t"/>
          <a:lstStyle/>
          <a:p>
            <a:pPr marL="0" indent="0">
              <a:buNone/>
            </a:pPr>
            <a:r>
              <a:rPr lang="en-US" sz="1600" b="1" dirty="0">
                <a:solidFill>
                  <a:srgbClr val="6D28D9"/>
                </a:solidFill>
                <a:latin typeface="Consolas" pitchFamily="34" charset="0"/>
                <a:ea typeface="Consolas" pitchFamily="34" charset="-122"/>
                <a:cs typeface="Consolas" pitchFamily="34" charset="-120"/>
              </a:rPr>
              <a:t>0</a:t>
            </a:r>
            <a:endParaRPr lang="en-US" sz="1600" dirty="0"/>
          </a:p>
        </p:txBody>
      </p:sp>
      <p:sp>
        <p:nvSpPr>
          <p:cNvPr id="32" name="Shape 30"/>
          <p:cNvSpPr/>
          <p:nvPr/>
        </p:nvSpPr>
        <p:spPr>
          <a:xfrm>
            <a:off x="7962900" y="4445000"/>
            <a:ext cx="3416300" cy="889000"/>
          </a:xfrm>
          <a:prstGeom prst="roundRect">
            <a:avLst>
              <a:gd name="adj" fmla="val 11429"/>
            </a:avLst>
          </a:prstGeom>
          <a:solidFill>
            <a:srgbClr val="EDE9F7"/>
          </a:solidFill>
          <a:ln/>
        </p:spPr>
      </p:sp>
      <p:sp>
        <p:nvSpPr>
          <p:cNvPr id="33" name="Text 31"/>
          <p:cNvSpPr txBox="1"/>
          <p:nvPr/>
        </p:nvSpPr>
        <p:spPr>
          <a:xfrm>
            <a:off x="8166100" y="4597400"/>
            <a:ext cx="3009900" cy="228600"/>
          </a:xfrm>
          <a:prstGeom prst="rect">
            <a:avLst/>
          </a:prstGeom>
          <a:noFill/>
          <a:ln/>
        </p:spPr>
        <p:txBody>
          <a:bodyPr wrap="square" lIns="0" tIns="0" rIns="0" bIns="0" rtlCol="0" anchor="t"/>
          <a:lstStyle/>
          <a:p>
            <a:pPr marL="0" indent="0">
              <a:buNone/>
            </a:pPr>
            <a:r>
              <a:rPr lang="en-US" sz="1200" b="1" kern="0" spc="200" dirty="0">
                <a:solidFill>
                  <a:srgbClr val="6B6789"/>
                </a:solidFill>
                <a:latin typeface="Segoe UI" pitchFamily="34" charset="0"/>
                <a:ea typeface="Segoe UI" pitchFamily="34" charset="-122"/>
                <a:cs typeface="Segoe UI" pitchFamily="34" charset="-120"/>
              </a:rPr>
              <a:t>INDEX TERAKHIR</a:t>
            </a:r>
            <a:endParaRPr lang="en-US" sz="1200" dirty="0"/>
          </a:p>
        </p:txBody>
      </p:sp>
      <p:sp>
        <p:nvSpPr>
          <p:cNvPr id="34" name="Text 32"/>
          <p:cNvSpPr txBox="1"/>
          <p:nvPr/>
        </p:nvSpPr>
        <p:spPr>
          <a:xfrm>
            <a:off x="8166100" y="4889500"/>
            <a:ext cx="3009900" cy="304800"/>
          </a:xfrm>
          <a:prstGeom prst="rect">
            <a:avLst/>
          </a:prstGeom>
          <a:noFill/>
          <a:ln/>
        </p:spPr>
        <p:txBody>
          <a:bodyPr wrap="square" lIns="0" tIns="0" rIns="0" bIns="0" rtlCol="0" anchor="t"/>
          <a:lstStyle/>
          <a:p>
            <a:pPr marL="0" indent="0">
              <a:buNone/>
            </a:pPr>
            <a:r>
              <a:rPr lang="en-US" sz="1600" b="1" dirty="0">
                <a:solidFill>
                  <a:srgbClr val="C2410C"/>
                </a:solidFill>
                <a:latin typeface="Consolas" pitchFamily="34" charset="0"/>
                <a:ea typeface="Consolas" pitchFamily="34" charset="-122"/>
                <a:cs typeface="Consolas" pitchFamily="34" charset="-120"/>
              </a:rPr>
              <a:t>Length − 1 = 4</a:t>
            </a:r>
            <a:endParaRPr lang="en-US" sz="1600" dirty="0"/>
          </a:p>
        </p:txBody>
      </p:sp>
      <p:sp>
        <p:nvSpPr>
          <p:cNvPr id="3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SINTAKS</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Tiga cara membuat array</a:t>
            </a:r>
            <a:endParaRPr lang="en-US" sz="3600" dirty="0"/>
          </a:p>
        </p:txBody>
      </p:sp>
      <p:sp>
        <p:nvSpPr>
          <p:cNvPr id="4" name="Text 2"/>
          <p:cNvSpPr txBox="1"/>
          <p:nvPr/>
        </p:nvSpPr>
        <p:spPr>
          <a:xfrm>
            <a:off x="812800" y="2044700"/>
            <a:ext cx="2540000" cy="203200"/>
          </a:xfrm>
          <a:prstGeom prst="rect">
            <a:avLst/>
          </a:prstGeom>
          <a:noFill/>
          <a:ln/>
        </p:spPr>
        <p:txBody>
          <a:bodyPr wrap="square" lIns="0" tIns="0" rIns="0" bIns="0" rtlCol="0" anchor="t"/>
          <a:lstStyle/>
          <a:p>
            <a:pPr marL="0" indent="0">
              <a:buNone/>
            </a:pPr>
            <a:r>
              <a:rPr lang="en-US" sz="1200" b="1" kern="0" spc="300" dirty="0">
                <a:solidFill>
                  <a:srgbClr val="A78BFA"/>
                </a:solidFill>
                <a:latin typeface="Segoe UI" pitchFamily="34" charset="0"/>
                <a:ea typeface="Segoe UI" pitchFamily="34" charset="-122"/>
                <a:cs typeface="Segoe UI" pitchFamily="34" charset="-120"/>
              </a:rPr>
              <a:t>CARA 1</a:t>
            </a:r>
            <a:endParaRPr lang="en-US" sz="1200" dirty="0"/>
          </a:p>
        </p:txBody>
      </p:sp>
      <p:sp>
        <p:nvSpPr>
          <p:cNvPr id="5" name="Text 3"/>
          <p:cNvSpPr txBox="1"/>
          <p:nvPr/>
        </p:nvSpPr>
        <p:spPr>
          <a:xfrm>
            <a:off x="812800" y="2273300"/>
            <a:ext cx="2540000" cy="304800"/>
          </a:xfrm>
          <a:prstGeom prst="rect">
            <a:avLst/>
          </a:prstGeom>
          <a:noFill/>
          <a:ln/>
        </p:spPr>
        <p:txBody>
          <a:bodyPr wrap="square" lIns="0" tIns="0" rIns="0" bIns="0" rtlCol="0" anchor="t"/>
          <a:lstStyle/>
          <a:p>
            <a:pPr marL="0" indent="0">
              <a:buNone/>
            </a:pPr>
            <a:r>
              <a:rPr lang="en-US" sz="1800" dirty="0">
                <a:solidFill>
                  <a:srgbClr val="F6F4FB"/>
                </a:solidFill>
                <a:latin typeface="Segoe UI Semibold" pitchFamily="34" charset="0"/>
                <a:ea typeface="Segoe UI Semibold" pitchFamily="34" charset="-122"/>
                <a:cs typeface="Segoe UI Semibold" pitchFamily="34" charset="-120"/>
              </a:rPr>
              <a:t>Deklarasi saja</a:t>
            </a:r>
            <a:endParaRPr lang="en-US" sz="1800" dirty="0"/>
          </a:p>
        </p:txBody>
      </p:sp>
      <p:sp>
        <p:nvSpPr>
          <p:cNvPr id="6" name="Text 4"/>
          <p:cNvSpPr txBox="1"/>
          <p:nvPr/>
        </p:nvSpPr>
        <p:spPr>
          <a:xfrm>
            <a:off x="812800" y="2603500"/>
            <a:ext cx="2540000" cy="254000"/>
          </a:xfrm>
          <a:prstGeom prst="rect">
            <a:avLst/>
          </a:prstGeom>
          <a:noFill/>
          <a:ln/>
        </p:spPr>
        <p:txBody>
          <a:bodyPr wrap="square" lIns="0" tIns="0" rIns="0" bIns="0" rtlCol="0" anchor="t"/>
          <a:lstStyle/>
          <a:p>
            <a:pPr marL="0" indent="0">
              <a:buNone/>
            </a:pPr>
            <a:r>
              <a:rPr lang="en-US" sz="1300" dirty="0">
                <a:solidFill>
                  <a:srgbClr val="C9C4E0"/>
                </a:solidFill>
                <a:latin typeface="Segoe UI" pitchFamily="34" charset="0"/>
                <a:ea typeface="Segoe UI" pitchFamily="34" charset="-122"/>
                <a:cs typeface="Segoe UI" pitchFamily="34" charset="-120"/>
              </a:rPr>
              <a:t>Belum punya ukuran dan isi</a:t>
            </a:r>
            <a:endParaRPr lang="en-US" sz="1300" dirty="0"/>
          </a:p>
        </p:txBody>
      </p:sp>
      <p:sp>
        <p:nvSpPr>
          <p:cNvPr id="7" name="Kode"/>
          <p:cNvSpPr/>
          <p:nvPr/>
        </p:nvSpPr>
        <p:spPr>
          <a:xfrm>
            <a:off x="3606800" y="1879600"/>
            <a:ext cx="7772400" cy="1143000"/>
          </a:xfrm>
          <a:prstGeom prst="roundRect">
            <a:avLst>
              <a:gd name="adj" fmla="val 11111"/>
            </a:avLst>
          </a:prstGeom>
          <a:solidFill>
            <a:srgbClr val="0E0C1F"/>
          </a:solidFill>
          <a:ln w="12700">
            <a:solidFill>
              <a:srgbClr val="2E2A52"/>
            </a:solidFill>
            <a:prstDash val="solid"/>
          </a:ln>
        </p:spPr>
      </p:sp>
      <p:sp>
        <p:nvSpPr>
          <p:cNvPr id="8" name="Text 6"/>
          <p:cNvSpPr txBox="1"/>
          <p:nvPr/>
        </p:nvSpPr>
        <p:spPr>
          <a:xfrm>
            <a:off x="3860800" y="2032000"/>
            <a:ext cx="7264400" cy="838200"/>
          </a:xfrm>
          <a:prstGeom prst="rect">
            <a:avLst/>
          </a:prstGeom>
          <a:noFill/>
          <a:ln/>
        </p:spPr>
        <p:txBody>
          <a:bodyPr wrap="square" lIns="0" tIns="0" rIns="0" bIns="0" rtlCol="0" anchor="ctr"/>
          <a:lstStyle/>
          <a:p>
            <a:pPr marL="0" indent="0">
              <a:lnSpc>
                <a:spcPct val="125000"/>
              </a:lnSpc>
              <a:buNone/>
            </a:pPr>
            <a:r>
              <a:rPr lang="en-US" sz="1300" dirty="0">
                <a:solidFill>
                  <a:srgbClr val="FFCB6B"/>
                </a:solidFill>
                <a:latin typeface="Consolas" pitchFamily="34" charset="0"/>
                <a:ea typeface="Consolas" pitchFamily="34" charset="-122"/>
                <a:cs typeface="Consolas" pitchFamily="34" charset="-120"/>
              </a:rPr>
              <a:t>tipeData</a:t>
            </a:r>
            <a:r>
              <a:rPr lang="en-US" sz="1300" dirty="0">
                <a:solidFill>
                  <a:srgbClr val="E6E3F5"/>
                </a:solidFill>
                <a:latin typeface="Consolas" pitchFamily="34" charset="0"/>
                <a:ea typeface="Consolas" pitchFamily="34" charset="-122"/>
                <a:cs typeface="Consolas" pitchFamily="34" charset="-120"/>
              </a:rPr>
              <a:t>[] namaArray;</a:t>
            </a:r>
            <a:endParaRPr lang="en-US" sz="1300" dirty="0"/>
          </a:p>
          <a:p>
            <a:pPr marL="0" indent="0">
              <a:lnSpc>
                <a:spcPct val="125000"/>
              </a:lnSpc>
              <a:buNone/>
            </a:pPr>
            <a:r>
              <a:rPr lang="en-US" sz="1300" dirty="0">
                <a:solidFill>
                  <a:srgbClr val="C792EA"/>
                </a:solidFill>
                <a:latin typeface="Consolas" pitchFamily="34" charset="0"/>
                <a:ea typeface="Consolas" pitchFamily="34" charset="-122"/>
                <a:cs typeface="Consolas" pitchFamily="34" charset="-120"/>
              </a:rPr>
              <a:t>int</a:t>
            </a:r>
            <a:r>
              <a:rPr lang="en-US" sz="1300" dirty="0">
                <a:solidFill>
                  <a:srgbClr val="E6E3F5"/>
                </a:solidFill>
                <a:latin typeface="Consolas" pitchFamily="34" charset="0"/>
                <a:ea typeface="Consolas" pitchFamily="34" charset="-122"/>
                <a:cs typeface="Consolas" pitchFamily="34" charset="-120"/>
              </a:rPr>
              <a:t>[] angka;   </a:t>
            </a:r>
            <a:r>
              <a:rPr lang="en-US" sz="1300" dirty="0">
                <a:solidFill>
                  <a:srgbClr val="C792EA"/>
                </a:solidFill>
                <a:latin typeface="Consolas" pitchFamily="34" charset="0"/>
                <a:ea typeface="Consolas" pitchFamily="34" charset="-122"/>
                <a:cs typeface="Consolas" pitchFamily="34" charset="-120"/>
              </a:rPr>
              <a:t>string</a:t>
            </a:r>
            <a:r>
              <a:rPr lang="en-US" sz="1300" dirty="0">
                <a:solidFill>
                  <a:srgbClr val="E6E3F5"/>
                </a:solidFill>
                <a:latin typeface="Consolas" pitchFamily="34" charset="0"/>
                <a:ea typeface="Consolas" pitchFamily="34" charset="-122"/>
                <a:cs typeface="Consolas" pitchFamily="34" charset="-120"/>
              </a:rPr>
              <a:t>[] nama;</a:t>
            </a:r>
            <a:endParaRPr lang="en-US" sz="1300" dirty="0"/>
          </a:p>
        </p:txBody>
      </p:sp>
      <p:sp>
        <p:nvSpPr>
          <p:cNvPr id="9" name="Text 7"/>
          <p:cNvSpPr txBox="1"/>
          <p:nvPr/>
        </p:nvSpPr>
        <p:spPr>
          <a:xfrm>
            <a:off x="812800" y="3378200"/>
            <a:ext cx="2540000" cy="203200"/>
          </a:xfrm>
          <a:prstGeom prst="rect">
            <a:avLst/>
          </a:prstGeom>
          <a:noFill/>
          <a:ln/>
        </p:spPr>
        <p:txBody>
          <a:bodyPr wrap="square" lIns="0" tIns="0" rIns="0" bIns="0" rtlCol="0" anchor="t"/>
          <a:lstStyle/>
          <a:p>
            <a:pPr marL="0" indent="0">
              <a:buNone/>
            </a:pPr>
            <a:r>
              <a:rPr lang="en-US" sz="1200" b="1" kern="0" spc="300" dirty="0">
                <a:solidFill>
                  <a:srgbClr val="A78BFA"/>
                </a:solidFill>
                <a:latin typeface="Segoe UI" pitchFamily="34" charset="0"/>
                <a:ea typeface="Segoe UI" pitchFamily="34" charset="-122"/>
                <a:cs typeface="Segoe UI" pitchFamily="34" charset="-120"/>
              </a:rPr>
              <a:t>CARA 2</a:t>
            </a:r>
            <a:endParaRPr lang="en-US" sz="1200" dirty="0"/>
          </a:p>
        </p:txBody>
      </p:sp>
      <p:sp>
        <p:nvSpPr>
          <p:cNvPr id="10" name="Text 8"/>
          <p:cNvSpPr txBox="1"/>
          <p:nvPr/>
        </p:nvSpPr>
        <p:spPr>
          <a:xfrm>
            <a:off x="812800" y="3606800"/>
            <a:ext cx="2540000" cy="304800"/>
          </a:xfrm>
          <a:prstGeom prst="rect">
            <a:avLst/>
          </a:prstGeom>
          <a:noFill/>
          <a:ln/>
        </p:spPr>
        <p:txBody>
          <a:bodyPr wrap="square" lIns="0" tIns="0" rIns="0" bIns="0" rtlCol="0" anchor="t"/>
          <a:lstStyle/>
          <a:p>
            <a:pPr marL="0" indent="0">
              <a:buNone/>
            </a:pPr>
            <a:r>
              <a:rPr lang="en-US" sz="1800" dirty="0">
                <a:solidFill>
                  <a:srgbClr val="F6F4FB"/>
                </a:solidFill>
                <a:latin typeface="Segoe UI Semibold" pitchFamily="34" charset="0"/>
                <a:ea typeface="Segoe UI Semibold" pitchFamily="34" charset="-122"/>
                <a:cs typeface="Segoe UI Semibold" pitchFamily="34" charset="-120"/>
              </a:rPr>
              <a:t>Deklarasi + ukuran</a:t>
            </a:r>
            <a:endParaRPr lang="en-US" sz="1800" dirty="0"/>
          </a:p>
        </p:txBody>
      </p:sp>
      <p:sp>
        <p:nvSpPr>
          <p:cNvPr id="11" name="Text 9"/>
          <p:cNvSpPr txBox="1"/>
          <p:nvPr/>
        </p:nvSpPr>
        <p:spPr>
          <a:xfrm>
            <a:off x="812800" y="3937000"/>
            <a:ext cx="2540000" cy="254000"/>
          </a:xfrm>
          <a:prstGeom prst="rect">
            <a:avLst/>
          </a:prstGeom>
          <a:noFill/>
          <a:ln/>
        </p:spPr>
        <p:txBody>
          <a:bodyPr wrap="square" lIns="0" tIns="0" rIns="0" bIns="0" rtlCol="0" anchor="t"/>
          <a:lstStyle/>
          <a:p>
            <a:pPr marL="0" indent="0">
              <a:buNone/>
            </a:pPr>
            <a:r>
              <a:rPr lang="en-US" sz="1300" dirty="0">
                <a:solidFill>
                  <a:srgbClr val="C9C4E0"/>
                </a:solidFill>
                <a:latin typeface="Segoe UI" pitchFamily="34" charset="0"/>
                <a:ea typeface="Segoe UI" pitchFamily="34" charset="-122"/>
                <a:cs typeface="Segoe UI" pitchFamily="34" charset="-120"/>
              </a:rPr>
              <a:t>Isi otomatis nilai default</a:t>
            </a:r>
            <a:endParaRPr lang="en-US" sz="1300" dirty="0"/>
          </a:p>
        </p:txBody>
      </p:sp>
      <p:sp>
        <p:nvSpPr>
          <p:cNvPr id="12" name="Kode"/>
          <p:cNvSpPr/>
          <p:nvPr/>
        </p:nvSpPr>
        <p:spPr>
          <a:xfrm>
            <a:off x="3606800" y="3213100"/>
            <a:ext cx="7772400" cy="1143000"/>
          </a:xfrm>
          <a:prstGeom prst="roundRect">
            <a:avLst>
              <a:gd name="adj" fmla="val 11111"/>
            </a:avLst>
          </a:prstGeom>
          <a:solidFill>
            <a:srgbClr val="0E0C1F"/>
          </a:solidFill>
          <a:ln w="12700">
            <a:solidFill>
              <a:srgbClr val="2E2A52"/>
            </a:solidFill>
            <a:prstDash val="solid"/>
          </a:ln>
        </p:spPr>
      </p:sp>
      <p:sp>
        <p:nvSpPr>
          <p:cNvPr id="13" name="Text 11"/>
          <p:cNvSpPr txBox="1"/>
          <p:nvPr/>
        </p:nvSpPr>
        <p:spPr>
          <a:xfrm>
            <a:off x="3860800" y="3365500"/>
            <a:ext cx="7264400" cy="838200"/>
          </a:xfrm>
          <a:prstGeom prst="rect">
            <a:avLst/>
          </a:prstGeom>
          <a:noFill/>
          <a:ln/>
        </p:spPr>
        <p:txBody>
          <a:bodyPr wrap="square" lIns="0" tIns="0" rIns="0" bIns="0" rtlCol="0" anchor="ctr"/>
          <a:lstStyle/>
          <a:p>
            <a:pPr marL="0" indent="0">
              <a:lnSpc>
                <a:spcPct val="125000"/>
              </a:lnSpc>
              <a:buNone/>
            </a:pPr>
            <a:r>
              <a:rPr lang="en-US" sz="1300" dirty="0">
                <a:solidFill>
                  <a:srgbClr val="FFCB6B"/>
                </a:solidFill>
                <a:latin typeface="Consolas" pitchFamily="34" charset="0"/>
                <a:ea typeface="Consolas" pitchFamily="34" charset="-122"/>
                <a:cs typeface="Consolas" pitchFamily="34" charset="-120"/>
              </a:rPr>
              <a:t>tipeData</a:t>
            </a:r>
            <a:r>
              <a:rPr lang="en-US" sz="1300" dirty="0">
                <a:solidFill>
                  <a:srgbClr val="E6E3F5"/>
                </a:solidFill>
                <a:latin typeface="Consolas" pitchFamily="34" charset="0"/>
                <a:ea typeface="Consolas" pitchFamily="34" charset="-122"/>
                <a:cs typeface="Consolas" pitchFamily="34" charset="-120"/>
              </a:rPr>
              <a:t>[] namaArray = </a:t>
            </a:r>
            <a:r>
              <a:rPr lang="en-US" sz="1300" dirty="0">
                <a:solidFill>
                  <a:srgbClr val="C792EA"/>
                </a:solidFill>
                <a:latin typeface="Consolas" pitchFamily="34" charset="0"/>
                <a:ea typeface="Consolas" pitchFamily="34" charset="-122"/>
                <a:cs typeface="Consolas" pitchFamily="34" charset="-120"/>
              </a:rPr>
              <a:t>new </a:t>
            </a:r>
            <a:r>
              <a:rPr lang="en-US" sz="1300" dirty="0">
                <a:solidFill>
                  <a:srgbClr val="FFCB6B"/>
                </a:solidFill>
                <a:latin typeface="Consolas" pitchFamily="34" charset="0"/>
                <a:ea typeface="Consolas" pitchFamily="34" charset="-122"/>
                <a:cs typeface="Consolas" pitchFamily="34" charset="-120"/>
              </a:rPr>
              <a:t>tipeData</a:t>
            </a:r>
            <a:r>
              <a:rPr lang="en-US" sz="1300" dirty="0">
                <a:solidFill>
                  <a:srgbClr val="E6E3F5"/>
                </a:solidFill>
                <a:latin typeface="Consolas" pitchFamily="34" charset="0"/>
                <a:ea typeface="Consolas" pitchFamily="34" charset="-122"/>
                <a:cs typeface="Consolas" pitchFamily="34" charset="-120"/>
              </a:rPr>
              <a:t>[ukuran];</a:t>
            </a:r>
            <a:endParaRPr lang="en-US" sz="1300" dirty="0"/>
          </a:p>
          <a:p>
            <a:pPr marL="0" indent="0">
              <a:lnSpc>
                <a:spcPct val="125000"/>
              </a:lnSpc>
              <a:buNone/>
            </a:pPr>
            <a:r>
              <a:rPr lang="en-US" sz="1300" dirty="0">
                <a:solidFill>
                  <a:srgbClr val="C792EA"/>
                </a:solidFill>
                <a:latin typeface="Consolas" pitchFamily="34" charset="0"/>
                <a:ea typeface="Consolas" pitchFamily="34" charset="-122"/>
                <a:cs typeface="Consolas" pitchFamily="34" charset="-120"/>
              </a:rPr>
              <a:t>int</a:t>
            </a:r>
            <a:r>
              <a:rPr lang="en-US" sz="1300" dirty="0">
                <a:solidFill>
                  <a:srgbClr val="E6E3F5"/>
                </a:solidFill>
                <a:latin typeface="Consolas" pitchFamily="34" charset="0"/>
                <a:ea typeface="Consolas" pitchFamily="34" charset="-122"/>
                <a:cs typeface="Consolas" pitchFamily="34" charset="-120"/>
              </a:rPr>
              <a:t>[] angka = </a:t>
            </a:r>
            <a:r>
              <a:rPr lang="en-US" sz="1300" dirty="0">
                <a:solidFill>
                  <a:srgbClr val="C792EA"/>
                </a:solidFill>
                <a:latin typeface="Consolas" pitchFamily="34" charset="0"/>
                <a:ea typeface="Consolas" pitchFamily="34" charset="-122"/>
                <a:cs typeface="Consolas" pitchFamily="34" charset="-120"/>
              </a:rPr>
              <a:t>new int</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F78C6C"/>
                </a:solidFill>
                <a:latin typeface="Consolas" pitchFamily="34" charset="0"/>
                <a:ea typeface="Consolas" pitchFamily="34" charset="-122"/>
                <a:cs typeface="Consolas" pitchFamily="34" charset="-120"/>
              </a:rPr>
              <a:t>5</a:t>
            </a:r>
            <a:r>
              <a:rPr lang="en-US" sz="1300" dirty="0">
                <a:solidFill>
                  <a:srgbClr val="E6E3F5"/>
                </a:solidFill>
                <a:latin typeface="Consolas" pitchFamily="34" charset="0"/>
                <a:ea typeface="Consolas" pitchFamily="34" charset="-122"/>
                <a:cs typeface="Consolas" pitchFamily="34" charset="-120"/>
              </a:rPr>
              <a:t>];   </a:t>
            </a:r>
            <a:r>
              <a:rPr lang="en-US" sz="1300" dirty="0">
                <a:solidFill>
                  <a:srgbClr val="8A86A8"/>
                </a:solidFill>
                <a:latin typeface="Consolas" pitchFamily="34" charset="0"/>
                <a:ea typeface="Consolas" pitchFamily="34" charset="-122"/>
                <a:cs typeface="Consolas" pitchFamily="34" charset="-120"/>
              </a:rPr>
              <a:t>// 5 elemen, isi default 0</a:t>
            </a:r>
            <a:endParaRPr lang="en-US" sz="1300" dirty="0"/>
          </a:p>
        </p:txBody>
      </p:sp>
      <p:sp>
        <p:nvSpPr>
          <p:cNvPr id="14" name="Text 12"/>
          <p:cNvSpPr txBox="1"/>
          <p:nvPr/>
        </p:nvSpPr>
        <p:spPr>
          <a:xfrm>
            <a:off x="812800" y="4711700"/>
            <a:ext cx="2540000" cy="203200"/>
          </a:xfrm>
          <a:prstGeom prst="rect">
            <a:avLst/>
          </a:prstGeom>
          <a:noFill/>
          <a:ln/>
        </p:spPr>
        <p:txBody>
          <a:bodyPr wrap="square" lIns="0" tIns="0" rIns="0" bIns="0" rtlCol="0" anchor="t"/>
          <a:lstStyle/>
          <a:p>
            <a:pPr marL="0" indent="0">
              <a:buNone/>
            </a:pPr>
            <a:r>
              <a:rPr lang="en-US" sz="1200" b="1" kern="0" spc="300" dirty="0">
                <a:solidFill>
                  <a:srgbClr val="A78BFA"/>
                </a:solidFill>
                <a:latin typeface="Segoe UI" pitchFamily="34" charset="0"/>
                <a:ea typeface="Segoe UI" pitchFamily="34" charset="-122"/>
                <a:cs typeface="Segoe UI" pitchFamily="34" charset="-120"/>
              </a:rPr>
              <a:t>CARA 3</a:t>
            </a:r>
            <a:endParaRPr lang="en-US" sz="1200" dirty="0"/>
          </a:p>
        </p:txBody>
      </p:sp>
      <p:sp>
        <p:nvSpPr>
          <p:cNvPr id="15" name="Text 13"/>
          <p:cNvSpPr txBox="1"/>
          <p:nvPr/>
        </p:nvSpPr>
        <p:spPr>
          <a:xfrm>
            <a:off x="812800" y="4940300"/>
            <a:ext cx="2540000" cy="304800"/>
          </a:xfrm>
          <a:prstGeom prst="rect">
            <a:avLst/>
          </a:prstGeom>
          <a:noFill/>
          <a:ln/>
        </p:spPr>
        <p:txBody>
          <a:bodyPr wrap="square" lIns="0" tIns="0" rIns="0" bIns="0" rtlCol="0" anchor="t"/>
          <a:lstStyle/>
          <a:p>
            <a:pPr marL="0" indent="0">
              <a:buNone/>
            </a:pPr>
            <a:r>
              <a:rPr lang="en-US" sz="1800" dirty="0">
                <a:solidFill>
                  <a:srgbClr val="F6F4FB"/>
                </a:solidFill>
                <a:latin typeface="Segoe UI Semibold" pitchFamily="34" charset="0"/>
                <a:ea typeface="Segoe UI Semibold" pitchFamily="34" charset="-122"/>
                <a:cs typeface="Segoe UI Semibold" pitchFamily="34" charset="-120"/>
              </a:rPr>
              <a:t>Langsung diisi</a:t>
            </a:r>
            <a:endParaRPr lang="en-US" sz="1800" dirty="0"/>
          </a:p>
        </p:txBody>
      </p:sp>
      <p:sp>
        <p:nvSpPr>
          <p:cNvPr id="16" name="Text 14"/>
          <p:cNvSpPr txBox="1"/>
          <p:nvPr/>
        </p:nvSpPr>
        <p:spPr>
          <a:xfrm>
            <a:off x="812800" y="5270500"/>
            <a:ext cx="2540000" cy="254000"/>
          </a:xfrm>
          <a:prstGeom prst="rect">
            <a:avLst/>
          </a:prstGeom>
          <a:noFill/>
          <a:ln/>
        </p:spPr>
        <p:txBody>
          <a:bodyPr wrap="square" lIns="0" tIns="0" rIns="0" bIns="0" rtlCol="0" anchor="t"/>
          <a:lstStyle/>
          <a:p>
            <a:pPr marL="0" indent="0">
              <a:buNone/>
            </a:pPr>
            <a:r>
              <a:rPr lang="en-US" sz="1300" dirty="0">
                <a:solidFill>
                  <a:srgbClr val="C9C4E0"/>
                </a:solidFill>
                <a:latin typeface="Segoe UI" pitchFamily="34" charset="0"/>
                <a:ea typeface="Segoe UI" pitchFamily="34" charset="-122"/>
                <a:cs typeface="Segoe UI" pitchFamily="34" charset="-120"/>
              </a:rPr>
              <a:t>Ukuran mengikuti jumlah isi</a:t>
            </a:r>
            <a:endParaRPr lang="en-US" sz="1300" dirty="0"/>
          </a:p>
        </p:txBody>
      </p:sp>
      <p:sp>
        <p:nvSpPr>
          <p:cNvPr id="17" name="Kode"/>
          <p:cNvSpPr/>
          <p:nvPr/>
        </p:nvSpPr>
        <p:spPr>
          <a:xfrm>
            <a:off x="3606800" y="4546600"/>
            <a:ext cx="7772400" cy="1143000"/>
          </a:xfrm>
          <a:prstGeom prst="roundRect">
            <a:avLst>
              <a:gd name="adj" fmla="val 11111"/>
            </a:avLst>
          </a:prstGeom>
          <a:solidFill>
            <a:srgbClr val="0E0C1F"/>
          </a:solidFill>
          <a:ln w="25400">
            <a:solidFill>
              <a:srgbClr val="A78BFA"/>
            </a:solidFill>
            <a:prstDash val="solid"/>
          </a:ln>
        </p:spPr>
      </p:sp>
      <p:sp>
        <p:nvSpPr>
          <p:cNvPr id="18" name="Text 16"/>
          <p:cNvSpPr txBox="1"/>
          <p:nvPr/>
        </p:nvSpPr>
        <p:spPr>
          <a:xfrm>
            <a:off x="3860800" y="4699000"/>
            <a:ext cx="7264400" cy="838200"/>
          </a:xfrm>
          <a:prstGeom prst="rect">
            <a:avLst/>
          </a:prstGeom>
          <a:noFill/>
          <a:ln/>
        </p:spPr>
        <p:txBody>
          <a:bodyPr wrap="square" lIns="0" tIns="0" rIns="0" bIns="0" rtlCol="0" anchor="ctr"/>
          <a:lstStyle/>
          <a:p>
            <a:pPr marL="0" indent="0">
              <a:lnSpc>
                <a:spcPct val="125000"/>
              </a:lnSpc>
              <a:buNone/>
            </a:pPr>
            <a:r>
              <a:rPr lang="en-US" sz="1300" dirty="0">
                <a:solidFill>
                  <a:srgbClr val="C792EA"/>
                </a:solidFill>
                <a:latin typeface="Consolas" pitchFamily="34" charset="0"/>
                <a:ea typeface="Consolas" pitchFamily="34" charset="-122"/>
                <a:cs typeface="Consolas" pitchFamily="34" charset="-120"/>
              </a:rPr>
              <a:t>int</a:t>
            </a:r>
            <a:r>
              <a:rPr lang="en-US" sz="1300" dirty="0">
                <a:solidFill>
                  <a:srgbClr val="E6E3F5"/>
                </a:solidFill>
                <a:latin typeface="Consolas" pitchFamily="34" charset="0"/>
                <a:ea typeface="Consolas" pitchFamily="34" charset="-122"/>
                <a:cs typeface="Consolas" pitchFamily="34" charset="-120"/>
              </a:rPr>
              <a:t>[] angka = </a:t>
            </a:r>
            <a:r>
              <a:rPr lang="en-US" sz="1300" dirty="0">
                <a:solidFill>
                  <a:srgbClr val="C792EA"/>
                </a:solidFill>
                <a:latin typeface="Consolas" pitchFamily="34" charset="0"/>
                <a:ea typeface="Consolas" pitchFamily="34" charset="-122"/>
                <a:cs typeface="Consolas" pitchFamily="34" charset="-120"/>
              </a:rPr>
              <a:t>new int</a:t>
            </a:r>
            <a:r>
              <a:rPr lang="en-US" sz="1300" dirty="0">
                <a:solidFill>
                  <a:srgbClr val="E6E3F5"/>
                </a:solidFill>
                <a:latin typeface="Consolas" pitchFamily="34" charset="0"/>
                <a:ea typeface="Consolas" pitchFamily="34" charset="-122"/>
                <a:cs typeface="Consolas" pitchFamily="34" charset="-120"/>
              </a:rPr>
              <a:t>[] { </a:t>
            </a:r>
            <a:r>
              <a:rPr lang="en-US" sz="1300" dirty="0">
                <a:solidFill>
                  <a:srgbClr val="F78C6C"/>
                </a:solidFill>
                <a:latin typeface="Consolas" pitchFamily="34" charset="0"/>
                <a:ea typeface="Consolas" pitchFamily="34" charset="-122"/>
                <a:cs typeface="Consolas" pitchFamily="34" charset="-120"/>
              </a:rPr>
              <a:t>10</a:t>
            </a:r>
            <a:r>
              <a:rPr lang="en-US" sz="1300" dirty="0">
                <a:solidFill>
                  <a:srgbClr val="E6E3F5"/>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20</a:t>
            </a:r>
            <a:r>
              <a:rPr lang="en-US" sz="1300" dirty="0">
                <a:solidFill>
                  <a:srgbClr val="E6E3F5"/>
                </a:solidFill>
                <a:latin typeface="Consolas" pitchFamily="34" charset="0"/>
                <a:ea typeface="Consolas" pitchFamily="34" charset="-122"/>
                <a:cs typeface="Consolas" pitchFamily="34" charset="-120"/>
              </a:rPr>
              <a:t>, </a:t>
            </a:r>
            <a:r>
              <a:rPr lang="en-US" sz="1300" dirty="0">
                <a:solidFill>
                  <a:srgbClr val="F78C6C"/>
                </a:solidFill>
                <a:latin typeface="Consolas" pitchFamily="34" charset="0"/>
                <a:ea typeface="Consolas" pitchFamily="34" charset="-122"/>
                <a:cs typeface="Consolas" pitchFamily="34" charset="-120"/>
              </a:rPr>
              <a:t>30 </a:t>
            </a:r>
            <a:r>
              <a:rPr lang="en-US" sz="1300" dirty="0">
                <a:solidFill>
                  <a:srgbClr val="E6E3F5"/>
                </a:solidFill>
                <a:latin typeface="Consolas" pitchFamily="34" charset="0"/>
                <a:ea typeface="Consolas" pitchFamily="34" charset="-122"/>
                <a:cs typeface="Consolas" pitchFamily="34" charset="-120"/>
              </a:rPr>
              <a:t>};</a:t>
            </a:r>
            <a:endParaRPr lang="en-US" sz="1300" dirty="0"/>
          </a:p>
          <a:p>
            <a:pPr marL="0" indent="0">
              <a:lnSpc>
                <a:spcPct val="125000"/>
              </a:lnSpc>
              <a:buNone/>
            </a:pPr>
            <a:r>
              <a:rPr lang="en-US" sz="1300" dirty="0">
                <a:solidFill>
                  <a:srgbClr val="C792EA"/>
                </a:solidFill>
                <a:latin typeface="Consolas" pitchFamily="34" charset="0"/>
                <a:ea typeface="Consolas" pitchFamily="34" charset="-122"/>
                <a:cs typeface="Consolas" pitchFamily="34" charset="-120"/>
              </a:rPr>
              <a:t>string</a:t>
            </a:r>
            <a:r>
              <a:rPr lang="en-US" sz="1300" dirty="0">
                <a:solidFill>
                  <a:srgbClr val="E6E3F5"/>
                </a:solidFill>
                <a:latin typeface="Consolas" pitchFamily="34" charset="0"/>
                <a:ea typeface="Consolas" pitchFamily="34" charset="-122"/>
                <a:cs typeface="Consolas" pitchFamily="34" charset="-120"/>
              </a:rPr>
              <a:t>[] buah = { </a:t>
            </a:r>
            <a:r>
              <a:rPr lang="en-US" sz="1300" dirty="0">
                <a:solidFill>
                  <a:srgbClr val="C3E88D"/>
                </a:solidFill>
                <a:latin typeface="Consolas" pitchFamily="34" charset="0"/>
                <a:ea typeface="Consolas" pitchFamily="34" charset="-122"/>
                <a:cs typeface="Consolas" pitchFamily="34" charset="-120"/>
              </a:rPr>
              <a:t>"Apel"</a:t>
            </a:r>
            <a:r>
              <a:rPr lang="en-US" sz="1300" dirty="0">
                <a:solidFill>
                  <a:srgbClr val="E6E3F5"/>
                </a:solidFill>
                <a:latin typeface="Consolas" pitchFamily="34" charset="0"/>
                <a:ea typeface="Consolas" pitchFamily="34" charset="-122"/>
                <a:cs typeface="Consolas" pitchFamily="34" charset="-120"/>
              </a:rPr>
              <a:t>, </a:t>
            </a:r>
            <a:r>
              <a:rPr lang="en-US" sz="1300" dirty="0">
                <a:solidFill>
                  <a:srgbClr val="C3E88D"/>
                </a:solidFill>
                <a:latin typeface="Consolas" pitchFamily="34" charset="0"/>
                <a:ea typeface="Consolas" pitchFamily="34" charset="-122"/>
                <a:cs typeface="Consolas" pitchFamily="34" charset="-120"/>
              </a:rPr>
              <a:t>"Jeruk"</a:t>
            </a:r>
            <a:r>
              <a:rPr lang="en-US" sz="1300" dirty="0">
                <a:solidFill>
                  <a:srgbClr val="E6E3F5"/>
                </a:solidFill>
                <a:latin typeface="Consolas" pitchFamily="34" charset="0"/>
                <a:ea typeface="Consolas" pitchFamily="34" charset="-122"/>
                <a:cs typeface="Consolas" pitchFamily="34" charset="-120"/>
              </a:rPr>
              <a:t>, </a:t>
            </a:r>
            <a:r>
              <a:rPr lang="en-US" sz="1300" dirty="0">
                <a:solidFill>
                  <a:srgbClr val="C3E88D"/>
                </a:solidFill>
                <a:latin typeface="Consolas" pitchFamily="34" charset="0"/>
                <a:ea typeface="Consolas" pitchFamily="34" charset="-122"/>
                <a:cs typeface="Consolas" pitchFamily="34" charset="-120"/>
              </a:rPr>
              <a:t>"Mangga" </a:t>
            </a:r>
            <a:r>
              <a:rPr lang="en-US" sz="1300" dirty="0">
                <a:solidFill>
                  <a:srgbClr val="E6E3F5"/>
                </a:solidFill>
                <a:latin typeface="Consolas" pitchFamily="34" charset="0"/>
                <a:ea typeface="Consolas" pitchFamily="34" charset="-122"/>
                <a:cs typeface="Consolas" pitchFamily="34" charset="-120"/>
              </a:rPr>
              <a:t>};  </a:t>
            </a:r>
            <a:r>
              <a:rPr lang="en-US" sz="1300" dirty="0">
                <a:solidFill>
                  <a:srgbClr val="8A86A8"/>
                </a:solidFill>
                <a:latin typeface="Consolas" pitchFamily="34" charset="0"/>
                <a:ea typeface="Consolas" pitchFamily="34" charset="-122"/>
                <a:cs typeface="Consolas" pitchFamily="34" charset="-120"/>
              </a:rPr>
              <a:t>// singkat</a:t>
            </a:r>
            <a:endParaRPr lang="en-US" sz="13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NILAI DEFAULT</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Isi array sebelum diisi</a:t>
            </a:r>
            <a:endParaRPr lang="en-US" sz="3600" dirty="0"/>
          </a:p>
        </p:txBody>
      </p:sp>
      <p:sp>
        <p:nvSpPr>
          <p:cNvPr id="4" name="Text 2"/>
          <p:cNvSpPr txBox="1"/>
          <p:nvPr/>
        </p:nvSpPr>
        <p:spPr>
          <a:xfrm>
            <a:off x="812800" y="1905000"/>
            <a:ext cx="4978400" cy="1270000"/>
          </a:xfrm>
          <a:prstGeom prst="rect">
            <a:avLst/>
          </a:prstGeom>
          <a:noFill/>
          <a:ln/>
        </p:spPr>
        <p:txBody>
          <a:bodyPr wrap="square" lIns="0" tIns="0" rIns="0" bIns="0" rtlCol="0" anchor="t"/>
          <a:lstStyle/>
          <a:p>
            <a:pPr marL="0" indent="0">
              <a:lnSpc>
                <a:spcPct val="130000"/>
              </a:lnSpc>
              <a:buNone/>
            </a:pPr>
            <a:r>
              <a:rPr lang="en-US" sz="1800" dirty="0">
                <a:solidFill>
                  <a:srgbClr val="4A4766"/>
                </a:solidFill>
                <a:latin typeface="Segoe UI" pitchFamily="34" charset="0"/>
                <a:ea typeface="Segoe UI" pitchFamily="34" charset="-122"/>
                <a:cs typeface="Segoe UI" pitchFamily="34" charset="-120"/>
              </a:rPr>
              <a:t>Saat array dibuat dengan </a:t>
            </a:r>
            <a:r>
              <a:rPr lang="en-US" sz="1800" b="1" dirty="0">
                <a:solidFill>
                  <a:srgbClr val="1B1838"/>
                </a:solidFill>
                <a:latin typeface="Segoe UI" pitchFamily="34" charset="0"/>
                <a:ea typeface="Segoe UI" pitchFamily="34" charset="-122"/>
                <a:cs typeface="Segoe UI" pitchFamily="34" charset="-120"/>
              </a:rPr>
              <a:t>new</a:t>
            </a:r>
            <a:r>
              <a:rPr lang="en-US" sz="1800" dirty="0">
                <a:solidFill>
                  <a:srgbClr val="4A4766"/>
                </a:solidFill>
                <a:latin typeface="Segoe UI" pitchFamily="34" charset="0"/>
                <a:ea typeface="Segoe UI" pitchFamily="34" charset="-122"/>
                <a:cs typeface="Segoe UI" pitchFamily="34" charset="-120"/>
              </a:rPr>
              <a:t>, setiap elemen otomatis berisi </a:t>
            </a:r>
            <a:r>
              <a:rPr lang="en-US" sz="1800" b="1" dirty="0">
                <a:solidFill>
                  <a:srgbClr val="6D28D9"/>
                </a:solidFill>
                <a:latin typeface="Segoe UI" pitchFamily="34" charset="0"/>
                <a:ea typeface="Segoe UI" pitchFamily="34" charset="-122"/>
                <a:cs typeface="Segoe UI" pitchFamily="34" charset="-120"/>
              </a:rPr>
              <a:t>nilai default</a:t>
            </a:r>
            <a:r>
              <a:rPr lang="en-US" sz="1800" dirty="0">
                <a:solidFill>
                  <a:srgbClr val="4A4766"/>
                </a:solidFill>
                <a:latin typeface="Segoe UI" pitchFamily="34" charset="0"/>
                <a:ea typeface="Segoe UI" pitchFamily="34" charset="-122"/>
                <a:cs typeface="Segoe UI" pitchFamily="34" charset="-120"/>
              </a:rPr>
              <a:t> sesuai tipe datanya.</a:t>
            </a:r>
            <a:endParaRPr lang="en-US" sz="1800" dirty="0"/>
          </a:p>
        </p:txBody>
      </p:sp>
      <p:sp>
        <p:nvSpPr>
          <p:cNvPr id="5" name="Kode"/>
          <p:cNvSpPr/>
          <p:nvPr/>
        </p:nvSpPr>
        <p:spPr>
          <a:xfrm>
            <a:off x="812800" y="3365500"/>
            <a:ext cx="4978400" cy="1397000"/>
          </a:xfrm>
          <a:prstGeom prst="roundRect">
            <a:avLst>
              <a:gd name="adj" fmla="val 9091"/>
            </a:avLst>
          </a:prstGeom>
          <a:solidFill>
            <a:srgbClr val="0E0C1F"/>
          </a:solidFill>
          <a:ln w="12700">
            <a:solidFill>
              <a:srgbClr val="2E2A52"/>
            </a:solidFill>
            <a:prstDash val="solid"/>
          </a:ln>
        </p:spPr>
      </p:sp>
      <p:sp>
        <p:nvSpPr>
          <p:cNvPr id="6" name="Shape 4"/>
          <p:cNvSpPr/>
          <p:nvPr/>
        </p:nvSpPr>
        <p:spPr>
          <a:xfrm>
            <a:off x="1066800" y="3568700"/>
            <a:ext cx="101600" cy="101600"/>
          </a:xfrm>
          <a:prstGeom prst="ellipse">
            <a:avLst/>
          </a:prstGeom>
          <a:solidFill>
            <a:srgbClr val="FF5F57"/>
          </a:solidFill>
          <a:ln/>
        </p:spPr>
      </p:sp>
      <p:sp>
        <p:nvSpPr>
          <p:cNvPr id="7" name="Shape 5"/>
          <p:cNvSpPr/>
          <p:nvPr/>
        </p:nvSpPr>
        <p:spPr>
          <a:xfrm>
            <a:off x="1231900" y="3568700"/>
            <a:ext cx="101600" cy="101600"/>
          </a:xfrm>
          <a:prstGeom prst="ellipse">
            <a:avLst/>
          </a:prstGeom>
          <a:solidFill>
            <a:srgbClr val="FEBC2E"/>
          </a:solidFill>
          <a:ln/>
        </p:spPr>
      </p:sp>
      <p:sp>
        <p:nvSpPr>
          <p:cNvPr id="8" name="Shape 6"/>
          <p:cNvSpPr/>
          <p:nvPr/>
        </p:nvSpPr>
        <p:spPr>
          <a:xfrm>
            <a:off x="1397000" y="3568700"/>
            <a:ext cx="101600" cy="101600"/>
          </a:xfrm>
          <a:prstGeom prst="ellipse">
            <a:avLst/>
          </a:prstGeom>
          <a:solidFill>
            <a:srgbClr val="28C840"/>
          </a:solidFill>
          <a:ln/>
        </p:spPr>
      </p:sp>
      <p:sp>
        <p:nvSpPr>
          <p:cNvPr id="9" name="Text 7"/>
          <p:cNvSpPr txBox="1"/>
          <p:nvPr/>
        </p:nvSpPr>
        <p:spPr>
          <a:xfrm>
            <a:off x="1066800" y="3822700"/>
            <a:ext cx="4470400" cy="787400"/>
          </a:xfrm>
          <a:prstGeom prst="rect">
            <a:avLst/>
          </a:prstGeom>
          <a:noFill/>
          <a:ln/>
        </p:spPr>
        <p:txBody>
          <a:bodyPr wrap="square" lIns="0" tIns="0" rIns="0" bIns="0" rtlCol="0" anchor="t"/>
          <a:lstStyle/>
          <a:p>
            <a:pPr marL="0" indent="0">
              <a:lnSpc>
                <a:spcPct val="125000"/>
              </a:lnSpc>
              <a:buNone/>
            </a:pPr>
            <a:r>
              <a:rPr lang="en-US" sz="1400" dirty="0">
                <a:solidFill>
                  <a:srgbClr val="C792EA"/>
                </a:solidFill>
                <a:latin typeface="Consolas" pitchFamily="34" charset="0"/>
                <a:ea typeface="Consolas" pitchFamily="34" charset="-122"/>
                <a:cs typeface="Consolas" pitchFamily="34" charset="-120"/>
              </a:rPr>
              <a:t>int</a:t>
            </a:r>
            <a:r>
              <a:rPr lang="en-US" sz="1400" dirty="0">
                <a:solidFill>
                  <a:srgbClr val="E6E3F5"/>
                </a:solidFill>
                <a:latin typeface="Consolas" pitchFamily="34" charset="0"/>
                <a:ea typeface="Consolas" pitchFamily="34" charset="-122"/>
                <a:cs typeface="Consolas" pitchFamily="34" charset="-120"/>
              </a:rPr>
              <a:t>[] angka = </a:t>
            </a:r>
            <a:r>
              <a:rPr lang="en-US" sz="1400" dirty="0">
                <a:solidFill>
                  <a:srgbClr val="C792EA"/>
                </a:solidFill>
                <a:latin typeface="Consolas" pitchFamily="34" charset="0"/>
                <a:ea typeface="Consolas" pitchFamily="34" charset="-122"/>
                <a:cs typeface="Consolas" pitchFamily="34" charset="-120"/>
              </a:rPr>
              <a:t>new int</a:t>
            </a:r>
            <a:r>
              <a:rPr lang="en-US" sz="1400" dirty="0">
                <a:solidFill>
                  <a:srgbClr val="E6E3F5"/>
                </a:solidFill>
                <a:latin typeface="Consolas" pitchFamily="34" charset="0"/>
                <a:ea typeface="Consolas" pitchFamily="34" charset="-122"/>
                <a:cs typeface="Consolas" pitchFamily="34" charset="-120"/>
              </a:rPr>
              <a:t>[</a:t>
            </a:r>
            <a:r>
              <a:rPr lang="en-US" sz="1400" dirty="0">
                <a:solidFill>
                  <a:srgbClr val="F78C6C"/>
                </a:solidFill>
                <a:latin typeface="Consolas" pitchFamily="34" charset="0"/>
                <a:ea typeface="Consolas" pitchFamily="34" charset="-122"/>
                <a:cs typeface="Consolas" pitchFamily="34" charset="-120"/>
              </a:rPr>
              <a:t>3</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25000"/>
              </a:lnSpc>
              <a:buNone/>
            </a:pPr>
            <a:r>
              <a:rPr lang="en-US" sz="1400" dirty="0">
                <a:solidFill>
                  <a:srgbClr val="8A86A8"/>
                </a:solidFill>
                <a:latin typeface="Consolas" pitchFamily="34" charset="0"/>
                <a:ea typeface="Consolas" pitchFamily="34" charset="-122"/>
                <a:cs typeface="Consolas" pitchFamily="34" charset="-120"/>
              </a:rPr>
              <a:t>// isinya: 0, 0, 0</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0" y="1905000"/>
          <a:ext cx="4978400" cy="2667000"/>
        </p:xfrm>
        <a:graphic>
          <a:graphicData uri="http://schemas.openxmlformats.org/drawingml/2006/table">
            <a:tbl>
              <a:tblPr/>
              <a:tblGrid>
                <a:gridCol w="2730500">
                  <a:extLst>
                    <a:ext uri="{9D8B030D-6E8A-4147-A177-3AD203B41FA5}">
                      <a16:colId xmlns:a16="http://schemas.microsoft.com/office/drawing/2014/main" val="20000"/>
                    </a:ext>
                  </a:extLst>
                </a:gridCol>
                <a:gridCol w="2247900">
                  <a:extLst>
                    <a:ext uri="{9D8B030D-6E8A-4147-A177-3AD203B41FA5}">
                      <a16:colId xmlns:a16="http://schemas.microsoft.com/office/drawing/2014/main" val="20001"/>
                    </a:ext>
                  </a:extLst>
                </a:gridCol>
              </a:tblGrid>
              <a:tr h="533400">
                <a:tc>
                  <a:txBody>
                    <a:bodyPr/>
                    <a:lstStyle/>
                    <a:p>
                      <a:pPr marL="0" indent="0">
                        <a:buNone/>
                      </a:pPr>
                      <a:r>
                        <a:rPr lang="en-US" sz="1600" b="1" dirty="0">
                          <a:solidFill>
                            <a:srgbClr val="F6F4FB"/>
                          </a:solidFill>
                          <a:latin typeface="Segoe UI" pitchFamily="34" charset="0"/>
                          <a:ea typeface="Segoe UI" pitchFamily="34" charset="-122"/>
                          <a:cs typeface="Segoe UI" pitchFamily="34" charset="-120"/>
                        </a:rPr>
                        <a:t>Tipe data</a:t>
                      </a:r>
                      <a:endParaRPr lang="en-US" sz="1600" dirty="0">
                        <a:latin typeface="Segoe UI" charset="0"/>
                        <a:ea typeface="Segoe UI" charset="0"/>
                        <a:cs typeface="Segoe UI"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1B1838"/>
                    </a:solidFill>
                  </a:tcPr>
                </a:tc>
                <a:tc>
                  <a:txBody>
                    <a:bodyPr/>
                    <a:lstStyle/>
                    <a:p>
                      <a:pPr marL="0" indent="0">
                        <a:buNone/>
                      </a:pPr>
                      <a:r>
                        <a:rPr lang="en-US" sz="1600" b="1" dirty="0">
                          <a:solidFill>
                            <a:srgbClr val="F6F4FB"/>
                          </a:solidFill>
                          <a:latin typeface="Segoe UI" pitchFamily="34" charset="0"/>
                          <a:ea typeface="Segoe UI" pitchFamily="34" charset="-122"/>
                          <a:cs typeface="Segoe UI" pitchFamily="34" charset="-120"/>
                        </a:rPr>
                        <a:t>Nilai default</a:t>
                      </a:r>
                      <a:endParaRPr lang="en-US" sz="1600" dirty="0">
                        <a:latin typeface="Segoe UI" charset="0"/>
                        <a:ea typeface="Segoe UI" charset="0"/>
                        <a:cs typeface="Segoe UI"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1B1838"/>
                    </a:solidFill>
                  </a:tcPr>
                </a:tc>
                <a:extLst>
                  <a:ext uri="{0D108BD9-81ED-4DB2-BD59-A6C34878D82A}">
                    <a16:rowId xmlns:a16="http://schemas.microsoft.com/office/drawing/2014/main" val="10000"/>
                  </a:ext>
                </a:extLst>
              </a:tr>
              <a:tr h="533400">
                <a:tc>
                  <a:txBody>
                    <a:bodyPr/>
                    <a:lstStyle/>
                    <a:p>
                      <a:pPr marL="0" indent="0">
                        <a:buNone/>
                      </a:pPr>
                      <a:r>
                        <a:rPr lang="en-US" sz="1600" dirty="0">
                          <a:solidFill>
                            <a:srgbClr val="1B1838"/>
                          </a:solidFill>
                          <a:latin typeface="Segoe UI" pitchFamily="34" charset="0"/>
                          <a:ea typeface="Segoe UI" pitchFamily="34" charset="-122"/>
                          <a:cs typeface="Segoe UI" pitchFamily="34" charset="-120"/>
                        </a:rPr>
                        <a:t>int, double</a:t>
                      </a:r>
                      <a:endParaRPr lang="en-US" sz="1600" dirty="0">
                        <a:latin typeface="Segoe UI" charset="0"/>
                        <a:ea typeface="Segoe UI" charset="0"/>
                        <a:cs typeface="Segoe UI"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tc>
                  <a:txBody>
                    <a:bodyPr/>
                    <a:lstStyle/>
                    <a:p>
                      <a:pPr marL="0" indent="0">
                        <a:buNone/>
                      </a:pPr>
                      <a:r>
                        <a:rPr lang="en-US" sz="1600" dirty="0">
                          <a:solidFill>
                            <a:srgbClr val="1B1838"/>
                          </a:solidFill>
                          <a:latin typeface="Consolas" pitchFamily="34" charset="0"/>
                          <a:ea typeface="Consolas" pitchFamily="34" charset="-122"/>
                          <a:cs typeface="Consolas" pitchFamily="34" charset="-120"/>
                        </a:rPr>
                        <a:t>0</a:t>
                      </a:r>
                      <a:endParaRPr lang="en-US" sz="16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extLst>
                  <a:ext uri="{0D108BD9-81ED-4DB2-BD59-A6C34878D82A}">
                    <a16:rowId xmlns:a16="http://schemas.microsoft.com/office/drawing/2014/main" val="10001"/>
                  </a:ext>
                </a:extLst>
              </a:tr>
              <a:tr h="533400">
                <a:tc>
                  <a:txBody>
                    <a:bodyPr/>
                    <a:lstStyle/>
                    <a:p>
                      <a:pPr marL="0" indent="0">
                        <a:buNone/>
                      </a:pPr>
                      <a:r>
                        <a:rPr lang="en-US" sz="1600" dirty="0">
                          <a:solidFill>
                            <a:srgbClr val="1B1838"/>
                          </a:solidFill>
                          <a:latin typeface="Segoe UI" pitchFamily="34" charset="0"/>
                          <a:ea typeface="Segoe UI" pitchFamily="34" charset="-122"/>
                          <a:cs typeface="Segoe UI" pitchFamily="34" charset="-120"/>
                        </a:rPr>
                        <a:t>bool</a:t>
                      </a:r>
                      <a:endParaRPr lang="en-US" sz="1600" dirty="0">
                        <a:latin typeface="Segoe UI" charset="0"/>
                        <a:ea typeface="Segoe UI" charset="0"/>
                        <a:cs typeface="Segoe UI"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EDE9F7"/>
                    </a:solidFill>
                  </a:tcPr>
                </a:tc>
                <a:tc>
                  <a:txBody>
                    <a:bodyPr/>
                    <a:lstStyle/>
                    <a:p>
                      <a:pPr marL="0" indent="0">
                        <a:buNone/>
                      </a:pPr>
                      <a:r>
                        <a:rPr lang="en-US" sz="1600" dirty="0">
                          <a:solidFill>
                            <a:srgbClr val="1B1838"/>
                          </a:solidFill>
                          <a:latin typeface="Consolas" pitchFamily="34" charset="0"/>
                          <a:ea typeface="Consolas" pitchFamily="34" charset="-122"/>
                          <a:cs typeface="Consolas" pitchFamily="34" charset="-120"/>
                        </a:rPr>
                        <a:t>false</a:t>
                      </a:r>
                      <a:endParaRPr lang="en-US" sz="16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EDE9F7"/>
                    </a:solidFill>
                  </a:tcPr>
                </a:tc>
                <a:extLst>
                  <a:ext uri="{0D108BD9-81ED-4DB2-BD59-A6C34878D82A}">
                    <a16:rowId xmlns:a16="http://schemas.microsoft.com/office/drawing/2014/main" val="10002"/>
                  </a:ext>
                </a:extLst>
              </a:tr>
              <a:tr h="533400">
                <a:tc>
                  <a:txBody>
                    <a:bodyPr/>
                    <a:lstStyle/>
                    <a:p>
                      <a:pPr marL="0" indent="0">
                        <a:buNone/>
                      </a:pPr>
                      <a:r>
                        <a:rPr lang="en-US" sz="1600" dirty="0">
                          <a:solidFill>
                            <a:srgbClr val="1B1838"/>
                          </a:solidFill>
                          <a:latin typeface="Segoe UI" pitchFamily="34" charset="0"/>
                          <a:ea typeface="Segoe UI" pitchFamily="34" charset="-122"/>
                          <a:cs typeface="Segoe UI" pitchFamily="34" charset="-120"/>
                        </a:rPr>
                        <a:t>string</a:t>
                      </a:r>
                      <a:endParaRPr lang="en-US" sz="1600" dirty="0">
                        <a:latin typeface="Segoe UI" charset="0"/>
                        <a:ea typeface="Segoe UI" charset="0"/>
                        <a:cs typeface="Segoe UI"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tc>
                  <a:txBody>
                    <a:bodyPr/>
                    <a:lstStyle/>
                    <a:p>
                      <a:pPr marL="0" indent="0">
                        <a:buNone/>
                      </a:pPr>
                      <a:r>
                        <a:rPr lang="en-US" sz="1600" dirty="0">
                          <a:solidFill>
                            <a:srgbClr val="1B1838"/>
                          </a:solidFill>
                          <a:latin typeface="Consolas" pitchFamily="34" charset="0"/>
                          <a:ea typeface="Consolas" pitchFamily="34" charset="-122"/>
                          <a:cs typeface="Consolas" pitchFamily="34" charset="-120"/>
                        </a:rPr>
                        <a:t>null</a:t>
                      </a:r>
                      <a:endParaRPr lang="en-US" sz="16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extLst>
                  <a:ext uri="{0D108BD9-81ED-4DB2-BD59-A6C34878D82A}">
                    <a16:rowId xmlns:a16="http://schemas.microsoft.com/office/drawing/2014/main" val="10003"/>
                  </a:ext>
                </a:extLst>
              </a:tr>
              <a:tr h="533400">
                <a:tc>
                  <a:txBody>
                    <a:bodyPr/>
                    <a:lstStyle/>
                    <a:p>
                      <a:pPr marL="0" indent="0">
                        <a:buNone/>
                      </a:pPr>
                      <a:r>
                        <a:rPr lang="en-US" sz="1600" dirty="0">
                          <a:solidFill>
                            <a:srgbClr val="1B1838"/>
                          </a:solidFill>
                          <a:latin typeface="Segoe UI" pitchFamily="34" charset="0"/>
                          <a:ea typeface="Segoe UI" pitchFamily="34" charset="-122"/>
                          <a:cs typeface="Segoe UI" pitchFamily="34" charset="-120"/>
                        </a:rPr>
                        <a:t>char</a:t>
                      </a:r>
                      <a:endParaRPr lang="en-US" sz="1600" dirty="0">
                        <a:latin typeface="Segoe UI" charset="0"/>
                        <a:ea typeface="Segoe UI" charset="0"/>
                        <a:cs typeface="Segoe UI"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EDE9F7"/>
                    </a:solidFill>
                  </a:tcPr>
                </a:tc>
                <a:tc>
                  <a:txBody>
                    <a:bodyPr/>
                    <a:lstStyle/>
                    <a:p>
                      <a:pPr marL="0" indent="0">
                        <a:buNone/>
                      </a:pPr>
                      <a:r>
                        <a:rPr lang="en-US" sz="1600" dirty="0">
                          <a:solidFill>
                            <a:srgbClr val="1B1838"/>
                          </a:solidFill>
                          <a:latin typeface="Consolas" pitchFamily="34" charset="0"/>
                          <a:ea typeface="Consolas" pitchFamily="34" charset="-122"/>
                          <a:cs typeface="Consolas" pitchFamily="34" charset="-120"/>
                        </a:rPr>
                        <a:t>'\0'</a:t>
                      </a:r>
                      <a:endParaRPr lang="en-US" sz="16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EDE9F7"/>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02500" y="1651000"/>
            <a:ext cx="4445000" cy="3302000"/>
          </a:xfrm>
          <a:prstGeom prst="rect">
            <a:avLst/>
          </a:prstGeom>
          <a:noFill/>
          <a:ln/>
        </p:spPr>
        <p:txBody>
          <a:bodyPr wrap="square" lIns="0" tIns="0" rIns="0" bIns="0" rtlCol="0" anchor="ctr"/>
          <a:lstStyle/>
          <a:p>
            <a:pPr marL="0" indent="0" algn="ctr">
              <a:buNone/>
            </a:pPr>
            <a:r>
              <a:rPr lang="en-US" sz="20000" b="1" dirty="0">
                <a:solidFill>
                  <a:srgbClr val="7C3AED"/>
                </a:solidFill>
                <a:latin typeface="Consolas" pitchFamily="34" charset="0"/>
                <a:ea typeface="Consolas" pitchFamily="34" charset="-122"/>
                <a:cs typeface="Consolas" pitchFamily="34" charset="-120"/>
              </a:rPr>
              <a:t>[ ]</a:t>
            </a:r>
            <a:endParaRPr lang="en-US" sz="20000" dirty="0"/>
          </a:p>
        </p:txBody>
      </p:sp>
      <p:sp>
        <p:nvSpPr>
          <p:cNvPr id="3" name="Text 1"/>
          <p:cNvSpPr>
            <a:spLocks noGrp="1"/>
          </p:cNvSpPr>
          <p:nvPr>
            <p:ph type="body" idx="101" hasCustomPrompt="1"/>
          </p:nvPr>
        </p:nvSpPr>
        <p:spPr>
          <a:xfrm>
            <a:off x="812800" y="2019300"/>
            <a:ext cx="6350000" cy="254000"/>
          </a:xfrm>
          <a:prstGeom prst="rect">
            <a:avLst/>
          </a:prstGeom>
          <a:noFill/>
          <a:ln/>
        </p:spPr>
        <p:txBody>
          <a:bodyPr wrap="square" lIns="0" tIns="0" rIns="0" bIns="0" rtlCol="0" anchor="t"/>
          <a:lstStyle/>
          <a:p>
            <a:pPr marL="0" indent="0" algn="l">
              <a:buNone/>
            </a:pPr>
            <a:r>
              <a:rPr lang="en-US" sz="1200" b="1" kern="0" spc="400" dirty="0">
                <a:solidFill>
                  <a:srgbClr val="EDE9FE"/>
                </a:solidFill>
                <a:latin typeface="Segoe UI" pitchFamily="34" charset="0"/>
                <a:ea typeface="Segoe UI" pitchFamily="34" charset="-122"/>
                <a:cs typeface="Segoe UI" pitchFamily="34" charset="-120"/>
              </a:rPr>
              <a:t>BAGIAN 2</a:t>
            </a:r>
            <a:endParaRPr lang="en-US" sz="1200" dirty="0"/>
          </a:p>
        </p:txBody>
      </p:sp>
      <p:sp>
        <p:nvSpPr>
          <p:cNvPr id="4" name="Text 1"/>
          <p:cNvSpPr>
            <a:spLocks noGrp="1"/>
          </p:cNvSpPr>
          <p:nvPr>
            <p:ph type="title" idx="102" hasCustomPrompt="1"/>
          </p:nvPr>
        </p:nvSpPr>
        <p:spPr>
          <a:xfrm>
            <a:off x="812800" y="2349500"/>
            <a:ext cx="6604000" cy="1905000"/>
          </a:xfrm>
          <a:prstGeom prst="rect">
            <a:avLst/>
          </a:prstGeom>
          <a:noFill/>
          <a:ln/>
        </p:spPr>
        <p:txBody>
          <a:bodyPr wrap="square" lIns="0" tIns="0" rIns="0" bIns="0" rtlCol="0" anchor="t"/>
          <a:lstStyle/>
          <a:p>
            <a:pPr marL="0" indent="0" algn="l">
              <a:buNone/>
            </a:pPr>
            <a:r>
              <a:rPr lang="en-US" sz="6000" dirty="0">
                <a:solidFill>
                  <a:srgbClr val="F6F4FB"/>
                </a:solidFill>
                <a:latin typeface="Segoe UI Semibold" pitchFamily="34" charset="0"/>
                <a:ea typeface="Segoe UI Semibold" pitchFamily="34" charset="-122"/>
                <a:cs typeface="Segoe UI Semibold" pitchFamily="34" charset="-120"/>
              </a:rPr>
              <a:t>Menyimpan Data ke Array</a:t>
            </a:r>
            <a:endParaRPr lang="en-US" sz="6000" dirty="0"/>
          </a:p>
        </p:txBody>
      </p:sp>
      <p:sp>
        <p:nvSpPr>
          <p:cNvPr id="5" name="Text 1"/>
          <p:cNvSpPr>
            <a:spLocks noGrp="1"/>
          </p:cNvSpPr>
          <p:nvPr>
            <p:ph type="body" idx="103" hasCustomPrompt="1"/>
          </p:nvPr>
        </p:nvSpPr>
        <p:spPr>
          <a:xfrm>
            <a:off x="812800" y="4381500"/>
            <a:ext cx="5969000" cy="762000"/>
          </a:xfrm>
          <a:prstGeom prst="rect">
            <a:avLst/>
          </a:prstGeom>
          <a:noFill/>
          <a:ln/>
        </p:spPr>
        <p:txBody>
          <a:bodyPr wrap="square" lIns="0" tIns="0" rIns="0" bIns="0" rtlCol="0" anchor="t"/>
          <a:lstStyle/>
          <a:p>
            <a:pPr marL="0" indent="0" algn="l">
              <a:buNone/>
            </a:pPr>
            <a:r>
              <a:rPr lang="en-US" sz="1800" dirty="0">
                <a:solidFill>
                  <a:srgbClr val="EDE9FE"/>
                </a:solidFill>
                <a:latin typeface="Segoe UI" pitchFamily="34" charset="0"/>
                <a:ea typeface="Segoe UI" pitchFamily="34" charset="-122"/>
                <a:cs typeface="Segoe UI" pitchFamily="34" charset="-120"/>
              </a:rPr>
              <a:t>Mengisi elemen lewat index, perulangan for, dan input dari user.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MENYIMPAN DATA · CARA 1</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Mengisi lewat index</a:t>
            </a:r>
            <a:endParaRPr lang="en-US" sz="3600" dirty="0"/>
          </a:p>
        </p:txBody>
      </p:sp>
      <p:sp>
        <p:nvSpPr>
          <p:cNvPr id="4" name="Kode"/>
          <p:cNvSpPr/>
          <p:nvPr/>
        </p:nvSpPr>
        <p:spPr>
          <a:xfrm>
            <a:off x="812800" y="1905000"/>
            <a:ext cx="4978400" cy="3098800"/>
          </a:xfrm>
          <a:prstGeom prst="roundRect">
            <a:avLst>
              <a:gd name="adj" fmla="val 4098"/>
            </a:avLst>
          </a:prstGeom>
          <a:solidFill>
            <a:srgbClr val="0E0C1F"/>
          </a:solidFill>
          <a:ln w="12700">
            <a:solidFill>
              <a:srgbClr val="2E2A52"/>
            </a:solidFill>
            <a:prstDash val="solid"/>
          </a:ln>
        </p:spPr>
      </p:sp>
      <p:sp>
        <p:nvSpPr>
          <p:cNvPr id="5" name="Shape 3"/>
          <p:cNvSpPr/>
          <p:nvPr/>
        </p:nvSpPr>
        <p:spPr>
          <a:xfrm>
            <a:off x="1066800" y="2108200"/>
            <a:ext cx="101600" cy="101600"/>
          </a:xfrm>
          <a:prstGeom prst="ellipse">
            <a:avLst/>
          </a:prstGeom>
          <a:solidFill>
            <a:srgbClr val="FF5F57"/>
          </a:solidFill>
          <a:ln/>
        </p:spPr>
      </p:sp>
      <p:sp>
        <p:nvSpPr>
          <p:cNvPr id="6" name="Shape 4"/>
          <p:cNvSpPr/>
          <p:nvPr/>
        </p:nvSpPr>
        <p:spPr>
          <a:xfrm>
            <a:off x="1231900" y="2108200"/>
            <a:ext cx="101600" cy="101600"/>
          </a:xfrm>
          <a:prstGeom prst="ellipse">
            <a:avLst/>
          </a:prstGeom>
          <a:solidFill>
            <a:srgbClr val="FEBC2E"/>
          </a:solidFill>
          <a:ln/>
        </p:spPr>
      </p:sp>
      <p:sp>
        <p:nvSpPr>
          <p:cNvPr id="7" name="Shape 5"/>
          <p:cNvSpPr/>
          <p:nvPr/>
        </p:nvSpPr>
        <p:spPr>
          <a:xfrm>
            <a:off x="1397000" y="2108200"/>
            <a:ext cx="101600" cy="101600"/>
          </a:xfrm>
          <a:prstGeom prst="ellipse">
            <a:avLst/>
          </a:prstGeom>
          <a:solidFill>
            <a:srgbClr val="28C840"/>
          </a:solidFill>
          <a:ln/>
        </p:spPr>
      </p:sp>
      <p:sp>
        <p:nvSpPr>
          <p:cNvPr id="8" name="Text 6"/>
          <p:cNvSpPr txBox="1"/>
          <p:nvPr/>
        </p:nvSpPr>
        <p:spPr>
          <a:xfrm>
            <a:off x="1066800" y="2362200"/>
            <a:ext cx="4470400" cy="2489200"/>
          </a:xfrm>
          <a:prstGeom prst="rect">
            <a:avLst/>
          </a:prstGeom>
          <a:noFill/>
          <a:ln/>
        </p:spPr>
        <p:txBody>
          <a:bodyPr wrap="square" lIns="0" tIns="0" rIns="0" bIns="0" rtlCol="0" anchor="t"/>
          <a:lstStyle/>
          <a:p>
            <a:pPr marL="0" indent="0">
              <a:lnSpc>
                <a:spcPct val="135000"/>
              </a:lnSpc>
              <a:buNone/>
            </a:pPr>
            <a:r>
              <a:rPr lang="en-US" sz="1400" dirty="0">
                <a:solidFill>
                  <a:srgbClr val="C792EA"/>
                </a:solidFill>
                <a:latin typeface="Consolas" pitchFamily="34" charset="0"/>
                <a:ea typeface="Consolas" pitchFamily="34" charset="-122"/>
                <a:cs typeface="Consolas" pitchFamily="34" charset="-120"/>
              </a:rPr>
              <a:t>int</a:t>
            </a:r>
            <a:r>
              <a:rPr lang="en-US" sz="1400" dirty="0">
                <a:solidFill>
                  <a:srgbClr val="E6E3F5"/>
                </a:solidFill>
                <a:latin typeface="Consolas" pitchFamily="34" charset="0"/>
                <a:ea typeface="Consolas" pitchFamily="34" charset="-122"/>
                <a:cs typeface="Consolas" pitchFamily="34" charset="-120"/>
              </a:rPr>
              <a:t>[] nilai = </a:t>
            </a:r>
            <a:r>
              <a:rPr lang="en-US" sz="1400" dirty="0">
                <a:solidFill>
                  <a:srgbClr val="C792EA"/>
                </a:solidFill>
                <a:latin typeface="Consolas" pitchFamily="34" charset="0"/>
                <a:ea typeface="Consolas" pitchFamily="34" charset="-122"/>
                <a:cs typeface="Consolas" pitchFamily="34" charset="-120"/>
              </a:rPr>
              <a:t>new int</a:t>
            </a:r>
            <a:r>
              <a:rPr lang="en-US" sz="1400" dirty="0">
                <a:solidFill>
                  <a:srgbClr val="E6E3F5"/>
                </a:solidFill>
                <a:latin typeface="Consolas" pitchFamily="34" charset="0"/>
                <a:ea typeface="Consolas" pitchFamily="34" charset="-122"/>
                <a:cs typeface="Consolas" pitchFamily="34" charset="-120"/>
              </a:rPr>
              <a:t>[</a:t>
            </a:r>
            <a:r>
              <a:rPr lang="en-US" sz="1400" dirty="0">
                <a:solidFill>
                  <a:srgbClr val="F78C6C"/>
                </a:solidFill>
                <a:latin typeface="Consolas" pitchFamily="34" charset="0"/>
                <a:ea typeface="Consolas" pitchFamily="34" charset="-122"/>
                <a:cs typeface="Consolas" pitchFamily="34" charset="-120"/>
              </a:rPr>
              <a:t>3</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5000"/>
              </a:lnSpc>
              <a:buNone/>
            </a:pPr>
            <a:r>
              <a:rPr lang="en-US" sz="1400" dirty="0">
                <a:solidFill>
                  <a:srgbClr val="E6E3F5"/>
                </a:solidFill>
                <a:latin typeface="Consolas" pitchFamily="34" charset="0"/>
                <a:ea typeface="Consolas" pitchFamily="34" charset="-122"/>
                <a:cs typeface="Consolas" pitchFamily="34" charset="-120"/>
              </a:rPr>
              <a:t> </a:t>
            </a:r>
            <a:endParaRPr lang="en-US" sz="1400" dirty="0"/>
          </a:p>
          <a:p>
            <a:pPr marL="0" indent="0">
              <a:lnSpc>
                <a:spcPct val="135000"/>
              </a:lnSpc>
              <a:buNone/>
            </a:pPr>
            <a:r>
              <a:rPr lang="en-US" sz="1400" dirty="0">
                <a:solidFill>
                  <a:srgbClr val="E6E3F5"/>
                </a:solidFill>
                <a:latin typeface="Consolas" pitchFamily="34" charset="0"/>
                <a:ea typeface="Consolas" pitchFamily="34" charset="-122"/>
                <a:cs typeface="Consolas" pitchFamily="34" charset="-120"/>
              </a:rPr>
              <a:t>nilai[</a:t>
            </a:r>
            <a:r>
              <a:rPr lang="en-US" sz="1400" dirty="0">
                <a:solidFill>
                  <a:srgbClr val="F78C6C"/>
                </a:solidFill>
                <a:latin typeface="Consolas" pitchFamily="34" charset="0"/>
                <a:ea typeface="Consolas" pitchFamily="34" charset="-122"/>
                <a:cs typeface="Consolas" pitchFamily="34" charset="-120"/>
              </a:rPr>
              <a:t>0</a:t>
            </a:r>
            <a:r>
              <a:rPr lang="en-US" sz="1400" dirty="0">
                <a:solidFill>
                  <a:srgbClr val="E6E3F5"/>
                </a:solidFill>
                <a:latin typeface="Consolas" pitchFamily="34" charset="0"/>
                <a:ea typeface="Consolas" pitchFamily="34" charset="-122"/>
                <a:cs typeface="Consolas" pitchFamily="34" charset="-120"/>
              </a:rPr>
              <a:t>] = </a:t>
            </a:r>
            <a:r>
              <a:rPr lang="en-US" sz="1400" dirty="0">
                <a:solidFill>
                  <a:srgbClr val="F78C6C"/>
                </a:solidFill>
                <a:latin typeface="Consolas" pitchFamily="34" charset="0"/>
                <a:ea typeface="Consolas" pitchFamily="34" charset="-122"/>
                <a:cs typeface="Consolas" pitchFamily="34" charset="-120"/>
              </a:rPr>
              <a:t>80</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5000"/>
              </a:lnSpc>
              <a:buNone/>
            </a:pPr>
            <a:r>
              <a:rPr lang="en-US" sz="1400" dirty="0">
                <a:solidFill>
                  <a:srgbClr val="E6E3F5"/>
                </a:solidFill>
                <a:latin typeface="Consolas" pitchFamily="34" charset="0"/>
                <a:ea typeface="Consolas" pitchFamily="34" charset="-122"/>
                <a:cs typeface="Consolas" pitchFamily="34" charset="-120"/>
              </a:rPr>
              <a:t>nilai[</a:t>
            </a:r>
            <a:r>
              <a:rPr lang="en-US" sz="1400" dirty="0">
                <a:solidFill>
                  <a:srgbClr val="F78C6C"/>
                </a:solidFill>
                <a:latin typeface="Consolas" pitchFamily="34" charset="0"/>
                <a:ea typeface="Consolas" pitchFamily="34" charset="-122"/>
                <a:cs typeface="Consolas" pitchFamily="34" charset="-120"/>
              </a:rPr>
              <a:t>1</a:t>
            </a:r>
            <a:r>
              <a:rPr lang="en-US" sz="1400" dirty="0">
                <a:solidFill>
                  <a:srgbClr val="E6E3F5"/>
                </a:solidFill>
                <a:latin typeface="Consolas" pitchFamily="34" charset="0"/>
                <a:ea typeface="Consolas" pitchFamily="34" charset="-122"/>
                <a:cs typeface="Consolas" pitchFamily="34" charset="-120"/>
              </a:rPr>
              <a:t>] = </a:t>
            </a:r>
            <a:r>
              <a:rPr lang="en-US" sz="1400" dirty="0">
                <a:solidFill>
                  <a:srgbClr val="F78C6C"/>
                </a:solidFill>
                <a:latin typeface="Consolas" pitchFamily="34" charset="0"/>
                <a:ea typeface="Consolas" pitchFamily="34" charset="-122"/>
                <a:cs typeface="Consolas" pitchFamily="34" charset="-120"/>
              </a:rPr>
              <a:t>75</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5000"/>
              </a:lnSpc>
              <a:buNone/>
            </a:pPr>
            <a:r>
              <a:rPr lang="en-US" sz="1400" dirty="0">
                <a:solidFill>
                  <a:srgbClr val="E6E3F5"/>
                </a:solidFill>
                <a:latin typeface="Consolas" pitchFamily="34" charset="0"/>
                <a:ea typeface="Consolas" pitchFamily="34" charset="-122"/>
                <a:cs typeface="Consolas" pitchFamily="34" charset="-120"/>
              </a:rPr>
              <a:t>nilai[</a:t>
            </a:r>
            <a:r>
              <a:rPr lang="en-US" sz="1400" dirty="0">
                <a:solidFill>
                  <a:srgbClr val="F78C6C"/>
                </a:solidFill>
                <a:latin typeface="Consolas" pitchFamily="34" charset="0"/>
                <a:ea typeface="Consolas" pitchFamily="34" charset="-122"/>
                <a:cs typeface="Consolas" pitchFamily="34" charset="-120"/>
              </a:rPr>
              <a:t>2</a:t>
            </a:r>
            <a:r>
              <a:rPr lang="en-US" sz="1400" dirty="0">
                <a:solidFill>
                  <a:srgbClr val="E6E3F5"/>
                </a:solidFill>
                <a:latin typeface="Consolas" pitchFamily="34" charset="0"/>
                <a:ea typeface="Consolas" pitchFamily="34" charset="-122"/>
                <a:cs typeface="Consolas" pitchFamily="34" charset="-120"/>
              </a:rPr>
              <a:t>] = </a:t>
            </a:r>
            <a:r>
              <a:rPr lang="en-US" sz="1400" dirty="0">
                <a:solidFill>
                  <a:srgbClr val="F78C6C"/>
                </a:solidFill>
                <a:latin typeface="Consolas" pitchFamily="34" charset="0"/>
                <a:ea typeface="Consolas" pitchFamily="34" charset="-122"/>
                <a:cs typeface="Consolas" pitchFamily="34" charset="-120"/>
              </a:rPr>
              <a:t>90</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5000"/>
              </a:lnSpc>
              <a:buNone/>
            </a:pPr>
            <a:r>
              <a:rPr lang="en-US" sz="1400" dirty="0">
                <a:solidFill>
                  <a:srgbClr val="E6E3F5"/>
                </a:solidFill>
                <a:latin typeface="Consolas" pitchFamily="34" charset="0"/>
                <a:ea typeface="Consolas" pitchFamily="34" charset="-122"/>
                <a:cs typeface="Consolas" pitchFamily="34" charset="-120"/>
              </a:rPr>
              <a:t> </a:t>
            </a:r>
            <a:endParaRPr lang="en-US" sz="1400" dirty="0"/>
          </a:p>
          <a:p>
            <a:pPr marL="0" indent="0">
              <a:lnSpc>
                <a:spcPct val="135000"/>
              </a:lnSpc>
              <a:buNone/>
            </a:pPr>
            <a:r>
              <a:rPr lang="en-US" sz="1400" dirty="0">
                <a:solidFill>
                  <a:srgbClr val="8A86A8"/>
                </a:solidFill>
                <a:latin typeface="Consolas" pitchFamily="34" charset="0"/>
                <a:ea typeface="Consolas" pitchFamily="34" charset="-122"/>
                <a:cs typeface="Consolas" pitchFamily="34" charset="-120"/>
              </a:rPr>
              <a:t>// mengubah isi elemen</a:t>
            </a:r>
            <a:endParaRPr lang="en-US" sz="1400" dirty="0"/>
          </a:p>
          <a:p>
            <a:pPr marL="0" indent="0">
              <a:lnSpc>
                <a:spcPct val="135000"/>
              </a:lnSpc>
              <a:buNone/>
            </a:pPr>
            <a:r>
              <a:rPr lang="en-US" sz="1400" dirty="0">
                <a:solidFill>
                  <a:srgbClr val="E6E3F5"/>
                </a:solidFill>
                <a:latin typeface="Consolas" pitchFamily="34" charset="0"/>
                <a:ea typeface="Consolas" pitchFamily="34" charset="-122"/>
                <a:cs typeface="Consolas" pitchFamily="34" charset="-120"/>
              </a:rPr>
              <a:t>nilai[</a:t>
            </a:r>
            <a:r>
              <a:rPr lang="en-US" sz="1400" dirty="0">
                <a:solidFill>
                  <a:srgbClr val="F78C6C"/>
                </a:solidFill>
                <a:latin typeface="Consolas" pitchFamily="34" charset="0"/>
                <a:ea typeface="Consolas" pitchFamily="34" charset="-122"/>
                <a:cs typeface="Consolas" pitchFamily="34" charset="-120"/>
              </a:rPr>
              <a:t>1</a:t>
            </a:r>
            <a:r>
              <a:rPr lang="en-US" sz="1400" dirty="0">
                <a:solidFill>
                  <a:srgbClr val="E6E3F5"/>
                </a:solidFill>
                <a:latin typeface="Consolas" pitchFamily="34" charset="0"/>
                <a:ea typeface="Consolas" pitchFamily="34" charset="-122"/>
                <a:cs typeface="Consolas" pitchFamily="34" charset="-120"/>
              </a:rPr>
              <a:t>] = </a:t>
            </a:r>
            <a:r>
              <a:rPr lang="en-US" sz="1400" dirty="0">
                <a:solidFill>
                  <a:srgbClr val="F78C6C"/>
                </a:solidFill>
                <a:latin typeface="Consolas" pitchFamily="34" charset="0"/>
                <a:ea typeface="Consolas" pitchFamily="34" charset="-122"/>
                <a:cs typeface="Consolas" pitchFamily="34" charset="-120"/>
              </a:rPr>
              <a:t>100</a:t>
            </a:r>
            <a:r>
              <a:rPr lang="en-US" sz="1400" dirty="0">
                <a:solidFill>
                  <a:srgbClr val="E6E3F5"/>
                </a:solidFill>
                <a:latin typeface="Consolas" pitchFamily="34" charset="0"/>
                <a:ea typeface="Consolas" pitchFamily="34" charset="-122"/>
                <a:cs typeface="Consolas" pitchFamily="34" charset="-120"/>
              </a:rPr>
              <a:t>;</a:t>
            </a:r>
            <a:endParaRPr lang="en-US" sz="1400" dirty="0"/>
          </a:p>
        </p:txBody>
      </p:sp>
      <p:sp>
        <p:nvSpPr>
          <p:cNvPr id="9" name="Text 7"/>
          <p:cNvSpPr txBox="1"/>
          <p:nvPr/>
        </p:nvSpPr>
        <p:spPr>
          <a:xfrm>
            <a:off x="6400800" y="1905000"/>
            <a:ext cx="4445000" cy="215900"/>
          </a:xfrm>
          <a:prstGeom prst="rect">
            <a:avLst/>
          </a:prstGeom>
          <a:noFill/>
          <a:ln/>
        </p:spPr>
        <p:txBody>
          <a:bodyPr wrap="square" lIns="0" tIns="0" rIns="0" bIns="0" rtlCol="0" anchor="t"/>
          <a:lstStyle/>
          <a:p>
            <a:pPr marL="0" indent="0">
              <a:buNone/>
            </a:pPr>
            <a:r>
              <a:rPr lang="en-US" sz="1200" b="1" kern="0" spc="200" dirty="0">
                <a:solidFill>
                  <a:srgbClr val="8A86A8"/>
                </a:solidFill>
                <a:latin typeface="Segoe UI" pitchFamily="34" charset="0"/>
                <a:ea typeface="Segoe UI" pitchFamily="34" charset="-122"/>
                <a:cs typeface="Segoe UI" pitchFamily="34" charset="-120"/>
              </a:rPr>
              <a:t>1 · BARU DIBUAT</a:t>
            </a:r>
            <a:endParaRPr lang="en-US" sz="1200" dirty="0"/>
          </a:p>
        </p:txBody>
      </p:sp>
      <p:sp>
        <p:nvSpPr>
          <p:cNvPr id="10" name="Shape 8"/>
          <p:cNvSpPr/>
          <p:nvPr/>
        </p:nvSpPr>
        <p:spPr>
          <a:xfrm>
            <a:off x="6400800" y="2197100"/>
            <a:ext cx="1016000" cy="609600"/>
          </a:xfrm>
          <a:prstGeom prst="roundRect">
            <a:avLst>
              <a:gd name="adj" fmla="val 14583"/>
            </a:avLst>
          </a:prstGeom>
          <a:solidFill>
            <a:srgbClr val="1D1A3A"/>
          </a:solidFill>
          <a:ln w="25400">
            <a:solidFill>
              <a:srgbClr val="3B3570"/>
            </a:solidFill>
            <a:prstDash val="dash"/>
          </a:ln>
        </p:spPr>
      </p:sp>
      <p:sp>
        <p:nvSpPr>
          <p:cNvPr id="11" name="Text 9"/>
          <p:cNvSpPr txBox="1"/>
          <p:nvPr/>
        </p:nvSpPr>
        <p:spPr>
          <a:xfrm>
            <a:off x="6400800" y="2197100"/>
            <a:ext cx="1016000" cy="609600"/>
          </a:xfrm>
          <a:prstGeom prst="rect">
            <a:avLst/>
          </a:prstGeom>
          <a:noFill/>
          <a:ln/>
        </p:spPr>
        <p:txBody>
          <a:bodyPr wrap="square" lIns="0" tIns="0" rIns="0" bIns="0" rtlCol="0" anchor="ctr"/>
          <a:lstStyle/>
          <a:p>
            <a:pPr marL="0" indent="0" algn="ctr">
              <a:buNone/>
            </a:pPr>
            <a:r>
              <a:rPr lang="en-US" sz="2000" dirty="0">
                <a:solidFill>
                  <a:srgbClr val="8A86A8"/>
                </a:solidFill>
                <a:latin typeface="Segoe UI Semibold" pitchFamily="34" charset="0"/>
                <a:ea typeface="Segoe UI Semibold" pitchFamily="34" charset="-122"/>
                <a:cs typeface="Segoe UI Semibold" pitchFamily="34" charset="-120"/>
              </a:rPr>
              <a:t>0</a:t>
            </a:r>
            <a:endParaRPr lang="en-US" sz="2000" dirty="0"/>
          </a:p>
        </p:txBody>
      </p:sp>
      <p:sp>
        <p:nvSpPr>
          <p:cNvPr id="12" name="Shape 10"/>
          <p:cNvSpPr/>
          <p:nvPr/>
        </p:nvSpPr>
        <p:spPr>
          <a:xfrm>
            <a:off x="7518400" y="2197100"/>
            <a:ext cx="1016000" cy="609600"/>
          </a:xfrm>
          <a:prstGeom prst="roundRect">
            <a:avLst>
              <a:gd name="adj" fmla="val 14583"/>
            </a:avLst>
          </a:prstGeom>
          <a:solidFill>
            <a:srgbClr val="1D1A3A"/>
          </a:solidFill>
          <a:ln w="25400">
            <a:solidFill>
              <a:srgbClr val="3B3570"/>
            </a:solidFill>
            <a:prstDash val="dash"/>
          </a:ln>
        </p:spPr>
      </p:sp>
      <p:sp>
        <p:nvSpPr>
          <p:cNvPr id="13" name="Text 11"/>
          <p:cNvSpPr txBox="1"/>
          <p:nvPr/>
        </p:nvSpPr>
        <p:spPr>
          <a:xfrm>
            <a:off x="7518400" y="2197100"/>
            <a:ext cx="1016000" cy="609600"/>
          </a:xfrm>
          <a:prstGeom prst="rect">
            <a:avLst/>
          </a:prstGeom>
          <a:noFill/>
          <a:ln/>
        </p:spPr>
        <p:txBody>
          <a:bodyPr wrap="square" lIns="0" tIns="0" rIns="0" bIns="0" rtlCol="0" anchor="ctr"/>
          <a:lstStyle/>
          <a:p>
            <a:pPr marL="0" indent="0" algn="ctr">
              <a:buNone/>
            </a:pPr>
            <a:r>
              <a:rPr lang="en-US" sz="2000" dirty="0">
                <a:solidFill>
                  <a:srgbClr val="8A86A8"/>
                </a:solidFill>
                <a:latin typeface="Segoe UI Semibold" pitchFamily="34" charset="0"/>
                <a:ea typeface="Segoe UI Semibold" pitchFamily="34" charset="-122"/>
                <a:cs typeface="Segoe UI Semibold" pitchFamily="34" charset="-120"/>
              </a:rPr>
              <a:t>0</a:t>
            </a:r>
            <a:endParaRPr lang="en-US" sz="2000" dirty="0"/>
          </a:p>
        </p:txBody>
      </p:sp>
      <p:sp>
        <p:nvSpPr>
          <p:cNvPr id="14" name="Shape 12"/>
          <p:cNvSpPr/>
          <p:nvPr/>
        </p:nvSpPr>
        <p:spPr>
          <a:xfrm>
            <a:off x="8636000" y="2197100"/>
            <a:ext cx="1016000" cy="609600"/>
          </a:xfrm>
          <a:prstGeom prst="roundRect">
            <a:avLst>
              <a:gd name="adj" fmla="val 14583"/>
            </a:avLst>
          </a:prstGeom>
          <a:solidFill>
            <a:srgbClr val="1D1A3A"/>
          </a:solidFill>
          <a:ln w="25400">
            <a:solidFill>
              <a:srgbClr val="3B3570"/>
            </a:solidFill>
            <a:prstDash val="dash"/>
          </a:ln>
        </p:spPr>
      </p:sp>
      <p:sp>
        <p:nvSpPr>
          <p:cNvPr id="15" name="Text 13"/>
          <p:cNvSpPr txBox="1"/>
          <p:nvPr/>
        </p:nvSpPr>
        <p:spPr>
          <a:xfrm>
            <a:off x="8636000" y="2197100"/>
            <a:ext cx="1016000" cy="609600"/>
          </a:xfrm>
          <a:prstGeom prst="rect">
            <a:avLst/>
          </a:prstGeom>
          <a:noFill/>
          <a:ln/>
        </p:spPr>
        <p:txBody>
          <a:bodyPr wrap="square" lIns="0" tIns="0" rIns="0" bIns="0" rtlCol="0" anchor="ctr"/>
          <a:lstStyle/>
          <a:p>
            <a:pPr marL="0" indent="0" algn="ctr">
              <a:buNone/>
            </a:pPr>
            <a:r>
              <a:rPr lang="en-US" sz="2000" dirty="0">
                <a:solidFill>
                  <a:srgbClr val="8A86A8"/>
                </a:solidFill>
                <a:latin typeface="Segoe UI Semibold" pitchFamily="34" charset="0"/>
                <a:ea typeface="Segoe UI Semibold" pitchFamily="34" charset="-122"/>
                <a:cs typeface="Segoe UI Semibold" pitchFamily="34" charset="-120"/>
              </a:rPr>
              <a:t>0</a:t>
            </a:r>
            <a:endParaRPr lang="en-US" sz="2000" dirty="0"/>
          </a:p>
        </p:txBody>
      </p:sp>
      <p:sp>
        <p:nvSpPr>
          <p:cNvPr id="16" name="Text 14"/>
          <p:cNvSpPr txBox="1"/>
          <p:nvPr/>
        </p:nvSpPr>
        <p:spPr>
          <a:xfrm>
            <a:off x="6400800" y="3086100"/>
            <a:ext cx="4445000" cy="215900"/>
          </a:xfrm>
          <a:prstGeom prst="rect">
            <a:avLst/>
          </a:prstGeom>
          <a:noFill/>
          <a:ln/>
        </p:spPr>
        <p:txBody>
          <a:bodyPr wrap="square" lIns="0" tIns="0" rIns="0" bIns="0" rtlCol="0" anchor="t"/>
          <a:lstStyle/>
          <a:p>
            <a:pPr marL="0" indent="0">
              <a:buNone/>
            </a:pPr>
            <a:r>
              <a:rPr lang="en-US" sz="1200" b="1" kern="0" spc="200" dirty="0">
                <a:solidFill>
                  <a:srgbClr val="A78BFA"/>
                </a:solidFill>
                <a:latin typeface="Segoe UI" pitchFamily="34" charset="0"/>
                <a:ea typeface="Segoe UI" pitchFamily="34" charset="-122"/>
                <a:cs typeface="Segoe UI" pitchFamily="34" charset="-120"/>
              </a:rPr>
              <a:t>2 · SETELAH DIISI</a:t>
            </a:r>
            <a:endParaRPr lang="en-US" sz="1200" dirty="0"/>
          </a:p>
        </p:txBody>
      </p:sp>
      <p:sp>
        <p:nvSpPr>
          <p:cNvPr id="17" name="Shape 15"/>
          <p:cNvSpPr/>
          <p:nvPr/>
        </p:nvSpPr>
        <p:spPr>
          <a:xfrm>
            <a:off x="6400800" y="3378200"/>
            <a:ext cx="1016000" cy="609600"/>
          </a:xfrm>
          <a:prstGeom prst="roundRect">
            <a:avLst>
              <a:gd name="adj" fmla="val 14583"/>
            </a:avLst>
          </a:prstGeom>
          <a:solidFill>
            <a:srgbClr val="2E2766"/>
          </a:solidFill>
          <a:ln w="25400">
            <a:solidFill>
              <a:srgbClr val="A78BFA"/>
            </a:solidFill>
            <a:prstDash val="solid"/>
          </a:ln>
        </p:spPr>
      </p:sp>
      <p:sp>
        <p:nvSpPr>
          <p:cNvPr id="18" name="Text 16"/>
          <p:cNvSpPr txBox="1"/>
          <p:nvPr/>
        </p:nvSpPr>
        <p:spPr>
          <a:xfrm>
            <a:off x="6400800" y="3378200"/>
            <a:ext cx="1016000" cy="609600"/>
          </a:xfrm>
          <a:prstGeom prst="rect">
            <a:avLst/>
          </a:prstGeom>
          <a:noFill/>
          <a:ln/>
        </p:spPr>
        <p:txBody>
          <a:bodyPr wrap="square" lIns="0" tIns="0" rIns="0" bIns="0" rtlCol="0" anchor="ctr"/>
          <a:lstStyle/>
          <a:p>
            <a:pPr marL="0" indent="0" algn="ctr">
              <a:buNone/>
            </a:pPr>
            <a:r>
              <a:rPr lang="en-US" sz="2000" dirty="0">
                <a:solidFill>
                  <a:srgbClr val="F6F4FB"/>
                </a:solidFill>
                <a:latin typeface="Segoe UI Semibold" pitchFamily="34" charset="0"/>
                <a:ea typeface="Segoe UI Semibold" pitchFamily="34" charset="-122"/>
                <a:cs typeface="Segoe UI Semibold" pitchFamily="34" charset="-120"/>
              </a:rPr>
              <a:t>80</a:t>
            </a:r>
            <a:endParaRPr lang="en-US" sz="2000" dirty="0"/>
          </a:p>
        </p:txBody>
      </p:sp>
      <p:sp>
        <p:nvSpPr>
          <p:cNvPr id="19" name="Shape 17"/>
          <p:cNvSpPr/>
          <p:nvPr/>
        </p:nvSpPr>
        <p:spPr>
          <a:xfrm>
            <a:off x="7518400" y="3378200"/>
            <a:ext cx="1016000" cy="609600"/>
          </a:xfrm>
          <a:prstGeom prst="roundRect">
            <a:avLst>
              <a:gd name="adj" fmla="val 14583"/>
            </a:avLst>
          </a:prstGeom>
          <a:solidFill>
            <a:srgbClr val="2E2766"/>
          </a:solidFill>
          <a:ln w="25400">
            <a:solidFill>
              <a:srgbClr val="A78BFA"/>
            </a:solidFill>
            <a:prstDash val="solid"/>
          </a:ln>
        </p:spPr>
      </p:sp>
      <p:sp>
        <p:nvSpPr>
          <p:cNvPr id="20" name="Text 18"/>
          <p:cNvSpPr txBox="1"/>
          <p:nvPr/>
        </p:nvSpPr>
        <p:spPr>
          <a:xfrm>
            <a:off x="7518400" y="3378200"/>
            <a:ext cx="1016000" cy="609600"/>
          </a:xfrm>
          <a:prstGeom prst="rect">
            <a:avLst/>
          </a:prstGeom>
          <a:noFill/>
          <a:ln/>
        </p:spPr>
        <p:txBody>
          <a:bodyPr wrap="square" lIns="0" tIns="0" rIns="0" bIns="0" rtlCol="0" anchor="ctr"/>
          <a:lstStyle/>
          <a:p>
            <a:pPr marL="0" indent="0" algn="ctr">
              <a:buNone/>
            </a:pPr>
            <a:r>
              <a:rPr lang="en-US" sz="2000" dirty="0">
                <a:solidFill>
                  <a:srgbClr val="F6F4FB"/>
                </a:solidFill>
                <a:latin typeface="Segoe UI Semibold" pitchFamily="34" charset="0"/>
                <a:ea typeface="Segoe UI Semibold" pitchFamily="34" charset="-122"/>
                <a:cs typeface="Segoe UI Semibold" pitchFamily="34" charset="-120"/>
              </a:rPr>
              <a:t>75</a:t>
            </a:r>
            <a:endParaRPr lang="en-US" sz="2000" dirty="0"/>
          </a:p>
        </p:txBody>
      </p:sp>
      <p:sp>
        <p:nvSpPr>
          <p:cNvPr id="21" name="Shape 19"/>
          <p:cNvSpPr/>
          <p:nvPr/>
        </p:nvSpPr>
        <p:spPr>
          <a:xfrm>
            <a:off x="8636000" y="3378200"/>
            <a:ext cx="1016000" cy="609600"/>
          </a:xfrm>
          <a:prstGeom prst="roundRect">
            <a:avLst>
              <a:gd name="adj" fmla="val 14583"/>
            </a:avLst>
          </a:prstGeom>
          <a:solidFill>
            <a:srgbClr val="2E2766"/>
          </a:solidFill>
          <a:ln w="25400">
            <a:solidFill>
              <a:srgbClr val="A78BFA"/>
            </a:solidFill>
            <a:prstDash val="solid"/>
          </a:ln>
        </p:spPr>
      </p:sp>
      <p:sp>
        <p:nvSpPr>
          <p:cNvPr id="22" name="Text 20"/>
          <p:cNvSpPr txBox="1"/>
          <p:nvPr/>
        </p:nvSpPr>
        <p:spPr>
          <a:xfrm>
            <a:off x="8636000" y="3378200"/>
            <a:ext cx="1016000" cy="609600"/>
          </a:xfrm>
          <a:prstGeom prst="rect">
            <a:avLst/>
          </a:prstGeom>
          <a:noFill/>
          <a:ln/>
        </p:spPr>
        <p:txBody>
          <a:bodyPr wrap="square" lIns="0" tIns="0" rIns="0" bIns="0" rtlCol="0" anchor="ctr"/>
          <a:lstStyle/>
          <a:p>
            <a:pPr marL="0" indent="0" algn="ctr">
              <a:buNone/>
            </a:pPr>
            <a:r>
              <a:rPr lang="en-US" sz="2000" dirty="0">
                <a:solidFill>
                  <a:srgbClr val="F6F4FB"/>
                </a:solidFill>
                <a:latin typeface="Segoe UI Semibold" pitchFamily="34" charset="0"/>
                <a:ea typeface="Segoe UI Semibold" pitchFamily="34" charset="-122"/>
                <a:cs typeface="Segoe UI Semibold" pitchFamily="34" charset="-120"/>
              </a:rPr>
              <a:t>90</a:t>
            </a:r>
            <a:endParaRPr lang="en-US" sz="2000" dirty="0"/>
          </a:p>
        </p:txBody>
      </p:sp>
      <p:sp>
        <p:nvSpPr>
          <p:cNvPr id="23" name="Text 21"/>
          <p:cNvSpPr txBox="1"/>
          <p:nvPr/>
        </p:nvSpPr>
        <p:spPr>
          <a:xfrm>
            <a:off x="6400800" y="4267200"/>
            <a:ext cx="4445000" cy="215900"/>
          </a:xfrm>
          <a:prstGeom prst="rect">
            <a:avLst/>
          </a:prstGeom>
          <a:noFill/>
          <a:ln/>
        </p:spPr>
        <p:txBody>
          <a:bodyPr wrap="square" lIns="0" tIns="0" rIns="0" bIns="0" rtlCol="0" anchor="t"/>
          <a:lstStyle/>
          <a:p>
            <a:pPr marL="0" indent="0">
              <a:buNone/>
            </a:pPr>
            <a:r>
              <a:rPr lang="en-US" sz="1200" b="1" kern="0" spc="200" dirty="0">
                <a:solidFill>
                  <a:srgbClr val="FBBF24"/>
                </a:solidFill>
                <a:latin typeface="Segoe UI" pitchFamily="34" charset="0"/>
                <a:ea typeface="Segoe UI" pitchFamily="34" charset="-122"/>
                <a:cs typeface="Segoe UI" pitchFamily="34" charset="-120"/>
              </a:rPr>
              <a:t>3 · INDEX 1 DIUBAH</a:t>
            </a:r>
            <a:endParaRPr lang="en-US" sz="1200" dirty="0"/>
          </a:p>
        </p:txBody>
      </p:sp>
      <p:sp>
        <p:nvSpPr>
          <p:cNvPr id="24" name="Shape 22"/>
          <p:cNvSpPr/>
          <p:nvPr/>
        </p:nvSpPr>
        <p:spPr>
          <a:xfrm>
            <a:off x="6400800" y="4559300"/>
            <a:ext cx="1016000" cy="609600"/>
          </a:xfrm>
          <a:prstGeom prst="roundRect">
            <a:avLst>
              <a:gd name="adj" fmla="val 14583"/>
            </a:avLst>
          </a:prstGeom>
          <a:solidFill>
            <a:srgbClr val="2E2766"/>
          </a:solidFill>
          <a:ln w="25400">
            <a:solidFill>
              <a:srgbClr val="A78BFA"/>
            </a:solidFill>
            <a:prstDash val="solid"/>
          </a:ln>
        </p:spPr>
      </p:sp>
      <p:sp>
        <p:nvSpPr>
          <p:cNvPr id="25" name="Text 23"/>
          <p:cNvSpPr txBox="1"/>
          <p:nvPr/>
        </p:nvSpPr>
        <p:spPr>
          <a:xfrm>
            <a:off x="6400800" y="4559300"/>
            <a:ext cx="1016000" cy="609600"/>
          </a:xfrm>
          <a:prstGeom prst="rect">
            <a:avLst/>
          </a:prstGeom>
          <a:noFill/>
          <a:ln/>
        </p:spPr>
        <p:txBody>
          <a:bodyPr wrap="square" lIns="0" tIns="0" rIns="0" bIns="0" rtlCol="0" anchor="ctr"/>
          <a:lstStyle/>
          <a:p>
            <a:pPr marL="0" indent="0" algn="ctr">
              <a:buNone/>
            </a:pPr>
            <a:r>
              <a:rPr lang="en-US" sz="2000" dirty="0">
                <a:solidFill>
                  <a:srgbClr val="F6F4FB"/>
                </a:solidFill>
                <a:latin typeface="Segoe UI Semibold" pitchFamily="34" charset="0"/>
                <a:ea typeface="Segoe UI Semibold" pitchFamily="34" charset="-122"/>
                <a:cs typeface="Segoe UI Semibold" pitchFamily="34" charset="-120"/>
              </a:rPr>
              <a:t>80</a:t>
            </a:r>
            <a:endParaRPr lang="en-US" sz="2000" dirty="0"/>
          </a:p>
        </p:txBody>
      </p:sp>
      <p:sp>
        <p:nvSpPr>
          <p:cNvPr id="26" name="Shape 24"/>
          <p:cNvSpPr/>
          <p:nvPr/>
        </p:nvSpPr>
        <p:spPr>
          <a:xfrm>
            <a:off x="7518400" y="4559300"/>
            <a:ext cx="1016000" cy="609600"/>
          </a:xfrm>
          <a:prstGeom prst="roundRect">
            <a:avLst>
              <a:gd name="adj" fmla="val 14583"/>
            </a:avLst>
          </a:prstGeom>
          <a:solidFill>
            <a:srgbClr val="F59E0B"/>
          </a:solidFill>
          <a:ln w="25400">
            <a:solidFill>
              <a:srgbClr val="F59E0B"/>
            </a:solidFill>
            <a:prstDash val="solid"/>
          </a:ln>
        </p:spPr>
      </p:sp>
      <p:sp>
        <p:nvSpPr>
          <p:cNvPr id="27" name="Text 25"/>
          <p:cNvSpPr txBox="1"/>
          <p:nvPr/>
        </p:nvSpPr>
        <p:spPr>
          <a:xfrm>
            <a:off x="7518400" y="4559300"/>
            <a:ext cx="1016000" cy="609600"/>
          </a:xfrm>
          <a:prstGeom prst="rect">
            <a:avLst/>
          </a:prstGeom>
          <a:noFill/>
          <a:ln/>
        </p:spPr>
        <p:txBody>
          <a:bodyPr wrap="square" lIns="0" tIns="0" rIns="0" bIns="0" rtlCol="0" anchor="ctr"/>
          <a:lstStyle/>
          <a:p>
            <a:pPr marL="0" indent="0" algn="ctr">
              <a:buNone/>
            </a:pPr>
            <a:r>
              <a:rPr lang="en-US" sz="2000" dirty="0">
                <a:solidFill>
                  <a:srgbClr val="1B1838"/>
                </a:solidFill>
                <a:latin typeface="Segoe UI Semibold" pitchFamily="34" charset="0"/>
                <a:ea typeface="Segoe UI Semibold" pitchFamily="34" charset="-122"/>
                <a:cs typeface="Segoe UI Semibold" pitchFamily="34" charset="-120"/>
              </a:rPr>
              <a:t>100</a:t>
            </a:r>
            <a:endParaRPr lang="en-US" sz="2000" dirty="0"/>
          </a:p>
        </p:txBody>
      </p:sp>
      <p:sp>
        <p:nvSpPr>
          <p:cNvPr id="28" name="Shape 26"/>
          <p:cNvSpPr/>
          <p:nvPr/>
        </p:nvSpPr>
        <p:spPr>
          <a:xfrm>
            <a:off x="8636000" y="4559300"/>
            <a:ext cx="1016000" cy="609600"/>
          </a:xfrm>
          <a:prstGeom prst="roundRect">
            <a:avLst>
              <a:gd name="adj" fmla="val 14583"/>
            </a:avLst>
          </a:prstGeom>
          <a:solidFill>
            <a:srgbClr val="2E2766"/>
          </a:solidFill>
          <a:ln w="25400">
            <a:solidFill>
              <a:srgbClr val="A78BFA"/>
            </a:solidFill>
            <a:prstDash val="solid"/>
          </a:ln>
        </p:spPr>
      </p:sp>
      <p:sp>
        <p:nvSpPr>
          <p:cNvPr id="29" name="Text 27"/>
          <p:cNvSpPr txBox="1"/>
          <p:nvPr/>
        </p:nvSpPr>
        <p:spPr>
          <a:xfrm>
            <a:off x="8636000" y="4559300"/>
            <a:ext cx="1016000" cy="609600"/>
          </a:xfrm>
          <a:prstGeom prst="rect">
            <a:avLst/>
          </a:prstGeom>
          <a:noFill/>
          <a:ln/>
        </p:spPr>
        <p:txBody>
          <a:bodyPr wrap="square" lIns="0" tIns="0" rIns="0" bIns="0" rtlCol="0" anchor="ctr"/>
          <a:lstStyle/>
          <a:p>
            <a:pPr marL="0" indent="0" algn="ctr">
              <a:buNone/>
            </a:pPr>
            <a:r>
              <a:rPr lang="en-US" sz="2000" dirty="0">
                <a:solidFill>
                  <a:srgbClr val="F6F4FB"/>
                </a:solidFill>
                <a:latin typeface="Segoe UI Semibold" pitchFamily="34" charset="0"/>
                <a:ea typeface="Segoe UI Semibold" pitchFamily="34" charset="-122"/>
                <a:cs typeface="Segoe UI Semibold" pitchFamily="34" charset="-120"/>
              </a:rPr>
              <a:t>90</a:t>
            </a:r>
            <a:endParaRPr lang="en-US" sz="2000" dirty="0"/>
          </a:p>
        </p:txBody>
      </p:sp>
      <p:sp>
        <p:nvSpPr>
          <p:cNvPr id="30"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MENYIMPAN DATA · CARA 2</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Mengisi dengan perulangan for</a:t>
            </a:r>
            <a:endParaRPr lang="en-US" sz="3600" dirty="0"/>
          </a:p>
        </p:txBody>
      </p:sp>
      <p:sp>
        <p:nvSpPr>
          <p:cNvPr id="4" name="Kode"/>
          <p:cNvSpPr/>
          <p:nvPr/>
        </p:nvSpPr>
        <p:spPr>
          <a:xfrm>
            <a:off x="812800" y="1905000"/>
            <a:ext cx="4978400" cy="2286000"/>
          </a:xfrm>
          <a:prstGeom prst="roundRect">
            <a:avLst>
              <a:gd name="adj" fmla="val 5556"/>
            </a:avLst>
          </a:prstGeom>
          <a:solidFill>
            <a:srgbClr val="0E0C1F"/>
          </a:solidFill>
          <a:ln w="12700">
            <a:solidFill>
              <a:srgbClr val="2E2A52"/>
            </a:solidFill>
            <a:prstDash val="solid"/>
          </a:ln>
        </p:spPr>
      </p:sp>
      <p:sp>
        <p:nvSpPr>
          <p:cNvPr id="5" name="Shape 3"/>
          <p:cNvSpPr/>
          <p:nvPr/>
        </p:nvSpPr>
        <p:spPr>
          <a:xfrm>
            <a:off x="1066800" y="2108200"/>
            <a:ext cx="101600" cy="101600"/>
          </a:xfrm>
          <a:prstGeom prst="ellipse">
            <a:avLst/>
          </a:prstGeom>
          <a:solidFill>
            <a:srgbClr val="FF5F57"/>
          </a:solidFill>
          <a:ln/>
        </p:spPr>
      </p:sp>
      <p:sp>
        <p:nvSpPr>
          <p:cNvPr id="6" name="Shape 4"/>
          <p:cNvSpPr/>
          <p:nvPr/>
        </p:nvSpPr>
        <p:spPr>
          <a:xfrm>
            <a:off x="1231900" y="2108200"/>
            <a:ext cx="101600" cy="101600"/>
          </a:xfrm>
          <a:prstGeom prst="ellipse">
            <a:avLst/>
          </a:prstGeom>
          <a:solidFill>
            <a:srgbClr val="FEBC2E"/>
          </a:solidFill>
          <a:ln/>
        </p:spPr>
      </p:sp>
      <p:sp>
        <p:nvSpPr>
          <p:cNvPr id="7" name="Shape 5"/>
          <p:cNvSpPr/>
          <p:nvPr/>
        </p:nvSpPr>
        <p:spPr>
          <a:xfrm>
            <a:off x="1397000" y="2108200"/>
            <a:ext cx="101600" cy="101600"/>
          </a:xfrm>
          <a:prstGeom prst="ellipse">
            <a:avLst/>
          </a:prstGeom>
          <a:solidFill>
            <a:srgbClr val="28C840"/>
          </a:solidFill>
          <a:ln/>
        </p:spPr>
      </p:sp>
      <p:sp>
        <p:nvSpPr>
          <p:cNvPr id="8" name="Text 6"/>
          <p:cNvSpPr txBox="1"/>
          <p:nvPr/>
        </p:nvSpPr>
        <p:spPr>
          <a:xfrm>
            <a:off x="1066800" y="2362200"/>
            <a:ext cx="4470400" cy="1676400"/>
          </a:xfrm>
          <a:prstGeom prst="rect">
            <a:avLst/>
          </a:prstGeom>
          <a:noFill/>
          <a:ln/>
        </p:spPr>
        <p:txBody>
          <a:bodyPr wrap="square" lIns="0" tIns="0" rIns="0" bIns="0" rtlCol="0" anchor="t"/>
          <a:lstStyle/>
          <a:p>
            <a:pPr marL="0" indent="0">
              <a:lnSpc>
                <a:spcPct val="130000"/>
              </a:lnSpc>
              <a:buNone/>
            </a:pPr>
            <a:r>
              <a:rPr lang="en-US" sz="1400" dirty="0">
                <a:solidFill>
                  <a:srgbClr val="C792EA"/>
                </a:solidFill>
                <a:latin typeface="Consolas" pitchFamily="34" charset="0"/>
                <a:ea typeface="Consolas" pitchFamily="34" charset="-122"/>
                <a:cs typeface="Consolas" pitchFamily="34" charset="-120"/>
              </a:rPr>
              <a:t>int</a:t>
            </a:r>
            <a:r>
              <a:rPr lang="en-US" sz="1400" dirty="0">
                <a:solidFill>
                  <a:srgbClr val="E6E3F5"/>
                </a:solidFill>
                <a:latin typeface="Consolas" pitchFamily="34" charset="0"/>
                <a:ea typeface="Consolas" pitchFamily="34" charset="-122"/>
                <a:cs typeface="Consolas" pitchFamily="34" charset="-120"/>
              </a:rPr>
              <a:t>[] angka = </a:t>
            </a:r>
            <a:r>
              <a:rPr lang="en-US" sz="1400" dirty="0">
                <a:solidFill>
                  <a:srgbClr val="C792EA"/>
                </a:solidFill>
                <a:latin typeface="Consolas" pitchFamily="34" charset="0"/>
                <a:ea typeface="Consolas" pitchFamily="34" charset="-122"/>
                <a:cs typeface="Consolas" pitchFamily="34" charset="-120"/>
              </a:rPr>
              <a:t>new int</a:t>
            </a:r>
            <a:r>
              <a:rPr lang="en-US" sz="1400" dirty="0">
                <a:solidFill>
                  <a:srgbClr val="E6E3F5"/>
                </a:solidFill>
                <a:latin typeface="Consolas" pitchFamily="34" charset="0"/>
                <a:ea typeface="Consolas" pitchFamily="34" charset="-122"/>
                <a:cs typeface="Consolas" pitchFamily="34" charset="-120"/>
              </a:rPr>
              <a:t>[</a:t>
            </a:r>
            <a:r>
              <a:rPr lang="en-US" sz="1400" dirty="0">
                <a:solidFill>
                  <a:srgbClr val="F78C6C"/>
                </a:solidFill>
                <a:latin typeface="Consolas" pitchFamily="34" charset="0"/>
                <a:ea typeface="Consolas" pitchFamily="34" charset="-122"/>
                <a:cs typeface="Consolas" pitchFamily="34" charset="-120"/>
              </a:rPr>
              <a:t>5</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0000"/>
              </a:lnSpc>
              <a:buNone/>
            </a:pPr>
            <a:r>
              <a:rPr lang="en-US" sz="1400" dirty="0">
                <a:solidFill>
                  <a:srgbClr val="E6E3F5"/>
                </a:solidFill>
                <a:latin typeface="Consolas" pitchFamily="34" charset="0"/>
                <a:ea typeface="Consolas" pitchFamily="34" charset="-122"/>
                <a:cs typeface="Consolas" pitchFamily="34" charset="-120"/>
              </a:rPr>
              <a:t> </a:t>
            </a:r>
            <a:endParaRPr lang="en-US" sz="1400" dirty="0"/>
          </a:p>
          <a:p>
            <a:pPr marL="0" indent="0">
              <a:lnSpc>
                <a:spcPct val="130000"/>
              </a:lnSpc>
              <a:buNone/>
            </a:pPr>
            <a:r>
              <a:rPr lang="en-US" sz="1400" dirty="0">
                <a:solidFill>
                  <a:srgbClr val="C792EA"/>
                </a:solidFill>
                <a:latin typeface="Consolas" pitchFamily="34" charset="0"/>
                <a:ea typeface="Consolas" pitchFamily="34" charset="-122"/>
                <a:cs typeface="Consolas" pitchFamily="34" charset="-120"/>
              </a:rPr>
              <a:t>for </a:t>
            </a:r>
            <a:r>
              <a:rPr lang="en-US" sz="1400" dirty="0">
                <a:solidFill>
                  <a:srgbClr val="E6E3F5"/>
                </a:solidFill>
                <a:latin typeface="Consolas" pitchFamily="34" charset="0"/>
                <a:ea typeface="Consolas" pitchFamily="34" charset="-122"/>
                <a:cs typeface="Consolas" pitchFamily="34" charset="-120"/>
              </a:rPr>
              <a:t>(</a:t>
            </a:r>
            <a:r>
              <a:rPr lang="en-US" sz="1400" dirty="0">
                <a:solidFill>
                  <a:srgbClr val="C792EA"/>
                </a:solidFill>
                <a:latin typeface="Consolas" pitchFamily="34" charset="0"/>
                <a:ea typeface="Consolas" pitchFamily="34" charset="-122"/>
                <a:cs typeface="Consolas" pitchFamily="34" charset="-120"/>
              </a:rPr>
              <a:t>int </a:t>
            </a:r>
            <a:r>
              <a:rPr lang="en-US" sz="1400" dirty="0">
                <a:solidFill>
                  <a:srgbClr val="E6E3F5"/>
                </a:solidFill>
                <a:latin typeface="Consolas" pitchFamily="34" charset="0"/>
                <a:ea typeface="Consolas" pitchFamily="34" charset="-122"/>
                <a:cs typeface="Consolas" pitchFamily="34" charset="-120"/>
              </a:rPr>
              <a:t>i = </a:t>
            </a:r>
            <a:r>
              <a:rPr lang="en-US" sz="1400" dirty="0">
                <a:solidFill>
                  <a:srgbClr val="F78C6C"/>
                </a:solidFill>
                <a:latin typeface="Consolas" pitchFamily="34" charset="0"/>
                <a:ea typeface="Consolas" pitchFamily="34" charset="-122"/>
                <a:cs typeface="Consolas" pitchFamily="34" charset="-120"/>
              </a:rPr>
              <a:t>0</a:t>
            </a:r>
            <a:r>
              <a:rPr lang="en-US" sz="1400" dirty="0">
                <a:solidFill>
                  <a:srgbClr val="E6E3F5"/>
                </a:solidFill>
                <a:latin typeface="Consolas" pitchFamily="34" charset="0"/>
                <a:ea typeface="Consolas" pitchFamily="34" charset="-122"/>
                <a:cs typeface="Consolas" pitchFamily="34" charset="-120"/>
              </a:rPr>
              <a:t>; i &lt; angka.Length; i++)</a:t>
            </a:r>
            <a:endParaRPr lang="en-US" sz="1400" dirty="0"/>
          </a:p>
          <a:p>
            <a:pPr marL="0" indent="0">
              <a:lnSpc>
                <a:spcPct val="130000"/>
              </a:lnSpc>
              <a:buNone/>
            </a:pP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0000"/>
              </a:lnSpc>
              <a:buNone/>
            </a:pPr>
            <a:r>
              <a:rPr lang="en-US" sz="1400" dirty="0">
                <a:solidFill>
                  <a:srgbClr val="E6E3F5"/>
                </a:solidFill>
                <a:latin typeface="Consolas" pitchFamily="34" charset="0"/>
                <a:ea typeface="Consolas" pitchFamily="34" charset="-122"/>
                <a:cs typeface="Consolas" pitchFamily="34" charset="-120"/>
              </a:rPr>
              <a:t>    angka[i] = (i + </a:t>
            </a:r>
            <a:r>
              <a:rPr lang="en-US" sz="1400" dirty="0">
                <a:solidFill>
                  <a:srgbClr val="F78C6C"/>
                </a:solidFill>
                <a:latin typeface="Consolas" pitchFamily="34" charset="0"/>
                <a:ea typeface="Consolas" pitchFamily="34" charset="-122"/>
                <a:cs typeface="Consolas" pitchFamily="34" charset="-120"/>
              </a:rPr>
              <a:t>1</a:t>
            </a:r>
            <a:r>
              <a:rPr lang="en-US" sz="1400" dirty="0">
                <a:solidFill>
                  <a:srgbClr val="E6E3F5"/>
                </a:solidFill>
                <a:latin typeface="Consolas" pitchFamily="34" charset="0"/>
                <a:ea typeface="Consolas" pitchFamily="34" charset="-122"/>
                <a:cs typeface="Consolas" pitchFamily="34" charset="-120"/>
              </a:rPr>
              <a:t>) * </a:t>
            </a:r>
            <a:r>
              <a:rPr lang="en-US" sz="1400" dirty="0">
                <a:solidFill>
                  <a:srgbClr val="F78C6C"/>
                </a:solidFill>
                <a:latin typeface="Consolas" pitchFamily="34" charset="0"/>
                <a:ea typeface="Consolas" pitchFamily="34" charset="-122"/>
                <a:cs typeface="Consolas" pitchFamily="34" charset="-120"/>
              </a:rPr>
              <a:t>10</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0000"/>
              </a:lnSpc>
              <a:buNone/>
            </a:pPr>
            <a:r>
              <a:rPr lang="en-US" sz="1400" dirty="0">
                <a:solidFill>
                  <a:srgbClr val="E6E3F5"/>
                </a:solidFill>
                <a:latin typeface="Consolas" pitchFamily="34" charset="0"/>
                <a:ea typeface="Consolas" pitchFamily="34" charset="-122"/>
                <a:cs typeface="Consolas" pitchFamily="34" charset="-120"/>
              </a:rPr>
              <a:t>}</a:t>
            </a:r>
            <a:endParaRPr lang="en-US" sz="1400" dirty="0"/>
          </a:p>
        </p:txBody>
      </p:sp>
      <p:sp>
        <p:nvSpPr>
          <p:cNvPr id="9" name="Shape 7"/>
          <p:cNvSpPr/>
          <p:nvPr/>
        </p:nvSpPr>
        <p:spPr>
          <a:xfrm>
            <a:off x="812800" y="4381500"/>
            <a:ext cx="4978400" cy="762000"/>
          </a:xfrm>
          <a:prstGeom prst="roundRect">
            <a:avLst>
              <a:gd name="adj" fmla="val 13333"/>
            </a:avLst>
          </a:prstGeom>
          <a:solidFill>
            <a:srgbClr val="EDE9F7"/>
          </a:solidFill>
          <a:ln/>
        </p:spPr>
      </p:sp>
      <p:sp>
        <p:nvSpPr>
          <p:cNvPr id="10" name="Text 8"/>
          <p:cNvSpPr txBox="1"/>
          <p:nvPr/>
        </p:nvSpPr>
        <p:spPr>
          <a:xfrm>
            <a:off x="1016000" y="4381500"/>
            <a:ext cx="4572000" cy="762000"/>
          </a:xfrm>
          <a:prstGeom prst="rect">
            <a:avLst/>
          </a:prstGeom>
          <a:noFill/>
          <a:ln/>
        </p:spPr>
        <p:txBody>
          <a:bodyPr wrap="square" lIns="0" tIns="0" rIns="0" bIns="0" rtlCol="0" anchor="ctr"/>
          <a:lstStyle/>
          <a:p>
            <a:pPr marL="0" indent="0">
              <a:lnSpc>
                <a:spcPct val="120000"/>
              </a:lnSpc>
              <a:buNone/>
            </a:pPr>
            <a:r>
              <a:rPr lang="en-US" sz="1400" b="1" dirty="0">
                <a:solidFill>
                  <a:srgbClr val="6D28D9"/>
                </a:solidFill>
                <a:latin typeface="Segoe UI" pitchFamily="34" charset="0"/>
                <a:ea typeface="Segoe UI" pitchFamily="34" charset="-122"/>
                <a:cs typeface="Segoe UI" pitchFamily="34" charset="-120"/>
              </a:rPr>
              <a:t>Tips: </a:t>
            </a:r>
            <a:r>
              <a:rPr lang="en-US" sz="1400" dirty="0">
                <a:solidFill>
                  <a:srgbClr val="1B1838"/>
                </a:solidFill>
                <a:latin typeface="Segoe UI" pitchFamily="34" charset="0"/>
                <a:ea typeface="Segoe UI" pitchFamily="34" charset="-122"/>
                <a:cs typeface="Segoe UI" pitchFamily="34" charset="-120"/>
              </a:rPr>
              <a:t>pakai </a:t>
            </a:r>
            <a:r>
              <a:rPr lang="en-US" sz="1400" b="1" dirty="0">
                <a:solidFill>
                  <a:srgbClr val="1B1838"/>
                </a:solidFill>
                <a:latin typeface="Consolas" pitchFamily="34" charset="0"/>
                <a:ea typeface="Consolas" pitchFamily="34" charset="-122"/>
                <a:cs typeface="Consolas" pitchFamily="34" charset="-120"/>
              </a:rPr>
              <a:t>i &lt; angka.Length</a:t>
            </a:r>
            <a:r>
              <a:rPr lang="en-US" sz="1400" dirty="0">
                <a:solidFill>
                  <a:srgbClr val="1B1838"/>
                </a:solidFill>
                <a:latin typeface="Segoe UI" pitchFamily="34" charset="0"/>
                <a:ea typeface="Segoe UI" pitchFamily="34" charset="-122"/>
                <a:cs typeface="Segoe UI" pitchFamily="34" charset="-120"/>
              </a:rPr>
              <a:t> agar index tidak melewati batas array.</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0" y="1905000"/>
          <a:ext cx="4978400" cy="2514600"/>
        </p:xfrm>
        <a:graphic>
          <a:graphicData uri="http://schemas.openxmlformats.org/drawingml/2006/table">
            <a:tbl>
              <a:tblPr/>
              <a:tblGrid>
                <a:gridCol w="1270000">
                  <a:extLst>
                    <a:ext uri="{9D8B030D-6E8A-4147-A177-3AD203B41FA5}">
                      <a16:colId xmlns:a16="http://schemas.microsoft.com/office/drawing/2014/main" val="20000"/>
                    </a:ext>
                  </a:extLst>
                </a:gridCol>
                <a:gridCol w="3708400">
                  <a:extLst>
                    <a:ext uri="{9D8B030D-6E8A-4147-A177-3AD203B41FA5}">
                      <a16:colId xmlns:a16="http://schemas.microsoft.com/office/drawing/2014/main" val="20001"/>
                    </a:ext>
                  </a:extLst>
                </a:gridCol>
              </a:tblGrid>
              <a:tr h="419100">
                <a:tc>
                  <a:txBody>
                    <a:bodyPr/>
                    <a:lstStyle/>
                    <a:p>
                      <a:pPr marL="0" indent="0">
                        <a:buNone/>
                      </a:pPr>
                      <a:r>
                        <a:rPr lang="en-US" sz="1400" b="1" dirty="0">
                          <a:solidFill>
                            <a:srgbClr val="F6F4FB"/>
                          </a:solidFill>
                          <a:latin typeface="Consolas" pitchFamily="34" charset="0"/>
                          <a:ea typeface="Consolas" pitchFamily="34" charset="-122"/>
                          <a:cs typeface="Consolas" pitchFamily="34" charset="-120"/>
                        </a:rPr>
                        <a:t>i</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1B1838"/>
                    </a:solidFill>
                  </a:tcPr>
                </a:tc>
                <a:tc>
                  <a:txBody>
                    <a:bodyPr/>
                    <a:lstStyle/>
                    <a:p>
                      <a:pPr marL="0" indent="0">
                        <a:buNone/>
                      </a:pPr>
                      <a:r>
                        <a:rPr lang="en-US" sz="1400" b="1" dirty="0">
                          <a:solidFill>
                            <a:srgbClr val="F6F4FB"/>
                          </a:solidFill>
                          <a:latin typeface="Consolas" pitchFamily="34" charset="0"/>
                          <a:ea typeface="Consolas" pitchFamily="34" charset="-122"/>
                          <a:cs typeface="Consolas" pitchFamily="34" charset="-120"/>
                        </a:rPr>
                        <a:t>angka[i] = (i+1) * 10</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1B1838"/>
                    </a:solidFill>
                  </a:tcPr>
                </a:tc>
                <a:extLst>
                  <a:ext uri="{0D108BD9-81ED-4DB2-BD59-A6C34878D82A}">
                    <a16:rowId xmlns:a16="http://schemas.microsoft.com/office/drawing/2014/main" val="10000"/>
                  </a:ext>
                </a:extLst>
              </a:tr>
              <a:tr h="419100">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0</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angka[0] = 10</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extLst>
                  <a:ext uri="{0D108BD9-81ED-4DB2-BD59-A6C34878D82A}">
                    <a16:rowId xmlns:a16="http://schemas.microsoft.com/office/drawing/2014/main" val="10001"/>
                  </a:ext>
                </a:extLst>
              </a:tr>
              <a:tr h="419100">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EDE9F7"/>
                    </a:solidFill>
                  </a:tcPr>
                </a:tc>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angka[1] = 20</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EDE9F7"/>
                    </a:solidFill>
                  </a:tcPr>
                </a:tc>
                <a:extLst>
                  <a:ext uri="{0D108BD9-81ED-4DB2-BD59-A6C34878D82A}">
                    <a16:rowId xmlns:a16="http://schemas.microsoft.com/office/drawing/2014/main" val="10002"/>
                  </a:ext>
                </a:extLst>
              </a:tr>
              <a:tr h="419100">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2</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angka[2] = 30</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extLst>
                  <a:ext uri="{0D108BD9-81ED-4DB2-BD59-A6C34878D82A}">
                    <a16:rowId xmlns:a16="http://schemas.microsoft.com/office/drawing/2014/main" val="10003"/>
                  </a:ext>
                </a:extLst>
              </a:tr>
              <a:tr h="419100">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3</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EDE9F7"/>
                    </a:solidFill>
                  </a:tcPr>
                </a:tc>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angka[3] = 40</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EDE9F7"/>
                    </a:solidFill>
                  </a:tcPr>
                </a:tc>
                <a:extLst>
                  <a:ext uri="{0D108BD9-81ED-4DB2-BD59-A6C34878D82A}">
                    <a16:rowId xmlns:a16="http://schemas.microsoft.com/office/drawing/2014/main" val="10004"/>
                  </a:ext>
                </a:extLst>
              </a:tr>
              <a:tr h="419100">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4</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tc>
                  <a:txBody>
                    <a:bodyPr/>
                    <a:lstStyle/>
                    <a:p>
                      <a:pPr marL="0" indent="0">
                        <a:buNone/>
                      </a:pPr>
                      <a:r>
                        <a:rPr lang="en-US" sz="1400" dirty="0">
                          <a:solidFill>
                            <a:srgbClr val="1B1838"/>
                          </a:solidFill>
                          <a:latin typeface="Consolas" pitchFamily="34" charset="0"/>
                          <a:ea typeface="Consolas" pitchFamily="34" charset="-122"/>
                          <a:cs typeface="Consolas" pitchFamily="34" charset="-120"/>
                        </a:rPr>
                        <a:t>angka[4] = 50</a:t>
                      </a:r>
                      <a:endParaRPr lang="en-US" sz="1400" dirty="0">
                        <a:latin typeface="Consolas" charset="0"/>
                        <a:ea typeface="Consolas" charset="0"/>
                        <a:cs typeface="Consolas" charset="0"/>
                      </a:endParaRPr>
                    </a:p>
                  </a:txBody>
                  <a:tcPr marL="228600" marR="182880" marT="0" marB="0" anchor="ctr">
                    <a:lnL w="12700" cap="flat" cmpd="sng" algn="ctr">
                      <a:solidFill>
                        <a:srgbClr val="E4E0F0"/>
                      </a:solidFill>
                      <a:prstDash val="solid"/>
                      <a:round/>
                      <a:headEnd type="none" w="med" len="med"/>
                      <a:tailEnd type="none" w="med" len="med"/>
                    </a:lnL>
                    <a:lnR w="12700" cap="flat" cmpd="sng" algn="ctr">
                      <a:solidFill>
                        <a:srgbClr val="E4E0F0"/>
                      </a:solidFill>
                      <a:prstDash val="solid"/>
                      <a:round/>
                      <a:headEnd type="none" w="med" len="med"/>
                      <a:tailEnd type="none" w="med" len="med"/>
                    </a:lnR>
                    <a:lnT w="12700" cap="flat" cmpd="sng" algn="ctr">
                      <a:solidFill>
                        <a:srgbClr val="E4E0F0"/>
                      </a:solidFill>
                      <a:prstDash val="solid"/>
                      <a:round/>
                      <a:headEnd type="none" w="med" len="med"/>
                      <a:tailEnd type="none" w="med" len="med"/>
                    </a:lnT>
                    <a:lnB w="12700" cap="flat" cmpd="sng" algn="ctr">
                      <a:solidFill>
                        <a:srgbClr val="E4E0F0"/>
                      </a:solidFill>
                      <a:prstDash val="solid"/>
                      <a:round/>
                      <a:headEnd type="none" w="med" len="med"/>
                      <a:tailEnd type="none" w="med" len="med"/>
                    </a:lnB>
                    <a:solidFill>
                      <a:srgbClr val="FDFCFF"/>
                    </a:solidFill>
                  </a:tcPr>
                </a:tc>
                <a:extLst>
                  <a:ext uri="{0D108BD9-81ED-4DB2-BD59-A6C34878D82A}">
                    <a16:rowId xmlns:a16="http://schemas.microsoft.com/office/drawing/2014/main" val="10005"/>
                  </a:ext>
                </a:extLst>
              </a:tr>
            </a:tbl>
          </a:graphicData>
        </a:graphic>
      </p:graphicFrame>
      <p:sp>
        <p:nvSpPr>
          <p:cNvPr id="11" name="Shape 9"/>
          <p:cNvSpPr/>
          <p:nvPr/>
        </p:nvSpPr>
        <p:spPr>
          <a:xfrm>
            <a:off x="6400800" y="4635500"/>
            <a:ext cx="4978400" cy="508000"/>
          </a:xfrm>
          <a:prstGeom prst="roundRect">
            <a:avLst>
              <a:gd name="adj" fmla="val 17500"/>
            </a:avLst>
          </a:prstGeom>
          <a:solidFill>
            <a:srgbClr val="6D28D9"/>
          </a:solidFill>
          <a:ln/>
        </p:spPr>
      </p:sp>
      <p:sp>
        <p:nvSpPr>
          <p:cNvPr id="13" name="Text 10"/>
          <p:cNvSpPr txBox="1"/>
          <p:nvPr/>
        </p:nvSpPr>
        <p:spPr>
          <a:xfrm>
            <a:off x="6400800" y="4635500"/>
            <a:ext cx="4978400" cy="508000"/>
          </a:xfrm>
          <a:prstGeom prst="rect">
            <a:avLst/>
          </a:prstGeom>
          <a:noFill/>
          <a:ln/>
        </p:spPr>
        <p:txBody>
          <a:bodyPr wrap="square" lIns="0" tIns="0" rIns="0" bIns="0" rtlCol="0" anchor="ctr"/>
          <a:lstStyle/>
          <a:p>
            <a:pPr marL="0" indent="0" algn="ctr">
              <a:buNone/>
            </a:pPr>
            <a:r>
              <a:rPr lang="en-US" sz="1500" b="1" dirty="0">
                <a:solidFill>
                  <a:srgbClr val="F6F4FB"/>
                </a:solidFill>
                <a:latin typeface="Consolas" pitchFamily="34" charset="0"/>
                <a:ea typeface="Consolas" pitchFamily="34" charset="-122"/>
                <a:cs typeface="Consolas" pitchFamily="34" charset="-120"/>
              </a:rPr>
              <a:t>Hasil: { 10, 20, 30, 40, 50 }</a:t>
            </a:r>
            <a:endParaRPr lang="en-US" sz="15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MENYIMPAN DATA · CARA 3</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Mengisi dari input user</a:t>
            </a:r>
            <a:endParaRPr lang="en-US" sz="3600" dirty="0"/>
          </a:p>
        </p:txBody>
      </p:sp>
      <p:sp>
        <p:nvSpPr>
          <p:cNvPr id="4" name="Kode"/>
          <p:cNvSpPr/>
          <p:nvPr/>
        </p:nvSpPr>
        <p:spPr>
          <a:xfrm>
            <a:off x="812800" y="1905000"/>
            <a:ext cx="6350000" cy="3429000"/>
          </a:xfrm>
          <a:prstGeom prst="roundRect">
            <a:avLst>
              <a:gd name="adj" fmla="val 3704"/>
            </a:avLst>
          </a:prstGeom>
          <a:solidFill>
            <a:srgbClr val="0E0C1F"/>
          </a:solidFill>
          <a:ln w="12700">
            <a:solidFill>
              <a:srgbClr val="2E2A52"/>
            </a:solidFill>
            <a:prstDash val="solid"/>
          </a:ln>
        </p:spPr>
      </p:sp>
      <p:sp>
        <p:nvSpPr>
          <p:cNvPr id="5" name="Shape 3"/>
          <p:cNvSpPr/>
          <p:nvPr/>
        </p:nvSpPr>
        <p:spPr>
          <a:xfrm>
            <a:off x="1066800" y="2108200"/>
            <a:ext cx="101600" cy="101600"/>
          </a:xfrm>
          <a:prstGeom prst="ellipse">
            <a:avLst/>
          </a:prstGeom>
          <a:solidFill>
            <a:srgbClr val="FF5F57"/>
          </a:solidFill>
          <a:ln/>
        </p:spPr>
      </p:sp>
      <p:sp>
        <p:nvSpPr>
          <p:cNvPr id="6" name="Shape 4"/>
          <p:cNvSpPr/>
          <p:nvPr/>
        </p:nvSpPr>
        <p:spPr>
          <a:xfrm>
            <a:off x="1231900" y="2108200"/>
            <a:ext cx="101600" cy="101600"/>
          </a:xfrm>
          <a:prstGeom prst="ellipse">
            <a:avLst/>
          </a:prstGeom>
          <a:solidFill>
            <a:srgbClr val="FEBC2E"/>
          </a:solidFill>
          <a:ln/>
        </p:spPr>
      </p:sp>
      <p:sp>
        <p:nvSpPr>
          <p:cNvPr id="7" name="Shape 5"/>
          <p:cNvSpPr/>
          <p:nvPr/>
        </p:nvSpPr>
        <p:spPr>
          <a:xfrm>
            <a:off x="1397000" y="2108200"/>
            <a:ext cx="101600" cy="101600"/>
          </a:xfrm>
          <a:prstGeom prst="ellipse">
            <a:avLst/>
          </a:prstGeom>
          <a:solidFill>
            <a:srgbClr val="28C840"/>
          </a:solidFill>
          <a:ln/>
        </p:spPr>
      </p:sp>
      <p:sp>
        <p:nvSpPr>
          <p:cNvPr id="8" name="Text 6"/>
          <p:cNvSpPr txBox="1"/>
          <p:nvPr/>
        </p:nvSpPr>
        <p:spPr>
          <a:xfrm>
            <a:off x="1066800" y="2362200"/>
            <a:ext cx="5842000" cy="2819400"/>
          </a:xfrm>
          <a:prstGeom prst="rect">
            <a:avLst/>
          </a:prstGeom>
          <a:noFill/>
          <a:ln/>
        </p:spPr>
        <p:txBody>
          <a:bodyPr wrap="square" lIns="0" tIns="0" rIns="0" bIns="0" rtlCol="0" anchor="t"/>
          <a:lstStyle/>
          <a:p>
            <a:pPr marL="0" indent="0">
              <a:lnSpc>
                <a:spcPct val="130000"/>
              </a:lnSpc>
              <a:buNone/>
            </a:pPr>
            <a:r>
              <a:rPr lang="en-US" sz="1300" dirty="0">
                <a:solidFill>
                  <a:srgbClr val="FFCB6B"/>
                </a:solidFill>
                <a:latin typeface="Consolas" pitchFamily="34" charset="0"/>
                <a:ea typeface="Consolas" pitchFamily="34" charset="-122"/>
                <a:cs typeface="Consolas" pitchFamily="34" charset="-120"/>
              </a:rPr>
              <a:t>Console</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82AAFF"/>
                </a:solidFill>
                <a:latin typeface="Consolas" pitchFamily="34" charset="0"/>
                <a:ea typeface="Consolas" pitchFamily="34" charset="-122"/>
                <a:cs typeface="Consolas" pitchFamily="34" charset="-120"/>
              </a:rPr>
              <a:t>Write</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C3E88D"/>
                </a:solidFill>
                <a:latin typeface="Consolas" pitchFamily="34" charset="0"/>
                <a:ea typeface="Consolas" pitchFamily="34" charset="-122"/>
                <a:cs typeface="Consolas" pitchFamily="34" charset="-120"/>
              </a:rPr>
              <a:t>"Masukkan jumlah mahasiswa: "</a:t>
            </a:r>
            <a:r>
              <a:rPr lang="en-US" sz="1300" dirty="0">
                <a:solidFill>
                  <a:srgbClr val="E6E3F5"/>
                </a:solidFill>
                <a:latin typeface="Consolas" pitchFamily="34" charset="0"/>
                <a:ea typeface="Consolas" pitchFamily="34" charset="-122"/>
                <a:cs typeface="Consolas" pitchFamily="34" charset="-120"/>
              </a:rPr>
              <a:t>);</a:t>
            </a:r>
            <a:endParaRPr lang="en-US" sz="1300" dirty="0"/>
          </a:p>
          <a:p>
            <a:pPr marL="0" indent="0">
              <a:lnSpc>
                <a:spcPct val="130000"/>
              </a:lnSpc>
              <a:buNone/>
            </a:pPr>
            <a:r>
              <a:rPr lang="en-US" sz="1300" dirty="0">
                <a:solidFill>
                  <a:srgbClr val="C792EA"/>
                </a:solidFill>
                <a:latin typeface="Consolas" pitchFamily="34" charset="0"/>
                <a:ea typeface="Consolas" pitchFamily="34" charset="-122"/>
                <a:cs typeface="Consolas" pitchFamily="34" charset="-120"/>
              </a:rPr>
              <a:t>int </a:t>
            </a:r>
            <a:r>
              <a:rPr lang="en-US" sz="1300" dirty="0">
                <a:solidFill>
                  <a:srgbClr val="E6E3F5"/>
                </a:solidFill>
                <a:latin typeface="Consolas" pitchFamily="34" charset="0"/>
                <a:ea typeface="Consolas" pitchFamily="34" charset="-122"/>
                <a:cs typeface="Consolas" pitchFamily="34" charset="-120"/>
              </a:rPr>
              <a:t>n = </a:t>
            </a:r>
            <a:r>
              <a:rPr lang="en-US" sz="1300" dirty="0">
                <a:solidFill>
                  <a:srgbClr val="C792EA"/>
                </a:solidFill>
                <a:latin typeface="Consolas" pitchFamily="34" charset="0"/>
                <a:ea typeface="Consolas" pitchFamily="34" charset="-122"/>
                <a:cs typeface="Consolas" pitchFamily="34" charset="-120"/>
              </a:rPr>
              <a:t>int</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82AAFF"/>
                </a:solidFill>
                <a:latin typeface="Consolas" pitchFamily="34" charset="0"/>
                <a:ea typeface="Consolas" pitchFamily="34" charset="-122"/>
                <a:cs typeface="Consolas" pitchFamily="34" charset="-120"/>
              </a:rPr>
              <a:t>Parse</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FFCB6B"/>
                </a:solidFill>
                <a:latin typeface="Consolas" pitchFamily="34" charset="0"/>
                <a:ea typeface="Consolas" pitchFamily="34" charset="-122"/>
                <a:cs typeface="Consolas" pitchFamily="34" charset="-120"/>
              </a:rPr>
              <a:t>Console</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82AAFF"/>
                </a:solidFill>
                <a:latin typeface="Consolas" pitchFamily="34" charset="0"/>
                <a:ea typeface="Consolas" pitchFamily="34" charset="-122"/>
                <a:cs typeface="Consolas" pitchFamily="34" charset="-120"/>
              </a:rPr>
              <a:t>ReadLine</a:t>
            </a:r>
            <a:r>
              <a:rPr lang="en-US" sz="1300" dirty="0">
                <a:solidFill>
                  <a:srgbClr val="E6E3F5"/>
                </a:solidFill>
                <a:latin typeface="Consolas" pitchFamily="34" charset="0"/>
                <a:ea typeface="Consolas" pitchFamily="34" charset="-122"/>
                <a:cs typeface="Consolas" pitchFamily="34" charset="-120"/>
              </a:rPr>
              <a:t>());</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 </a:t>
            </a:r>
            <a:endParaRPr lang="en-US" sz="1300" dirty="0"/>
          </a:p>
          <a:p>
            <a:pPr marL="0" indent="0">
              <a:lnSpc>
                <a:spcPct val="130000"/>
              </a:lnSpc>
              <a:buNone/>
            </a:pPr>
            <a:r>
              <a:rPr lang="en-US" sz="1300" dirty="0">
                <a:solidFill>
                  <a:srgbClr val="C792EA"/>
                </a:solidFill>
                <a:latin typeface="Consolas" pitchFamily="34" charset="0"/>
                <a:ea typeface="Consolas" pitchFamily="34" charset="-122"/>
                <a:cs typeface="Consolas" pitchFamily="34" charset="-120"/>
              </a:rPr>
              <a:t>string</a:t>
            </a:r>
            <a:r>
              <a:rPr lang="en-US" sz="1300" dirty="0">
                <a:solidFill>
                  <a:srgbClr val="E6E3F5"/>
                </a:solidFill>
                <a:latin typeface="Consolas" pitchFamily="34" charset="0"/>
                <a:ea typeface="Consolas" pitchFamily="34" charset="-122"/>
                <a:cs typeface="Consolas" pitchFamily="34" charset="-120"/>
              </a:rPr>
              <a:t>[] nama = </a:t>
            </a:r>
            <a:r>
              <a:rPr lang="en-US" sz="1300" dirty="0">
                <a:solidFill>
                  <a:srgbClr val="C792EA"/>
                </a:solidFill>
                <a:latin typeface="Consolas" pitchFamily="34" charset="0"/>
                <a:ea typeface="Consolas" pitchFamily="34" charset="-122"/>
                <a:cs typeface="Consolas" pitchFamily="34" charset="-120"/>
              </a:rPr>
              <a:t>new string</a:t>
            </a:r>
            <a:r>
              <a:rPr lang="en-US" sz="1300" dirty="0">
                <a:solidFill>
                  <a:srgbClr val="E6E3F5"/>
                </a:solidFill>
                <a:latin typeface="Consolas" pitchFamily="34" charset="0"/>
                <a:ea typeface="Consolas" pitchFamily="34" charset="-122"/>
                <a:cs typeface="Consolas" pitchFamily="34" charset="-120"/>
              </a:rPr>
              <a:t>[n];</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 </a:t>
            </a:r>
            <a:endParaRPr lang="en-US" sz="1300" dirty="0"/>
          </a:p>
          <a:p>
            <a:pPr marL="0" indent="0">
              <a:lnSpc>
                <a:spcPct val="130000"/>
              </a:lnSpc>
              <a:buNone/>
            </a:pPr>
            <a:r>
              <a:rPr lang="en-US" sz="1300" dirty="0">
                <a:solidFill>
                  <a:srgbClr val="C792EA"/>
                </a:solidFill>
                <a:latin typeface="Consolas" pitchFamily="34" charset="0"/>
                <a:ea typeface="Consolas" pitchFamily="34" charset="-122"/>
                <a:cs typeface="Consolas" pitchFamily="34" charset="-120"/>
              </a:rPr>
              <a:t>for </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C792EA"/>
                </a:solidFill>
                <a:latin typeface="Consolas" pitchFamily="34" charset="0"/>
                <a:ea typeface="Consolas" pitchFamily="34" charset="-122"/>
                <a:cs typeface="Consolas" pitchFamily="34" charset="-120"/>
              </a:rPr>
              <a:t>int </a:t>
            </a:r>
            <a:r>
              <a:rPr lang="en-US" sz="1300" dirty="0">
                <a:solidFill>
                  <a:srgbClr val="E6E3F5"/>
                </a:solidFill>
                <a:latin typeface="Consolas" pitchFamily="34" charset="0"/>
                <a:ea typeface="Consolas" pitchFamily="34" charset="-122"/>
                <a:cs typeface="Consolas" pitchFamily="34" charset="-120"/>
              </a:rPr>
              <a:t>i = </a:t>
            </a:r>
            <a:r>
              <a:rPr lang="en-US" sz="1300" dirty="0">
                <a:solidFill>
                  <a:srgbClr val="F78C6C"/>
                </a:solidFill>
                <a:latin typeface="Consolas" pitchFamily="34" charset="0"/>
                <a:ea typeface="Consolas" pitchFamily="34" charset="-122"/>
                <a:cs typeface="Consolas" pitchFamily="34" charset="-120"/>
              </a:rPr>
              <a:t>0</a:t>
            </a:r>
            <a:r>
              <a:rPr lang="en-US" sz="1300" dirty="0">
                <a:solidFill>
                  <a:srgbClr val="E6E3F5"/>
                </a:solidFill>
                <a:latin typeface="Consolas" pitchFamily="34" charset="0"/>
                <a:ea typeface="Consolas" pitchFamily="34" charset="-122"/>
                <a:cs typeface="Consolas" pitchFamily="34" charset="-120"/>
              </a:rPr>
              <a:t>; i &lt; n; i++)</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    </a:t>
            </a:r>
            <a:r>
              <a:rPr lang="en-US" sz="1300" dirty="0">
                <a:solidFill>
                  <a:srgbClr val="FFCB6B"/>
                </a:solidFill>
                <a:latin typeface="Consolas" pitchFamily="34" charset="0"/>
                <a:ea typeface="Consolas" pitchFamily="34" charset="-122"/>
                <a:cs typeface="Consolas" pitchFamily="34" charset="-120"/>
              </a:rPr>
              <a:t>Console</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82AAFF"/>
                </a:solidFill>
                <a:latin typeface="Consolas" pitchFamily="34" charset="0"/>
                <a:ea typeface="Consolas" pitchFamily="34" charset="-122"/>
                <a:cs typeface="Consolas" pitchFamily="34" charset="-120"/>
              </a:rPr>
              <a:t>Write</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C3E88D"/>
                </a:solidFill>
                <a:latin typeface="Consolas" pitchFamily="34" charset="0"/>
                <a:ea typeface="Consolas" pitchFamily="34" charset="-122"/>
                <a:cs typeface="Consolas" pitchFamily="34" charset="-120"/>
              </a:rPr>
              <a:t>$"Nama mahasiswa ke-{i + 1}: "</a:t>
            </a:r>
            <a:r>
              <a:rPr lang="en-US" sz="1300" dirty="0">
                <a:solidFill>
                  <a:srgbClr val="E6E3F5"/>
                </a:solidFill>
                <a:latin typeface="Consolas" pitchFamily="34" charset="0"/>
                <a:ea typeface="Consolas" pitchFamily="34" charset="-122"/>
                <a:cs typeface="Consolas" pitchFamily="34" charset="-120"/>
              </a:rPr>
              <a:t>);</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    nama[i] = </a:t>
            </a:r>
            <a:r>
              <a:rPr lang="en-US" sz="1300" dirty="0">
                <a:solidFill>
                  <a:srgbClr val="FFCB6B"/>
                </a:solidFill>
                <a:latin typeface="Consolas" pitchFamily="34" charset="0"/>
                <a:ea typeface="Consolas" pitchFamily="34" charset="-122"/>
                <a:cs typeface="Consolas" pitchFamily="34" charset="-120"/>
              </a:rPr>
              <a:t>Console</a:t>
            </a:r>
            <a:r>
              <a:rPr lang="en-US" sz="1300" dirty="0">
                <a:solidFill>
                  <a:srgbClr val="E6E3F5"/>
                </a:solidFill>
                <a:latin typeface="Consolas" pitchFamily="34" charset="0"/>
                <a:ea typeface="Consolas" pitchFamily="34" charset="-122"/>
                <a:cs typeface="Consolas" pitchFamily="34" charset="-120"/>
              </a:rPr>
              <a:t>.</a:t>
            </a:r>
            <a:r>
              <a:rPr lang="en-US" sz="1300" dirty="0">
                <a:solidFill>
                  <a:srgbClr val="82AAFF"/>
                </a:solidFill>
                <a:latin typeface="Consolas" pitchFamily="34" charset="0"/>
                <a:ea typeface="Consolas" pitchFamily="34" charset="-122"/>
                <a:cs typeface="Consolas" pitchFamily="34" charset="-120"/>
              </a:rPr>
              <a:t>ReadLine</a:t>
            </a:r>
            <a:r>
              <a:rPr lang="en-US" sz="1300" dirty="0">
                <a:solidFill>
                  <a:srgbClr val="E6E3F5"/>
                </a:solidFill>
                <a:latin typeface="Consolas" pitchFamily="34" charset="0"/>
                <a:ea typeface="Consolas" pitchFamily="34" charset="-122"/>
                <a:cs typeface="Consolas" pitchFamily="34" charset="-120"/>
              </a:rPr>
              <a:t>();</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a:t>
            </a:r>
            <a:endParaRPr lang="en-US" sz="1300" dirty="0"/>
          </a:p>
        </p:txBody>
      </p:sp>
      <p:sp>
        <p:nvSpPr>
          <p:cNvPr id="9" name="Shape 7"/>
          <p:cNvSpPr/>
          <p:nvPr/>
        </p:nvSpPr>
        <p:spPr>
          <a:xfrm>
            <a:off x="7467600" y="1905000"/>
            <a:ext cx="3911600" cy="1714500"/>
          </a:xfrm>
          <a:prstGeom prst="roundRect">
            <a:avLst>
              <a:gd name="adj" fmla="val 7407"/>
            </a:avLst>
          </a:prstGeom>
          <a:solidFill>
            <a:srgbClr val="0A0918"/>
          </a:solidFill>
          <a:ln w="12700">
            <a:solidFill>
              <a:srgbClr val="2E2A52"/>
            </a:solidFill>
            <a:prstDash val="solid"/>
          </a:ln>
        </p:spPr>
      </p:sp>
      <p:sp>
        <p:nvSpPr>
          <p:cNvPr id="10" name="Text 8"/>
          <p:cNvSpPr txBox="1"/>
          <p:nvPr/>
        </p:nvSpPr>
        <p:spPr>
          <a:xfrm>
            <a:off x="7670800" y="2082800"/>
            <a:ext cx="3505200" cy="228600"/>
          </a:xfrm>
          <a:prstGeom prst="rect">
            <a:avLst/>
          </a:prstGeom>
          <a:noFill/>
          <a:ln/>
        </p:spPr>
        <p:txBody>
          <a:bodyPr wrap="square" lIns="0" tIns="0" rIns="0" bIns="0" rtlCol="0" anchor="t"/>
          <a:lstStyle/>
          <a:p>
            <a:pPr marL="0" indent="0">
              <a:buNone/>
            </a:pPr>
            <a:r>
              <a:rPr lang="en-US" sz="1200" b="1" kern="0" spc="200" dirty="0">
                <a:solidFill>
                  <a:srgbClr val="8A86A8"/>
                </a:solidFill>
                <a:latin typeface="Segoe UI" pitchFamily="34" charset="0"/>
                <a:ea typeface="Segoe UI" pitchFamily="34" charset="-122"/>
                <a:cs typeface="Segoe UI" pitchFamily="34" charset="-120"/>
              </a:rPr>
              <a:t>LAYAR CONSOLE</a:t>
            </a:r>
            <a:endParaRPr lang="en-US" sz="1200" dirty="0"/>
          </a:p>
        </p:txBody>
      </p:sp>
      <p:sp>
        <p:nvSpPr>
          <p:cNvPr id="11" name="Text 9"/>
          <p:cNvSpPr txBox="1"/>
          <p:nvPr/>
        </p:nvSpPr>
        <p:spPr>
          <a:xfrm>
            <a:off x="7670800" y="2413000"/>
            <a:ext cx="3505200" cy="1054100"/>
          </a:xfrm>
          <a:prstGeom prst="rect">
            <a:avLst/>
          </a:prstGeom>
          <a:noFill/>
          <a:ln/>
        </p:spPr>
        <p:txBody>
          <a:bodyPr wrap="square" lIns="0" tIns="0" rIns="0" bIns="0" rtlCol="0" anchor="t"/>
          <a:lstStyle/>
          <a:p>
            <a:pPr marL="0" indent="0">
              <a:lnSpc>
                <a:spcPct val="130000"/>
              </a:lnSpc>
              <a:buNone/>
            </a:pPr>
            <a:r>
              <a:rPr lang="en-US" sz="1200" dirty="0">
                <a:solidFill>
                  <a:srgbClr val="C3E88D"/>
                </a:solidFill>
                <a:latin typeface="Consolas" pitchFamily="34" charset="0"/>
                <a:ea typeface="Consolas" pitchFamily="34" charset="-122"/>
                <a:cs typeface="Consolas" pitchFamily="34" charset="-120"/>
              </a:rPr>
              <a:t>Masukkan jumlah mahasiswa: 3</a:t>
            </a:r>
            <a:endParaRPr lang="en-US" sz="1200" dirty="0"/>
          </a:p>
          <a:p>
            <a:pPr marL="0" indent="0">
              <a:lnSpc>
                <a:spcPct val="130000"/>
              </a:lnSpc>
              <a:buNone/>
            </a:pPr>
            <a:r>
              <a:rPr lang="en-US" sz="1200" dirty="0">
                <a:solidFill>
                  <a:srgbClr val="C3E88D"/>
                </a:solidFill>
                <a:latin typeface="Consolas" pitchFamily="34" charset="0"/>
                <a:ea typeface="Consolas" pitchFamily="34" charset="-122"/>
                <a:cs typeface="Consolas" pitchFamily="34" charset="-120"/>
              </a:rPr>
              <a:t>Nama mahasiswa ke-1: Andi</a:t>
            </a:r>
            <a:endParaRPr lang="en-US" sz="1200" dirty="0"/>
          </a:p>
          <a:p>
            <a:pPr marL="0" indent="0">
              <a:lnSpc>
                <a:spcPct val="130000"/>
              </a:lnSpc>
              <a:buNone/>
            </a:pPr>
            <a:r>
              <a:rPr lang="en-US" sz="1200" dirty="0">
                <a:solidFill>
                  <a:srgbClr val="C3E88D"/>
                </a:solidFill>
                <a:latin typeface="Consolas" pitchFamily="34" charset="0"/>
                <a:ea typeface="Consolas" pitchFamily="34" charset="-122"/>
                <a:cs typeface="Consolas" pitchFamily="34" charset="-120"/>
              </a:rPr>
              <a:t>Nama mahasiswa ke-2: Budi</a:t>
            </a:r>
            <a:endParaRPr lang="en-US" sz="1200" dirty="0"/>
          </a:p>
          <a:p>
            <a:pPr marL="0" indent="0">
              <a:lnSpc>
                <a:spcPct val="130000"/>
              </a:lnSpc>
              <a:buNone/>
            </a:pPr>
            <a:r>
              <a:rPr lang="en-US" sz="1200" dirty="0">
                <a:solidFill>
                  <a:srgbClr val="C3E88D"/>
                </a:solidFill>
                <a:latin typeface="Consolas" pitchFamily="34" charset="0"/>
                <a:ea typeface="Consolas" pitchFamily="34" charset="-122"/>
                <a:cs typeface="Consolas" pitchFamily="34" charset="-120"/>
              </a:rPr>
              <a:t>Nama mahasiswa ke-3: Citra</a:t>
            </a:r>
            <a:endParaRPr lang="en-US" sz="1200" dirty="0"/>
          </a:p>
        </p:txBody>
      </p:sp>
      <p:sp>
        <p:nvSpPr>
          <p:cNvPr id="12" name="Text 10"/>
          <p:cNvSpPr txBox="1"/>
          <p:nvPr/>
        </p:nvSpPr>
        <p:spPr>
          <a:xfrm>
            <a:off x="7467600" y="3937000"/>
            <a:ext cx="3911600" cy="215900"/>
          </a:xfrm>
          <a:prstGeom prst="rect">
            <a:avLst/>
          </a:prstGeom>
          <a:noFill/>
          <a:ln/>
        </p:spPr>
        <p:txBody>
          <a:bodyPr wrap="square" lIns="0" tIns="0" rIns="0" bIns="0" rtlCol="0" anchor="t"/>
          <a:lstStyle/>
          <a:p>
            <a:pPr marL="0" indent="0">
              <a:buNone/>
            </a:pPr>
            <a:r>
              <a:rPr lang="en-US" sz="1200" b="1" kern="0" spc="200" dirty="0">
                <a:solidFill>
                  <a:srgbClr val="A78BFA"/>
                </a:solidFill>
                <a:latin typeface="Segoe UI" pitchFamily="34" charset="0"/>
                <a:ea typeface="Segoe UI" pitchFamily="34" charset="-122"/>
                <a:cs typeface="Segoe UI" pitchFamily="34" charset="-120"/>
              </a:rPr>
              <a:t>ISI ARRAY NAMA</a:t>
            </a:r>
            <a:endParaRPr lang="en-US" sz="1200" dirty="0"/>
          </a:p>
        </p:txBody>
      </p:sp>
      <p:sp>
        <p:nvSpPr>
          <p:cNvPr id="13" name="Shape 11"/>
          <p:cNvSpPr/>
          <p:nvPr/>
        </p:nvSpPr>
        <p:spPr>
          <a:xfrm>
            <a:off x="7467600" y="4229100"/>
            <a:ext cx="1244600" cy="609600"/>
          </a:xfrm>
          <a:prstGeom prst="roundRect">
            <a:avLst>
              <a:gd name="adj" fmla="val 14583"/>
            </a:avLst>
          </a:prstGeom>
          <a:solidFill>
            <a:srgbClr val="2E2766"/>
          </a:solidFill>
          <a:ln w="25400">
            <a:solidFill>
              <a:srgbClr val="A78BFA"/>
            </a:solidFill>
            <a:prstDash val="solid"/>
          </a:ln>
        </p:spPr>
      </p:sp>
      <p:sp>
        <p:nvSpPr>
          <p:cNvPr id="14" name="Text 12"/>
          <p:cNvSpPr txBox="1"/>
          <p:nvPr/>
        </p:nvSpPr>
        <p:spPr>
          <a:xfrm>
            <a:off x="7467600" y="4229100"/>
            <a:ext cx="1244600" cy="609600"/>
          </a:xfrm>
          <a:prstGeom prst="rect">
            <a:avLst/>
          </a:prstGeom>
          <a:noFill/>
          <a:ln/>
        </p:spPr>
        <p:txBody>
          <a:bodyPr wrap="square" lIns="0" tIns="0" rIns="0" bIns="0" rtlCol="0" anchor="ctr"/>
          <a:lstStyle/>
          <a:p>
            <a:pPr marL="0" indent="0" algn="ctr">
              <a:buNone/>
            </a:pPr>
            <a:r>
              <a:rPr lang="en-US" sz="1500" b="1" dirty="0">
                <a:solidFill>
                  <a:srgbClr val="F6F4FB"/>
                </a:solidFill>
                <a:latin typeface="Segoe UI" pitchFamily="34" charset="0"/>
                <a:ea typeface="Segoe UI" pitchFamily="34" charset="-122"/>
                <a:cs typeface="Segoe UI" pitchFamily="34" charset="-120"/>
              </a:rPr>
              <a:t>Andi</a:t>
            </a:r>
            <a:endParaRPr lang="en-US" sz="1500" dirty="0"/>
          </a:p>
        </p:txBody>
      </p:sp>
      <p:sp>
        <p:nvSpPr>
          <p:cNvPr id="15" name="Shape 13"/>
          <p:cNvSpPr/>
          <p:nvPr/>
        </p:nvSpPr>
        <p:spPr>
          <a:xfrm>
            <a:off x="8801100" y="4229100"/>
            <a:ext cx="1244600" cy="609600"/>
          </a:xfrm>
          <a:prstGeom prst="roundRect">
            <a:avLst>
              <a:gd name="adj" fmla="val 14583"/>
            </a:avLst>
          </a:prstGeom>
          <a:solidFill>
            <a:srgbClr val="2E2766"/>
          </a:solidFill>
          <a:ln w="25400">
            <a:solidFill>
              <a:srgbClr val="A78BFA"/>
            </a:solidFill>
            <a:prstDash val="solid"/>
          </a:ln>
        </p:spPr>
      </p:sp>
      <p:sp>
        <p:nvSpPr>
          <p:cNvPr id="16" name="Text 14"/>
          <p:cNvSpPr txBox="1"/>
          <p:nvPr/>
        </p:nvSpPr>
        <p:spPr>
          <a:xfrm>
            <a:off x="8801100" y="4229100"/>
            <a:ext cx="1244600" cy="609600"/>
          </a:xfrm>
          <a:prstGeom prst="rect">
            <a:avLst/>
          </a:prstGeom>
          <a:noFill/>
          <a:ln/>
        </p:spPr>
        <p:txBody>
          <a:bodyPr wrap="square" lIns="0" tIns="0" rIns="0" bIns="0" rtlCol="0" anchor="ctr"/>
          <a:lstStyle/>
          <a:p>
            <a:pPr marL="0" indent="0" algn="ctr">
              <a:buNone/>
            </a:pPr>
            <a:r>
              <a:rPr lang="en-US" sz="1500" b="1" dirty="0">
                <a:solidFill>
                  <a:srgbClr val="F6F4FB"/>
                </a:solidFill>
                <a:latin typeface="Segoe UI" pitchFamily="34" charset="0"/>
                <a:ea typeface="Segoe UI" pitchFamily="34" charset="-122"/>
                <a:cs typeface="Segoe UI" pitchFamily="34" charset="-120"/>
              </a:rPr>
              <a:t>Budi</a:t>
            </a:r>
            <a:endParaRPr lang="en-US" sz="1500" dirty="0"/>
          </a:p>
        </p:txBody>
      </p:sp>
      <p:sp>
        <p:nvSpPr>
          <p:cNvPr id="17" name="Shape 15"/>
          <p:cNvSpPr/>
          <p:nvPr/>
        </p:nvSpPr>
        <p:spPr>
          <a:xfrm>
            <a:off x="10134600" y="4229100"/>
            <a:ext cx="1244600" cy="609600"/>
          </a:xfrm>
          <a:prstGeom prst="roundRect">
            <a:avLst>
              <a:gd name="adj" fmla="val 14583"/>
            </a:avLst>
          </a:prstGeom>
          <a:solidFill>
            <a:srgbClr val="2E2766"/>
          </a:solidFill>
          <a:ln w="25400">
            <a:solidFill>
              <a:srgbClr val="A78BFA"/>
            </a:solidFill>
            <a:prstDash val="solid"/>
          </a:ln>
        </p:spPr>
      </p:sp>
      <p:sp>
        <p:nvSpPr>
          <p:cNvPr id="18" name="Text 16"/>
          <p:cNvSpPr txBox="1"/>
          <p:nvPr/>
        </p:nvSpPr>
        <p:spPr>
          <a:xfrm>
            <a:off x="10134600" y="4229100"/>
            <a:ext cx="1244600" cy="609600"/>
          </a:xfrm>
          <a:prstGeom prst="rect">
            <a:avLst/>
          </a:prstGeom>
          <a:noFill/>
          <a:ln/>
        </p:spPr>
        <p:txBody>
          <a:bodyPr wrap="square" lIns="0" tIns="0" rIns="0" bIns="0" rtlCol="0" anchor="ctr"/>
          <a:lstStyle/>
          <a:p>
            <a:pPr marL="0" indent="0" algn="ctr">
              <a:buNone/>
            </a:pPr>
            <a:r>
              <a:rPr lang="en-US" sz="1500" b="1" dirty="0">
                <a:solidFill>
                  <a:srgbClr val="F6F4FB"/>
                </a:solidFill>
                <a:latin typeface="Segoe UI" pitchFamily="34" charset="0"/>
                <a:ea typeface="Segoe UI" pitchFamily="34" charset="-122"/>
                <a:cs typeface="Segoe UI" pitchFamily="34" charset="-120"/>
              </a:rPr>
              <a:t>Citra</a:t>
            </a:r>
            <a:endParaRPr lang="en-US" sz="15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PERHATIKAN</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Dari mana n berasal?</a:t>
            </a:r>
            <a:endParaRPr lang="en-US" sz="3600" dirty="0"/>
          </a:p>
        </p:txBody>
      </p:sp>
      <p:sp>
        <p:nvSpPr>
          <p:cNvPr id="4" name="Shape 2"/>
          <p:cNvSpPr/>
          <p:nvPr/>
        </p:nvSpPr>
        <p:spPr>
          <a:xfrm>
            <a:off x="812800" y="1905000"/>
            <a:ext cx="3111500" cy="1587500"/>
          </a:xfrm>
          <a:prstGeom prst="roundRect">
            <a:avLst>
              <a:gd name="adj" fmla="val 8000"/>
            </a:avLst>
          </a:prstGeom>
          <a:solidFill>
            <a:srgbClr val="FDFCFF"/>
          </a:solidFill>
          <a:ln w="12700">
            <a:solidFill>
              <a:srgbClr val="E4E0F0"/>
            </a:solidFill>
            <a:prstDash val="solid"/>
          </a:ln>
        </p:spPr>
      </p:sp>
      <p:sp>
        <p:nvSpPr>
          <p:cNvPr id="5" name="Text 3"/>
          <p:cNvSpPr txBox="1"/>
          <p:nvPr/>
        </p:nvSpPr>
        <p:spPr>
          <a:xfrm>
            <a:off x="1041400" y="2108200"/>
            <a:ext cx="2654300" cy="203200"/>
          </a:xfrm>
          <a:prstGeom prst="rect">
            <a:avLst/>
          </a:prstGeom>
          <a:noFill/>
          <a:ln/>
        </p:spPr>
        <p:txBody>
          <a:bodyPr wrap="square" lIns="0" tIns="0" rIns="0" bIns="0" rtlCol="0" anchor="t"/>
          <a:lstStyle/>
          <a:p>
            <a:pPr marL="0" indent="0">
              <a:buNone/>
            </a:pPr>
            <a:r>
              <a:rPr lang="en-US" sz="1200" b="1" kern="0" spc="200" dirty="0">
                <a:solidFill>
                  <a:srgbClr val="6D28D9"/>
                </a:solidFill>
                <a:latin typeface="Segoe UI" pitchFamily="34" charset="0"/>
                <a:ea typeface="Segoe UI" pitchFamily="34" charset="-122"/>
                <a:cs typeface="Segoe UI" pitchFamily="34" charset="-120"/>
              </a:rPr>
              <a:t>LANGKAH 1</a:t>
            </a:r>
            <a:endParaRPr lang="en-US" sz="1200" dirty="0"/>
          </a:p>
        </p:txBody>
      </p:sp>
      <p:sp>
        <p:nvSpPr>
          <p:cNvPr id="6" name="Text 4"/>
          <p:cNvSpPr txBox="1"/>
          <p:nvPr/>
        </p:nvSpPr>
        <p:spPr>
          <a:xfrm>
            <a:off x="1041400" y="2387600"/>
            <a:ext cx="2654300" cy="279400"/>
          </a:xfrm>
          <a:prstGeom prst="rect">
            <a:avLst/>
          </a:prstGeom>
          <a:noFill/>
          <a:ln/>
        </p:spPr>
        <p:txBody>
          <a:bodyPr wrap="square" lIns="0" tIns="0" rIns="0" bIns="0" rtlCol="0" anchor="t"/>
          <a:lstStyle/>
          <a:p>
            <a:pPr marL="0" indent="0">
              <a:buNone/>
            </a:pPr>
            <a:r>
              <a:rPr lang="en-US" sz="1500" b="1" dirty="0">
                <a:solidFill>
                  <a:srgbClr val="1B1838"/>
                </a:solidFill>
                <a:latin typeface="Consolas" pitchFamily="34" charset="0"/>
                <a:ea typeface="Consolas" pitchFamily="34" charset="-122"/>
                <a:cs typeface="Consolas" pitchFamily="34" charset="-120"/>
              </a:rPr>
              <a:t>Console.ReadLine()</a:t>
            </a:r>
            <a:endParaRPr lang="en-US" sz="1500" dirty="0"/>
          </a:p>
        </p:txBody>
      </p:sp>
      <p:sp>
        <p:nvSpPr>
          <p:cNvPr id="7" name="Text 5"/>
          <p:cNvSpPr txBox="1"/>
          <p:nvPr/>
        </p:nvSpPr>
        <p:spPr>
          <a:xfrm>
            <a:off x="1041400" y="2743200"/>
            <a:ext cx="2654300" cy="609600"/>
          </a:xfrm>
          <a:prstGeom prst="rect">
            <a:avLst/>
          </a:prstGeom>
          <a:noFill/>
          <a:ln/>
        </p:spPr>
        <p:txBody>
          <a:bodyPr wrap="square" lIns="0" tIns="0" rIns="0" bIns="0" rtlCol="0" anchor="t"/>
          <a:lstStyle/>
          <a:p>
            <a:pPr marL="0" indent="0">
              <a:lnSpc>
                <a:spcPct val="125000"/>
              </a:lnSpc>
              <a:buNone/>
            </a:pPr>
            <a:r>
              <a:rPr lang="en-US" sz="1300" dirty="0">
                <a:solidFill>
                  <a:srgbClr val="4A4766"/>
                </a:solidFill>
                <a:latin typeface="Segoe UI" pitchFamily="34" charset="0"/>
                <a:ea typeface="Segoe UI" pitchFamily="34" charset="-122"/>
                <a:cs typeface="Segoe UI" pitchFamily="34" charset="-120"/>
              </a:rPr>
              <a:t>Membaca ketikan user sebagai teks, misalnya “3”.</a:t>
            </a:r>
            <a:endParaRPr lang="en-US" sz="1300" dirty="0"/>
          </a:p>
        </p:txBody>
      </p:sp>
      <p:sp>
        <p:nvSpPr>
          <p:cNvPr id="8" name="Shape 6"/>
          <p:cNvSpPr/>
          <p:nvPr/>
        </p:nvSpPr>
        <p:spPr>
          <a:xfrm>
            <a:off x="4025900" y="2597150"/>
            <a:ext cx="406400" cy="203200"/>
          </a:xfrm>
          <a:prstGeom prst="rightArrow">
            <a:avLst/>
          </a:prstGeom>
          <a:solidFill>
            <a:srgbClr val="A78BFA"/>
          </a:solidFill>
          <a:ln/>
        </p:spPr>
      </p:sp>
      <p:sp>
        <p:nvSpPr>
          <p:cNvPr id="9" name="Shape 7"/>
          <p:cNvSpPr/>
          <p:nvPr/>
        </p:nvSpPr>
        <p:spPr>
          <a:xfrm>
            <a:off x="4540250" y="1905000"/>
            <a:ext cx="3111500" cy="1587500"/>
          </a:xfrm>
          <a:prstGeom prst="roundRect">
            <a:avLst>
              <a:gd name="adj" fmla="val 8000"/>
            </a:avLst>
          </a:prstGeom>
          <a:solidFill>
            <a:srgbClr val="FDFCFF"/>
          </a:solidFill>
          <a:ln w="12700">
            <a:solidFill>
              <a:srgbClr val="E4E0F0"/>
            </a:solidFill>
            <a:prstDash val="solid"/>
          </a:ln>
        </p:spPr>
      </p:sp>
      <p:sp>
        <p:nvSpPr>
          <p:cNvPr id="10" name="Text 8"/>
          <p:cNvSpPr txBox="1"/>
          <p:nvPr/>
        </p:nvSpPr>
        <p:spPr>
          <a:xfrm>
            <a:off x="4768850" y="2108200"/>
            <a:ext cx="2654300" cy="203200"/>
          </a:xfrm>
          <a:prstGeom prst="rect">
            <a:avLst/>
          </a:prstGeom>
          <a:noFill/>
          <a:ln/>
        </p:spPr>
        <p:txBody>
          <a:bodyPr wrap="square" lIns="0" tIns="0" rIns="0" bIns="0" rtlCol="0" anchor="t"/>
          <a:lstStyle/>
          <a:p>
            <a:pPr marL="0" indent="0">
              <a:buNone/>
            </a:pPr>
            <a:r>
              <a:rPr lang="en-US" sz="1200" b="1" kern="0" spc="200" dirty="0">
                <a:solidFill>
                  <a:srgbClr val="6D28D9"/>
                </a:solidFill>
                <a:latin typeface="Segoe UI" pitchFamily="34" charset="0"/>
                <a:ea typeface="Segoe UI" pitchFamily="34" charset="-122"/>
                <a:cs typeface="Segoe UI" pitchFamily="34" charset="-120"/>
              </a:rPr>
              <a:t>LANGKAH 2</a:t>
            </a:r>
            <a:endParaRPr lang="en-US" sz="1200" dirty="0"/>
          </a:p>
        </p:txBody>
      </p:sp>
      <p:sp>
        <p:nvSpPr>
          <p:cNvPr id="11" name="Text 9"/>
          <p:cNvSpPr txBox="1"/>
          <p:nvPr/>
        </p:nvSpPr>
        <p:spPr>
          <a:xfrm>
            <a:off x="4768850" y="2387600"/>
            <a:ext cx="2654300" cy="279400"/>
          </a:xfrm>
          <a:prstGeom prst="rect">
            <a:avLst/>
          </a:prstGeom>
          <a:noFill/>
          <a:ln/>
        </p:spPr>
        <p:txBody>
          <a:bodyPr wrap="square" lIns="0" tIns="0" rIns="0" bIns="0" rtlCol="0" anchor="t"/>
          <a:lstStyle/>
          <a:p>
            <a:pPr marL="0" indent="0">
              <a:buNone/>
            </a:pPr>
            <a:r>
              <a:rPr lang="en-US" sz="1500" b="1" dirty="0">
                <a:solidFill>
                  <a:srgbClr val="1B1838"/>
                </a:solidFill>
                <a:latin typeface="Consolas" pitchFamily="34" charset="0"/>
                <a:ea typeface="Consolas" pitchFamily="34" charset="-122"/>
                <a:cs typeface="Consolas" pitchFamily="34" charset="-120"/>
              </a:rPr>
              <a:t>int.Parse(...)</a:t>
            </a:r>
            <a:endParaRPr lang="en-US" sz="1500" dirty="0"/>
          </a:p>
        </p:txBody>
      </p:sp>
      <p:sp>
        <p:nvSpPr>
          <p:cNvPr id="12" name="Text 10"/>
          <p:cNvSpPr txBox="1"/>
          <p:nvPr/>
        </p:nvSpPr>
        <p:spPr>
          <a:xfrm>
            <a:off x="4768850" y="2743200"/>
            <a:ext cx="2654300" cy="609600"/>
          </a:xfrm>
          <a:prstGeom prst="rect">
            <a:avLst/>
          </a:prstGeom>
          <a:noFill/>
          <a:ln/>
        </p:spPr>
        <p:txBody>
          <a:bodyPr wrap="square" lIns="0" tIns="0" rIns="0" bIns="0" rtlCol="0" anchor="t"/>
          <a:lstStyle/>
          <a:p>
            <a:pPr marL="0" indent="0">
              <a:lnSpc>
                <a:spcPct val="125000"/>
              </a:lnSpc>
              <a:buNone/>
            </a:pPr>
            <a:r>
              <a:rPr lang="en-US" sz="1300" dirty="0">
                <a:solidFill>
                  <a:srgbClr val="4A4766"/>
                </a:solidFill>
                <a:latin typeface="Segoe UI" pitchFamily="34" charset="0"/>
                <a:ea typeface="Segoe UI" pitchFamily="34" charset="-122"/>
                <a:cs typeface="Segoe UI" pitchFamily="34" charset="-120"/>
              </a:rPr>
              <a:t>Mengubah teks “3” menjadi angka 3.</a:t>
            </a:r>
            <a:endParaRPr lang="en-US" sz="1300" dirty="0"/>
          </a:p>
        </p:txBody>
      </p:sp>
      <p:sp>
        <p:nvSpPr>
          <p:cNvPr id="13" name="Shape 11"/>
          <p:cNvSpPr/>
          <p:nvPr/>
        </p:nvSpPr>
        <p:spPr>
          <a:xfrm>
            <a:off x="7753350" y="2597150"/>
            <a:ext cx="406400" cy="203200"/>
          </a:xfrm>
          <a:prstGeom prst="rightArrow">
            <a:avLst/>
          </a:prstGeom>
          <a:solidFill>
            <a:srgbClr val="A78BFA"/>
          </a:solidFill>
          <a:ln/>
        </p:spPr>
      </p:sp>
      <p:sp>
        <p:nvSpPr>
          <p:cNvPr id="14" name="Shape 12"/>
          <p:cNvSpPr/>
          <p:nvPr/>
        </p:nvSpPr>
        <p:spPr>
          <a:xfrm>
            <a:off x="8267700" y="1905000"/>
            <a:ext cx="3111500" cy="1587500"/>
          </a:xfrm>
          <a:prstGeom prst="roundRect">
            <a:avLst>
              <a:gd name="adj" fmla="val 8000"/>
            </a:avLst>
          </a:prstGeom>
          <a:solidFill>
            <a:srgbClr val="FDFCFF"/>
          </a:solidFill>
          <a:ln w="12700">
            <a:solidFill>
              <a:srgbClr val="E4E0F0"/>
            </a:solidFill>
            <a:prstDash val="solid"/>
          </a:ln>
        </p:spPr>
      </p:sp>
      <p:sp>
        <p:nvSpPr>
          <p:cNvPr id="15" name="Text 13"/>
          <p:cNvSpPr txBox="1"/>
          <p:nvPr/>
        </p:nvSpPr>
        <p:spPr>
          <a:xfrm>
            <a:off x="8496300" y="2108200"/>
            <a:ext cx="2654300" cy="203200"/>
          </a:xfrm>
          <a:prstGeom prst="rect">
            <a:avLst/>
          </a:prstGeom>
          <a:noFill/>
          <a:ln/>
        </p:spPr>
        <p:txBody>
          <a:bodyPr wrap="square" lIns="0" tIns="0" rIns="0" bIns="0" rtlCol="0" anchor="t"/>
          <a:lstStyle/>
          <a:p>
            <a:pPr marL="0" indent="0">
              <a:buNone/>
            </a:pPr>
            <a:r>
              <a:rPr lang="en-US" sz="1200" b="1" kern="0" spc="200" dirty="0">
                <a:solidFill>
                  <a:srgbClr val="6D28D9"/>
                </a:solidFill>
                <a:latin typeface="Segoe UI" pitchFamily="34" charset="0"/>
                <a:ea typeface="Segoe UI" pitchFamily="34" charset="-122"/>
                <a:cs typeface="Segoe UI" pitchFamily="34" charset="-120"/>
              </a:rPr>
              <a:t>LANGKAH 3</a:t>
            </a:r>
            <a:endParaRPr lang="en-US" sz="1200" dirty="0"/>
          </a:p>
        </p:txBody>
      </p:sp>
      <p:sp>
        <p:nvSpPr>
          <p:cNvPr id="16" name="Text 14"/>
          <p:cNvSpPr txBox="1"/>
          <p:nvPr/>
        </p:nvSpPr>
        <p:spPr>
          <a:xfrm>
            <a:off x="8496300" y="2387600"/>
            <a:ext cx="2654300" cy="279400"/>
          </a:xfrm>
          <a:prstGeom prst="rect">
            <a:avLst/>
          </a:prstGeom>
          <a:noFill/>
          <a:ln/>
        </p:spPr>
        <p:txBody>
          <a:bodyPr wrap="square" lIns="0" tIns="0" rIns="0" bIns="0" rtlCol="0" anchor="t"/>
          <a:lstStyle/>
          <a:p>
            <a:pPr marL="0" indent="0">
              <a:buNone/>
            </a:pPr>
            <a:r>
              <a:rPr lang="en-US" sz="1500" b="1" dirty="0">
                <a:solidFill>
                  <a:srgbClr val="1B1838"/>
                </a:solidFill>
                <a:latin typeface="Consolas" pitchFamily="34" charset="0"/>
                <a:ea typeface="Consolas" pitchFamily="34" charset="-122"/>
                <a:cs typeface="Consolas" pitchFamily="34" charset="-120"/>
              </a:rPr>
              <a:t>int n = ...</a:t>
            </a:r>
            <a:endParaRPr lang="en-US" sz="1500" dirty="0"/>
          </a:p>
        </p:txBody>
      </p:sp>
      <p:sp>
        <p:nvSpPr>
          <p:cNvPr id="17" name="Text 15"/>
          <p:cNvSpPr txBox="1"/>
          <p:nvPr/>
        </p:nvSpPr>
        <p:spPr>
          <a:xfrm>
            <a:off x="8496300" y="2743200"/>
            <a:ext cx="2654300" cy="609600"/>
          </a:xfrm>
          <a:prstGeom prst="rect">
            <a:avLst/>
          </a:prstGeom>
          <a:noFill/>
          <a:ln/>
        </p:spPr>
        <p:txBody>
          <a:bodyPr wrap="square" lIns="0" tIns="0" rIns="0" bIns="0" rtlCol="0" anchor="t"/>
          <a:lstStyle/>
          <a:p>
            <a:pPr marL="0" indent="0">
              <a:lnSpc>
                <a:spcPct val="125000"/>
              </a:lnSpc>
              <a:buNone/>
            </a:pPr>
            <a:r>
              <a:rPr lang="en-US" sz="1300" dirty="0">
                <a:solidFill>
                  <a:srgbClr val="4A4766"/>
                </a:solidFill>
                <a:latin typeface="Segoe UI" pitchFamily="34" charset="0"/>
                <a:ea typeface="Segoe UI" pitchFamily="34" charset="-122"/>
                <a:cs typeface="Segoe UI" pitchFamily="34" charset="-120"/>
              </a:rPr>
              <a:t>Angka disimpan ke variabel n, jadi n = 3.</a:t>
            </a:r>
            <a:endParaRPr lang="en-US" sz="1300" dirty="0"/>
          </a:p>
        </p:txBody>
      </p:sp>
      <p:sp>
        <p:nvSpPr>
          <p:cNvPr id="18" name="Shape 16"/>
          <p:cNvSpPr/>
          <p:nvPr/>
        </p:nvSpPr>
        <p:spPr>
          <a:xfrm>
            <a:off x="812800" y="3810000"/>
            <a:ext cx="10566400" cy="1016000"/>
          </a:xfrm>
          <a:prstGeom prst="roundRect">
            <a:avLst>
              <a:gd name="adj" fmla="val 12500"/>
            </a:avLst>
          </a:prstGeom>
          <a:solidFill>
            <a:srgbClr val="1B1838"/>
          </a:solidFill>
          <a:ln/>
        </p:spPr>
      </p:sp>
      <p:sp>
        <p:nvSpPr>
          <p:cNvPr id="19" name="Text 17"/>
          <p:cNvSpPr txBox="1"/>
          <p:nvPr/>
        </p:nvSpPr>
        <p:spPr>
          <a:xfrm>
            <a:off x="1117600" y="3810000"/>
            <a:ext cx="1905000" cy="1016000"/>
          </a:xfrm>
          <a:prstGeom prst="rect">
            <a:avLst/>
          </a:prstGeom>
          <a:noFill/>
          <a:ln/>
        </p:spPr>
        <p:txBody>
          <a:bodyPr wrap="square" lIns="0" tIns="0" rIns="0" bIns="0" rtlCol="0" anchor="ctr"/>
          <a:lstStyle/>
          <a:p>
            <a:pPr marL="0" indent="0">
              <a:buNone/>
            </a:pPr>
            <a:r>
              <a:rPr lang="en-US" sz="1600" b="1" dirty="0">
                <a:solidFill>
                  <a:srgbClr val="C4B5FD"/>
                </a:solidFill>
                <a:latin typeface="Consolas" pitchFamily="34" charset="0"/>
                <a:ea typeface="Consolas" pitchFamily="34" charset="-122"/>
                <a:cs typeface="Consolas" pitchFamily="34" charset="-120"/>
              </a:rPr>
              <a:t>new string[n]</a:t>
            </a:r>
            <a:endParaRPr lang="en-US" sz="1600" dirty="0"/>
          </a:p>
        </p:txBody>
      </p:sp>
      <p:sp>
        <p:nvSpPr>
          <p:cNvPr id="20" name="Shape 18"/>
          <p:cNvSpPr/>
          <p:nvPr/>
        </p:nvSpPr>
        <p:spPr>
          <a:xfrm>
            <a:off x="3073400" y="4216400"/>
            <a:ext cx="406400" cy="203200"/>
          </a:xfrm>
          <a:prstGeom prst="rightArrow">
            <a:avLst/>
          </a:prstGeom>
          <a:solidFill>
            <a:srgbClr val="F59E0B"/>
          </a:solidFill>
          <a:ln/>
        </p:spPr>
      </p:sp>
      <p:sp>
        <p:nvSpPr>
          <p:cNvPr id="21" name="Text 19"/>
          <p:cNvSpPr txBox="1"/>
          <p:nvPr/>
        </p:nvSpPr>
        <p:spPr>
          <a:xfrm>
            <a:off x="3657600" y="3810000"/>
            <a:ext cx="1905000" cy="1016000"/>
          </a:xfrm>
          <a:prstGeom prst="rect">
            <a:avLst/>
          </a:prstGeom>
          <a:noFill/>
          <a:ln/>
        </p:spPr>
        <p:txBody>
          <a:bodyPr wrap="square" lIns="0" tIns="0" rIns="0" bIns="0" rtlCol="0" anchor="ctr"/>
          <a:lstStyle/>
          <a:p>
            <a:pPr marL="0" indent="0">
              <a:buNone/>
            </a:pPr>
            <a:r>
              <a:rPr lang="en-US" sz="1600" b="1" dirty="0">
                <a:solidFill>
                  <a:srgbClr val="FBBF24"/>
                </a:solidFill>
                <a:latin typeface="Consolas" pitchFamily="34" charset="0"/>
                <a:ea typeface="Consolas" pitchFamily="34" charset="-122"/>
                <a:cs typeface="Consolas" pitchFamily="34" charset="-120"/>
              </a:rPr>
              <a:t>new string[3]</a:t>
            </a:r>
            <a:endParaRPr lang="en-US" sz="1600" dirty="0"/>
          </a:p>
        </p:txBody>
      </p:sp>
      <p:sp>
        <p:nvSpPr>
          <p:cNvPr id="22" name="Text 20"/>
          <p:cNvSpPr txBox="1"/>
          <p:nvPr/>
        </p:nvSpPr>
        <p:spPr>
          <a:xfrm>
            <a:off x="5842000" y="3810000"/>
            <a:ext cx="5283200" cy="1016000"/>
          </a:xfrm>
          <a:prstGeom prst="rect">
            <a:avLst/>
          </a:prstGeom>
          <a:noFill/>
          <a:ln/>
        </p:spPr>
        <p:txBody>
          <a:bodyPr wrap="square" lIns="0" tIns="0" rIns="0" bIns="0" rtlCol="0" anchor="ctr"/>
          <a:lstStyle/>
          <a:p>
            <a:pPr marL="0" indent="0">
              <a:lnSpc>
                <a:spcPct val="125000"/>
              </a:lnSpc>
              <a:buNone/>
            </a:pPr>
            <a:r>
              <a:rPr lang="en-US" sz="1400" b="1" dirty="0">
                <a:solidFill>
                  <a:srgbClr val="F6F4FB"/>
                </a:solidFill>
                <a:latin typeface="Segoe UI" pitchFamily="34" charset="0"/>
                <a:ea typeface="Segoe UI" pitchFamily="34" charset="-122"/>
                <a:cs typeface="Segoe UI" pitchFamily="34" charset="-120"/>
              </a:rPr>
              <a:t>n = jumlah elemen array. </a:t>
            </a:r>
            <a:r>
              <a:rPr lang="en-US" sz="1400" dirty="0">
                <a:solidFill>
                  <a:srgbClr val="C9C4E0"/>
                </a:solidFill>
                <a:latin typeface="Segoe UI" pitchFamily="34" charset="0"/>
                <a:ea typeface="Segoe UI" pitchFamily="34" charset="-122"/>
                <a:cs typeface="Segoe UI" pitchFamily="34" charset="-120"/>
              </a:rPr>
              <a:t>User mengetik 10, array berisi 10 elemen.</a:t>
            </a:r>
            <a:endParaRPr lang="en-US" sz="14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02500" y="1651000"/>
            <a:ext cx="4445000" cy="3302000"/>
          </a:xfrm>
          <a:prstGeom prst="rect">
            <a:avLst/>
          </a:prstGeom>
          <a:noFill/>
          <a:ln/>
        </p:spPr>
        <p:txBody>
          <a:bodyPr wrap="square" lIns="0" tIns="0" rIns="0" bIns="0" rtlCol="0" anchor="ctr"/>
          <a:lstStyle/>
          <a:p>
            <a:pPr marL="0" indent="0" algn="ctr">
              <a:buNone/>
            </a:pPr>
            <a:r>
              <a:rPr lang="en-US" sz="20000" b="1" dirty="0">
                <a:solidFill>
                  <a:srgbClr val="7C3AED"/>
                </a:solidFill>
                <a:latin typeface="Consolas" pitchFamily="34" charset="0"/>
                <a:ea typeface="Consolas" pitchFamily="34" charset="-122"/>
                <a:cs typeface="Consolas" pitchFamily="34" charset="-120"/>
              </a:rPr>
              <a:t>[i]</a:t>
            </a:r>
            <a:endParaRPr lang="en-US" sz="20000" dirty="0"/>
          </a:p>
        </p:txBody>
      </p:sp>
      <p:sp>
        <p:nvSpPr>
          <p:cNvPr id="3" name="Text 1"/>
          <p:cNvSpPr>
            <a:spLocks noGrp="1"/>
          </p:cNvSpPr>
          <p:nvPr>
            <p:ph type="body" idx="101" hasCustomPrompt="1"/>
          </p:nvPr>
        </p:nvSpPr>
        <p:spPr>
          <a:xfrm>
            <a:off x="812800" y="2019300"/>
            <a:ext cx="6350000" cy="254000"/>
          </a:xfrm>
          <a:prstGeom prst="rect">
            <a:avLst/>
          </a:prstGeom>
          <a:noFill/>
          <a:ln/>
        </p:spPr>
        <p:txBody>
          <a:bodyPr wrap="square" lIns="0" tIns="0" rIns="0" bIns="0" rtlCol="0" anchor="t"/>
          <a:lstStyle/>
          <a:p>
            <a:pPr marL="0" indent="0" algn="l">
              <a:buNone/>
            </a:pPr>
            <a:r>
              <a:rPr lang="en-US" sz="1200" b="1" kern="0" spc="400" dirty="0">
                <a:solidFill>
                  <a:srgbClr val="EDE9FE"/>
                </a:solidFill>
                <a:latin typeface="Segoe UI" pitchFamily="34" charset="0"/>
                <a:ea typeface="Segoe UI" pitchFamily="34" charset="-122"/>
                <a:cs typeface="Segoe UI" pitchFamily="34" charset="-120"/>
              </a:rPr>
              <a:t>BAGIAN 3</a:t>
            </a:r>
            <a:endParaRPr lang="en-US" sz="1200" dirty="0"/>
          </a:p>
        </p:txBody>
      </p:sp>
      <p:sp>
        <p:nvSpPr>
          <p:cNvPr id="4" name="Text 1"/>
          <p:cNvSpPr>
            <a:spLocks noGrp="1"/>
          </p:cNvSpPr>
          <p:nvPr>
            <p:ph type="title" idx="102" hasCustomPrompt="1"/>
          </p:nvPr>
        </p:nvSpPr>
        <p:spPr>
          <a:xfrm>
            <a:off x="812800" y="2349500"/>
            <a:ext cx="6604000" cy="1905000"/>
          </a:xfrm>
          <a:prstGeom prst="rect">
            <a:avLst/>
          </a:prstGeom>
          <a:noFill/>
          <a:ln/>
        </p:spPr>
        <p:txBody>
          <a:bodyPr wrap="square" lIns="0" tIns="0" rIns="0" bIns="0" rtlCol="0" anchor="t"/>
          <a:lstStyle/>
          <a:p>
            <a:pPr marL="0" indent="0" algn="l">
              <a:buNone/>
            </a:pPr>
            <a:r>
              <a:rPr lang="en-US" sz="6000" dirty="0">
                <a:solidFill>
                  <a:srgbClr val="F6F4FB"/>
                </a:solidFill>
                <a:latin typeface="Segoe UI Semibold" pitchFamily="34" charset="0"/>
                <a:ea typeface="Segoe UI Semibold" pitchFamily="34" charset="-122"/>
                <a:cs typeface="Segoe UI Semibold" pitchFamily="34" charset="-120"/>
              </a:rPr>
              <a:t>Memanggil Data dari Array</a:t>
            </a:r>
            <a:endParaRPr lang="en-US" sz="6000" dirty="0"/>
          </a:p>
        </p:txBody>
      </p:sp>
      <p:sp>
        <p:nvSpPr>
          <p:cNvPr id="5" name="Text 1"/>
          <p:cNvSpPr>
            <a:spLocks noGrp="1"/>
          </p:cNvSpPr>
          <p:nvPr>
            <p:ph type="body" idx="103" hasCustomPrompt="1"/>
          </p:nvPr>
        </p:nvSpPr>
        <p:spPr>
          <a:xfrm>
            <a:off x="812800" y="4381500"/>
            <a:ext cx="5969000" cy="762000"/>
          </a:xfrm>
          <a:prstGeom prst="rect">
            <a:avLst/>
          </a:prstGeom>
          <a:noFill/>
          <a:ln/>
        </p:spPr>
        <p:txBody>
          <a:bodyPr wrap="square" lIns="0" tIns="0" rIns="0" bIns="0" rtlCol="0" anchor="t"/>
          <a:lstStyle/>
          <a:p>
            <a:pPr marL="0" indent="0" algn="l">
              <a:buNone/>
            </a:pPr>
            <a:r>
              <a:rPr lang="en-US" sz="1800" dirty="0">
                <a:solidFill>
                  <a:srgbClr val="EDE9FE"/>
                </a:solidFill>
                <a:latin typeface="Segoe UI" pitchFamily="34" charset="0"/>
                <a:ea typeface="Segoe UI" pitchFamily="34" charset="-122"/>
                <a:cs typeface="Segoe UI" pitchFamily="34" charset="-120"/>
              </a:rPr>
              <a:t>Mengambil elemen lewat index, for, foreach, dan string.Join.</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MEMANGGIL DATA · CARA 1</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Mengambil satu elemen lewat index</a:t>
            </a:r>
            <a:endParaRPr lang="en-US" sz="3600" dirty="0"/>
          </a:p>
        </p:txBody>
      </p:sp>
      <p:sp>
        <p:nvSpPr>
          <p:cNvPr id="4" name="Kode"/>
          <p:cNvSpPr/>
          <p:nvPr/>
        </p:nvSpPr>
        <p:spPr>
          <a:xfrm>
            <a:off x="812800" y="1905000"/>
            <a:ext cx="7493000" cy="1905000"/>
          </a:xfrm>
          <a:prstGeom prst="roundRect">
            <a:avLst>
              <a:gd name="adj" fmla="val 6667"/>
            </a:avLst>
          </a:prstGeom>
          <a:solidFill>
            <a:srgbClr val="0E0C1F"/>
          </a:solidFill>
          <a:ln w="12700">
            <a:solidFill>
              <a:srgbClr val="2E2A52"/>
            </a:solidFill>
            <a:prstDash val="solid"/>
          </a:ln>
        </p:spPr>
      </p:sp>
      <p:sp>
        <p:nvSpPr>
          <p:cNvPr id="5" name="Shape 3"/>
          <p:cNvSpPr/>
          <p:nvPr/>
        </p:nvSpPr>
        <p:spPr>
          <a:xfrm>
            <a:off x="1066800" y="2108200"/>
            <a:ext cx="101600" cy="101600"/>
          </a:xfrm>
          <a:prstGeom prst="ellipse">
            <a:avLst/>
          </a:prstGeom>
          <a:solidFill>
            <a:srgbClr val="FF5F57"/>
          </a:solidFill>
          <a:ln/>
        </p:spPr>
      </p:sp>
      <p:sp>
        <p:nvSpPr>
          <p:cNvPr id="6" name="Shape 4"/>
          <p:cNvSpPr/>
          <p:nvPr/>
        </p:nvSpPr>
        <p:spPr>
          <a:xfrm>
            <a:off x="1231900" y="2108200"/>
            <a:ext cx="101600" cy="101600"/>
          </a:xfrm>
          <a:prstGeom prst="ellipse">
            <a:avLst/>
          </a:prstGeom>
          <a:solidFill>
            <a:srgbClr val="FEBC2E"/>
          </a:solidFill>
          <a:ln/>
        </p:spPr>
      </p:sp>
      <p:sp>
        <p:nvSpPr>
          <p:cNvPr id="7" name="Shape 5"/>
          <p:cNvSpPr/>
          <p:nvPr/>
        </p:nvSpPr>
        <p:spPr>
          <a:xfrm>
            <a:off x="1397000" y="2108200"/>
            <a:ext cx="101600" cy="101600"/>
          </a:xfrm>
          <a:prstGeom prst="ellipse">
            <a:avLst/>
          </a:prstGeom>
          <a:solidFill>
            <a:srgbClr val="28C840"/>
          </a:solidFill>
          <a:ln/>
        </p:spPr>
      </p:sp>
      <p:sp>
        <p:nvSpPr>
          <p:cNvPr id="8" name="Text 6"/>
          <p:cNvSpPr txBox="1"/>
          <p:nvPr/>
        </p:nvSpPr>
        <p:spPr>
          <a:xfrm>
            <a:off x="1066800" y="2362200"/>
            <a:ext cx="6985000" cy="1295400"/>
          </a:xfrm>
          <a:prstGeom prst="rect">
            <a:avLst/>
          </a:prstGeom>
          <a:noFill/>
          <a:ln/>
        </p:spPr>
        <p:txBody>
          <a:bodyPr wrap="square" lIns="0" tIns="0" rIns="0" bIns="0" rtlCol="0" anchor="t"/>
          <a:lstStyle/>
          <a:p>
            <a:pPr marL="0" indent="0">
              <a:lnSpc>
                <a:spcPct val="130000"/>
              </a:lnSpc>
              <a:buNone/>
            </a:pPr>
            <a:r>
              <a:rPr lang="en-US" sz="1400" dirty="0">
                <a:solidFill>
                  <a:srgbClr val="C792EA"/>
                </a:solidFill>
                <a:latin typeface="Consolas" pitchFamily="34" charset="0"/>
                <a:ea typeface="Consolas" pitchFamily="34" charset="-122"/>
                <a:cs typeface="Consolas" pitchFamily="34" charset="-120"/>
              </a:rPr>
              <a:t>string</a:t>
            </a:r>
            <a:r>
              <a:rPr lang="en-US" sz="1400" dirty="0">
                <a:solidFill>
                  <a:srgbClr val="E6E3F5"/>
                </a:solidFill>
                <a:latin typeface="Consolas" pitchFamily="34" charset="0"/>
                <a:ea typeface="Consolas" pitchFamily="34" charset="-122"/>
                <a:cs typeface="Consolas" pitchFamily="34" charset="-120"/>
              </a:rPr>
              <a:t>[] buah = { </a:t>
            </a:r>
            <a:r>
              <a:rPr lang="en-US" sz="1400" dirty="0">
                <a:solidFill>
                  <a:srgbClr val="C3E88D"/>
                </a:solidFill>
                <a:latin typeface="Consolas" pitchFamily="34" charset="0"/>
                <a:ea typeface="Consolas" pitchFamily="34" charset="-122"/>
                <a:cs typeface="Consolas" pitchFamily="34" charset="-120"/>
              </a:rPr>
              <a:t>"Apel"</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C3E88D"/>
                </a:solidFill>
                <a:latin typeface="Consolas" pitchFamily="34" charset="0"/>
                <a:ea typeface="Consolas" pitchFamily="34" charset="-122"/>
                <a:cs typeface="Consolas" pitchFamily="34" charset="-120"/>
              </a:rPr>
              <a:t>"Jeruk"</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C3E88D"/>
                </a:solidFill>
                <a:latin typeface="Consolas" pitchFamily="34" charset="0"/>
                <a:ea typeface="Consolas" pitchFamily="34" charset="-122"/>
                <a:cs typeface="Consolas" pitchFamily="34" charset="-120"/>
              </a:rPr>
              <a:t>"Mangga" </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0000"/>
              </a:lnSpc>
              <a:buNone/>
            </a:pPr>
            <a:r>
              <a:rPr lang="en-US" sz="1400" dirty="0">
                <a:solidFill>
                  <a:srgbClr val="E6E3F5"/>
                </a:solidFill>
                <a:latin typeface="Consolas" pitchFamily="34" charset="0"/>
                <a:ea typeface="Consolas" pitchFamily="34" charset="-122"/>
                <a:cs typeface="Consolas" pitchFamily="34" charset="-120"/>
              </a:rPr>
              <a:t> </a:t>
            </a:r>
            <a:endParaRPr lang="en-US" sz="1400" dirty="0"/>
          </a:p>
          <a:p>
            <a:pPr marL="0" indent="0">
              <a:lnSpc>
                <a:spcPct val="130000"/>
              </a:lnSpc>
              <a:buNone/>
            </a:pPr>
            <a:r>
              <a:rPr lang="en-US" sz="1400" dirty="0">
                <a:solidFill>
                  <a:srgbClr val="FFCB6B"/>
                </a:solidFill>
                <a:latin typeface="Consolas" pitchFamily="34" charset="0"/>
                <a:ea typeface="Consolas" pitchFamily="34" charset="-122"/>
                <a:cs typeface="Consolas" pitchFamily="34" charset="-120"/>
              </a:rPr>
              <a:t>Console</a:t>
            </a:r>
            <a:r>
              <a:rPr lang="en-US" sz="1400" dirty="0">
                <a:solidFill>
                  <a:srgbClr val="E6E3F5"/>
                </a:solidFill>
                <a:latin typeface="Consolas" pitchFamily="34" charset="0"/>
                <a:ea typeface="Consolas" pitchFamily="34" charset="-122"/>
                <a:cs typeface="Consolas" pitchFamily="34" charset="-120"/>
              </a:rPr>
              <a:t>.</a:t>
            </a:r>
            <a:r>
              <a:rPr lang="en-US" sz="1400" dirty="0">
                <a:solidFill>
                  <a:srgbClr val="82AAFF"/>
                </a:solidFill>
                <a:latin typeface="Consolas" pitchFamily="34" charset="0"/>
                <a:ea typeface="Consolas" pitchFamily="34" charset="-122"/>
                <a:cs typeface="Consolas" pitchFamily="34" charset="-120"/>
              </a:rPr>
              <a:t>WriteLine</a:t>
            </a:r>
            <a:r>
              <a:rPr lang="en-US" sz="1400" dirty="0">
                <a:solidFill>
                  <a:srgbClr val="E6E3F5"/>
                </a:solidFill>
                <a:latin typeface="Consolas" pitchFamily="34" charset="0"/>
                <a:ea typeface="Consolas" pitchFamily="34" charset="-122"/>
                <a:cs typeface="Consolas" pitchFamily="34" charset="-120"/>
              </a:rPr>
              <a:t>(buah[</a:t>
            </a:r>
            <a:r>
              <a:rPr lang="en-US" sz="1400" dirty="0">
                <a:solidFill>
                  <a:srgbClr val="F78C6C"/>
                </a:solidFill>
                <a:latin typeface="Consolas" pitchFamily="34" charset="0"/>
                <a:ea typeface="Consolas" pitchFamily="34" charset="-122"/>
                <a:cs typeface="Consolas" pitchFamily="34" charset="-120"/>
              </a:rPr>
              <a:t>0</a:t>
            </a:r>
            <a:r>
              <a:rPr lang="en-US" sz="1400" dirty="0">
                <a:solidFill>
                  <a:srgbClr val="E6E3F5"/>
                </a:solidFill>
                <a:latin typeface="Consolas" pitchFamily="34" charset="0"/>
                <a:ea typeface="Consolas" pitchFamily="34" charset="-122"/>
                <a:cs typeface="Consolas" pitchFamily="34" charset="-120"/>
              </a:rPr>
              <a:t>]);</a:t>
            </a:r>
            <a:endParaRPr lang="en-US" sz="1400" dirty="0"/>
          </a:p>
          <a:p>
            <a:pPr marL="0" indent="0">
              <a:lnSpc>
                <a:spcPct val="130000"/>
              </a:lnSpc>
              <a:buNone/>
            </a:pPr>
            <a:r>
              <a:rPr lang="en-US" sz="1400" dirty="0">
                <a:solidFill>
                  <a:srgbClr val="FFCB6B"/>
                </a:solidFill>
                <a:latin typeface="Consolas" pitchFamily="34" charset="0"/>
                <a:ea typeface="Consolas" pitchFamily="34" charset="-122"/>
                <a:cs typeface="Consolas" pitchFamily="34" charset="-120"/>
              </a:rPr>
              <a:t>Console</a:t>
            </a:r>
            <a:r>
              <a:rPr lang="en-US" sz="1400" dirty="0">
                <a:solidFill>
                  <a:srgbClr val="E6E3F5"/>
                </a:solidFill>
                <a:latin typeface="Consolas" pitchFamily="34" charset="0"/>
                <a:ea typeface="Consolas" pitchFamily="34" charset="-122"/>
                <a:cs typeface="Consolas" pitchFamily="34" charset="-120"/>
              </a:rPr>
              <a:t>.</a:t>
            </a:r>
            <a:r>
              <a:rPr lang="en-US" sz="1400" dirty="0">
                <a:solidFill>
                  <a:srgbClr val="82AAFF"/>
                </a:solidFill>
                <a:latin typeface="Consolas" pitchFamily="34" charset="0"/>
                <a:ea typeface="Consolas" pitchFamily="34" charset="-122"/>
                <a:cs typeface="Consolas" pitchFamily="34" charset="-120"/>
              </a:rPr>
              <a:t>WriteLine</a:t>
            </a:r>
            <a:r>
              <a:rPr lang="en-US" sz="1400" dirty="0">
                <a:solidFill>
                  <a:srgbClr val="E6E3F5"/>
                </a:solidFill>
                <a:latin typeface="Consolas" pitchFamily="34" charset="0"/>
                <a:ea typeface="Consolas" pitchFamily="34" charset="-122"/>
                <a:cs typeface="Consolas" pitchFamily="34" charset="-120"/>
              </a:rPr>
              <a:t>(buah[</a:t>
            </a:r>
            <a:r>
              <a:rPr lang="en-US" sz="1400" dirty="0">
                <a:solidFill>
                  <a:srgbClr val="F78C6C"/>
                </a:solidFill>
                <a:latin typeface="Consolas" pitchFamily="34" charset="0"/>
                <a:ea typeface="Consolas" pitchFamily="34" charset="-122"/>
                <a:cs typeface="Consolas" pitchFamily="34" charset="-120"/>
              </a:rPr>
              <a:t>2</a:t>
            </a:r>
            <a:r>
              <a:rPr lang="en-US" sz="1400" dirty="0">
                <a:solidFill>
                  <a:srgbClr val="E6E3F5"/>
                </a:solidFill>
                <a:latin typeface="Consolas" pitchFamily="34" charset="0"/>
                <a:ea typeface="Consolas" pitchFamily="34" charset="-122"/>
                <a:cs typeface="Consolas" pitchFamily="34" charset="-120"/>
              </a:rPr>
              <a:t>]);</a:t>
            </a:r>
            <a:endParaRPr lang="en-US" sz="1400" dirty="0"/>
          </a:p>
        </p:txBody>
      </p:sp>
      <p:sp>
        <p:nvSpPr>
          <p:cNvPr id="9" name="Shape 7"/>
          <p:cNvSpPr/>
          <p:nvPr/>
        </p:nvSpPr>
        <p:spPr>
          <a:xfrm>
            <a:off x="8559800" y="1905000"/>
            <a:ext cx="2819400" cy="1905000"/>
          </a:xfrm>
          <a:prstGeom prst="roundRect">
            <a:avLst>
              <a:gd name="adj" fmla="val 6667"/>
            </a:avLst>
          </a:prstGeom>
          <a:solidFill>
            <a:srgbClr val="0A0918"/>
          </a:solidFill>
          <a:ln w="12700">
            <a:solidFill>
              <a:srgbClr val="2E2A52"/>
            </a:solidFill>
            <a:prstDash val="solid"/>
          </a:ln>
        </p:spPr>
      </p:sp>
      <p:sp>
        <p:nvSpPr>
          <p:cNvPr id="10" name="Text 8"/>
          <p:cNvSpPr txBox="1"/>
          <p:nvPr/>
        </p:nvSpPr>
        <p:spPr>
          <a:xfrm>
            <a:off x="8763000" y="2082800"/>
            <a:ext cx="2413000" cy="228600"/>
          </a:xfrm>
          <a:prstGeom prst="rect">
            <a:avLst/>
          </a:prstGeom>
          <a:noFill/>
          <a:ln/>
        </p:spPr>
        <p:txBody>
          <a:bodyPr wrap="square" lIns="0" tIns="0" rIns="0" bIns="0" rtlCol="0" anchor="t"/>
          <a:lstStyle/>
          <a:p>
            <a:pPr marL="0" indent="0">
              <a:buNone/>
            </a:pPr>
            <a:r>
              <a:rPr lang="en-US" sz="1200" b="1" kern="0" spc="200" dirty="0">
                <a:solidFill>
                  <a:srgbClr val="8A86A8"/>
                </a:solidFill>
                <a:latin typeface="Segoe UI" pitchFamily="34" charset="0"/>
                <a:ea typeface="Segoe UI" pitchFamily="34" charset="-122"/>
                <a:cs typeface="Segoe UI" pitchFamily="34" charset="-120"/>
              </a:rPr>
              <a:t>OUTPUT</a:t>
            </a:r>
            <a:endParaRPr lang="en-US" sz="1200" dirty="0"/>
          </a:p>
        </p:txBody>
      </p:sp>
      <p:sp>
        <p:nvSpPr>
          <p:cNvPr id="11" name="Text 9"/>
          <p:cNvSpPr txBox="1"/>
          <p:nvPr/>
        </p:nvSpPr>
        <p:spPr>
          <a:xfrm>
            <a:off x="8763000" y="2413000"/>
            <a:ext cx="2413000" cy="1244600"/>
          </a:xfrm>
          <a:prstGeom prst="rect">
            <a:avLst/>
          </a:prstGeom>
          <a:noFill/>
          <a:ln/>
        </p:spPr>
        <p:txBody>
          <a:bodyPr wrap="square" lIns="0" tIns="0" rIns="0" bIns="0" rtlCol="0" anchor="t"/>
          <a:lstStyle/>
          <a:p>
            <a:pPr marL="0" indent="0">
              <a:lnSpc>
                <a:spcPct val="130000"/>
              </a:lnSpc>
              <a:buNone/>
            </a:pPr>
            <a:r>
              <a:rPr lang="en-US" sz="1600" dirty="0">
                <a:solidFill>
                  <a:srgbClr val="C3E88D"/>
                </a:solidFill>
                <a:latin typeface="Consolas" pitchFamily="34" charset="0"/>
                <a:ea typeface="Consolas" pitchFamily="34" charset="-122"/>
                <a:cs typeface="Consolas" pitchFamily="34" charset="-120"/>
              </a:rPr>
              <a:t>Apel</a:t>
            </a:r>
            <a:endParaRPr lang="en-US" sz="1600" dirty="0"/>
          </a:p>
          <a:p>
            <a:pPr marL="0" indent="0">
              <a:lnSpc>
                <a:spcPct val="130000"/>
              </a:lnSpc>
              <a:buNone/>
            </a:pPr>
            <a:r>
              <a:rPr lang="en-US" sz="1600" dirty="0">
                <a:solidFill>
                  <a:srgbClr val="C3E88D"/>
                </a:solidFill>
                <a:latin typeface="Consolas" pitchFamily="34" charset="0"/>
                <a:ea typeface="Consolas" pitchFamily="34" charset="-122"/>
                <a:cs typeface="Consolas" pitchFamily="34" charset="-120"/>
              </a:rPr>
              <a:t>Mangga</a:t>
            </a:r>
            <a:endParaRPr lang="en-US" sz="1600" dirty="0"/>
          </a:p>
        </p:txBody>
      </p:sp>
      <p:sp>
        <p:nvSpPr>
          <p:cNvPr id="12" name="Text 10"/>
          <p:cNvSpPr txBox="1"/>
          <p:nvPr/>
        </p:nvSpPr>
        <p:spPr>
          <a:xfrm>
            <a:off x="812800" y="4064000"/>
            <a:ext cx="3416300" cy="228600"/>
          </a:xfrm>
          <a:prstGeom prst="rect">
            <a:avLst/>
          </a:prstGeom>
          <a:noFill/>
          <a:ln/>
        </p:spPr>
        <p:txBody>
          <a:bodyPr wrap="square" lIns="0" tIns="0" rIns="0" bIns="0" rtlCol="0" anchor="t"/>
          <a:lstStyle/>
          <a:p>
            <a:pPr marL="0" indent="0">
              <a:buNone/>
            </a:pPr>
            <a:r>
              <a:rPr lang="en-US" sz="1300" b="1" dirty="0">
                <a:solidFill>
                  <a:srgbClr val="FBBF24"/>
                </a:solidFill>
                <a:latin typeface="Consolas" pitchFamily="34" charset="0"/>
                <a:ea typeface="Consolas" pitchFamily="34" charset="-122"/>
                <a:cs typeface="Consolas" pitchFamily="34" charset="-120"/>
              </a:rPr>
              <a:t>buah[0]</a:t>
            </a:r>
            <a:endParaRPr lang="en-US" sz="1300" dirty="0"/>
          </a:p>
        </p:txBody>
      </p:sp>
      <p:sp>
        <p:nvSpPr>
          <p:cNvPr id="13" name="Shape 11"/>
          <p:cNvSpPr/>
          <p:nvPr/>
        </p:nvSpPr>
        <p:spPr>
          <a:xfrm>
            <a:off x="812800" y="4356100"/>
            <a:ext cx="3416300" cy="698500"/>
          </a:xfrm>
          <a:prstGeom prst="roundRect">
            <a:avLst>
              <a:gd name="adj" fmla="val 14545"/>
            </a:avLst>
          </a:prstGeom>
          <a:solidFill>
            <a:srgbClr val="2E2766"/>
          </a:solidFill>
          <a:ln w="38100">
            <a:solidFill>
              <a:srgbClr val="F59E0B"/>
            </a:solidFill>
            <a:prstDash val="solid"/>
          </a:ln>
        </p:spPr>
      </p:sp>
      <p:sp>
        <p:nvSpPr>
          <p:cNvPr id="14" name="Text 12"/>
          <p:cNvSpPr txBox="1"/>
          <p:nvPr/>
        </p:nvSpPr>
        <p:spPr>
          <a:xfrm>
            <a:off x="812800" y="4356100"/>
            <a:ext cx="3416300" cy="698500"/>
          </a:xfrm>
          <a:prstGeom prst="rect">
            <a:avLst/>
          </a:prstGeom>
          <a:noFill/>
          <a:ln/>
        </p:spPr>
        <p:txBody>
          <a:bodyPr wrap="square" lIns="0" tIns="0" rIns="0" bIns="0" rtlCol="0" anchor="ctr"/>
          <a:lstStyle/>
          <a:p>
            <a:pPr marL="0" indent="0" algn="ctr">
              <a:buNone/>
            </a:pPr>
            <a:r>
              <a:rPr lang="en-US" sz="2000" b="1" dirty="0">
                <a:solidFill>
                  <a:srgbClr val="F6F4FB"/>
                </a:solidFill>
                <a:latin typeface="Segoe UI" pitchFamily="34" charset="0"/>
                <a:ea typeface="Segoe UI" pitchFamily="34" charset="-122"/>
                <a:cs typeface="Segoe UI" pitchFamily="34" charset="-120"/>
              </a:rPr>
              <a:t>Apel</a:t>
            </a:r>
            <a:endParaRPr lang="en-US" sz="2000" dirty="0"/>
          </a:p>
        </p:txBody>
      </p:sp>
      <p:sp>
        <p:nvSpPr>
          <p:cNvPr id="15" name="Text 13"/>
          <p:cNvSpPr txBox="1"/>
          <p:nvPr/>
        </p:nvSpPr>
        <p:spPr>
          <a:xfrm>
            <a:off x="4387850" y="4064000"/>
            <a:ext cx="3416300" cy="228600"/>
          </a:xfrm>
          <a:prstGeom prst="rect">
            <a:avLst/>
          </a:prstGeom>
          <a:noFill/>
          <a:ln/>
        </p:spPr>
        <p:txBody>
          <a:bodyPr wrap="square" lIns="0" tIns="0" rIns="0" bIns="0" rtlCol="0" anchor="t"/>
          <a:lstStyle/>
          <a:p>
            <a:pPr marL="0" indent="0">
              <a:buNone/>
            </a:pPr>
            <a:r>
              <a:rPr lang="en-US" sz="1300" dirty="0">
                <a:solidFill>
                  <a:srgbClr val="8A86A8"/>
                </a:solidFill>
                <a:latin typeface="Consolas" pitchFamily="34" charset="0"/>
                <a:ea typeface="Consolas" pitchFamily="34" charset="-122"/>
                <a:cs typeface="Consolas" pitchFamily="34" charset="-120"/>
              </a:rPr>
              <a:t>buah[1]</a:t>
            </a:r>
            <a:endParaRPr lang="en-US" sz="1300" dirty="0"/>
          </a:p>
        </p:txBody>
      </p:sp>
      <p:sp>
        <p:nvSpPr>
          <p:cNvPr id="16" name="Shape 14"/>
          <p:cNvSpPr/>
          <p:nvPr/>
        </p:nvSpPr>
        <p:spPr>
          <a:xfrm>
            <a:off x="4387850" y="4356100"/>
            <a:ext cx="3416300" cy="698500"/>
          </a:xfrm>
          <a:prstGeom prst="roundRect">
            <a:avLst>
              <a:gd name="adj" fmla="val 14545"/>
            </a:avLst>
          </a:prstGeom>
          <a:solidFill>
            <a:srgbClr val="1D1A3A"/>
          </a:solidFill>
          <a:ln w="25400">
            <a:solidFill>
              <a:srgbClr val="3B3570"/>
            </a:solidFill>
            <a:prstDash val="solid"/>
          </a:ln>
        </p:spPr>
      </p:sp>
      <p:sp>
        <p:nvSpPr>
          <p:cNvPr id="17" name="Text 15"/>
          <p:cNvSpPr txBox="1"/>
          <p:nvPr/>
        </p:nvSpPr>
        <p:spPr>
          <a:xfrm>
            <a:off x="4387850" y="4356100"/>
            <a:ext cx="3416300" cy="698500"/>
          </a:xfrm>
          <a:prstGeom prst="rect">
            <a:avLst/>
          </a:prstGeom>
          <a:noFill/>
          <a:ln/>
        </p:spPr>
        <p:txBody>
          <a:bodyPr wrap="square" lIns="0" tIns="0" rIns="0" bIns="0" rtlCol="0" anchor="ctr"/>
          <a:lstStyle/>
          <a:p>
            <a:pPr marL="0" indent="0" algn="ctr">
              <a:buNone/>
            </a:pPr>
            <a:r>
              <a:rPr lang="en-US" sz="2000" b="1" dirty="0">
                <a:solidFill>
                  <a:srgbClr val="8A86A8"/>
                </a:solidFill>
                <a:latin typeface="Segoe UI" pitchFamily="34" charset="0"/>
                <a:ea typeface="Segoe UI" pitchFamily="34" charset="-122"/>
                <a:cs typeface="Segoe UI" pitchFamily="34" charset="-120"/>
              </a:rPr>
              <a:t>Jeruk</a:t>
            </a:r>
            <a:endParaRPr lang="en-US" sz="2000" dirty="0"/>
          </a:p>
        </p:txBody>
      </p:sp>
      <p:sp>
        <p:nvSpPr>
          <p:cNvPr id="18" name="Text 16"/>
          <p:cNvSpPr txBox="1"/>
          <p:nvPr/>
        </p:nvSpPr>
        <p:spPr>
          <a:xfrm>
            <a:off x="7962900" y="4064000"/>
            <a:ext cx="3416300" cy="228600"/>
          </a:xfrm>
          <a:prstGeom prst="rect">
            <a:avLst/>
          </a:prstGeom>
          <a:noFill/>
          <a:ln/>
        </p:spPr>
        <p:txBody>
          <a:bodyPr wrap="square" lIns="0" tIns="0" rIns="0" bIns="0" rtlCol="0" anchor="t"/>
          <a:lstStyle/>
          <a:p>
            <a:pPr marL="0" indent="0">
              <a:buNone/>
            </a:pPr>
            <a:r>
              <a:rPr lang="en-US" sz="1300" b="1" dirty="0">
                <a:solidFill>
                  <a:srgbClr val="FBBF24"/>
                </a:solidFill>
                <a:latin typeface="Consolas" pitchFamily="34" charset="0"/>
                <a:ea typeface="Consolas" pitchFamily="34" charset="-122"/>
                <a:cs typeface="Consolas" pitchFamily="34" charset="-120"/>
              </a:rPr>
              <a:t>buah[2]</a:t>
            </a:r>
            <a:endParaRPr lang="en-US" sz="1300" dirty="0"/>
          </a:p>
        </p:txBody>
      </p:sp>
      <p:sp>
        <p:nvSpPr>
          <p:cNvPr id="19" name="Shape 17"/>
          <p:cNvSpPr/>
          <p:nvPr/>
        </p:nvSpPr>
        <p:spPr>
          <a:xfrm>
            <a:off x="7962900" y="4356100"/>
            <a:ext cx="3416300" cy="698500"/>
          </a:xfrm>
          <a:prstGeom prst="roundRect">
            <a:avLst>
              <a:gd name="adj" fmla="val 14545"/>
            </a:avLst>
          </a:prstGeom>
          <a:solidFill>
            <a:srgbClr val="2E2766"/>
          </a:solidFill>
          <a:ln w="38100">
            <a:solidFill>
              <a:srgbClr val="F59E0B"/>
            </a:solidFill>
            <a:prstDash val="solid"/>
          </a:ln>
        </p:spPr>
      </p:sp>
      <p:sp>
        <p:nvSpPr>
          <p:cNvPr id="20" name="Text 18"/>
          <p:cNvSpPr txBox="1"/>
          <p:nvPr/>
        </p:nvSpPr>
        <p:spPr>
          <a:xfrm>
            <a:off x="7962900" y="4356100"/>
            <a:ext cx="3416300" cy="698500"/>
          </a:xfrm>
          <a:prstGeom prst="rect">
            <a:avLst/>
          </a:prstGeom>
          <a:noFill/>
          <a:ln/>
        </p:spPr>
        <p:txBody>
          <a:bodyPr wrap="square" lIns="0" tIns="0" rIns="0" bIns="0" rtlCol="0" anchor="ctr"/>
          <a:lstStyle/>
          <a:p>
            <a:pPr marL="0" indent="0" algn="ctr">
              <a:buNone/>
            </a:pPr>
            <a:r>
              <a:rPr lang="en-US" sz="2000" b="1" dirty="0">
                <a:solidFill>
                  <a:srgbClr val="F6F4FB"/>
                </a:solidFill>
                <a:latin typeface="Segoe UI" pitchFamily="34" charset="0"/>
                <a:ea typeface="Segoe UI" pitchFamily="34" charset="-122"/>
                <a:cs typeface="Segoe UI" pitchFamily="34" charset="-120"/>
              </a:rPr>
              <a:t>Mangga</a:t>
            </a:r>
            <a:endParaRPr lang="en-US" sz="20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MEMANGGIL DATA · CARA 2 DAN 3</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Menampilkan semua elemen</a:t>
            </a:r>
            <a:endParaRPr lang="en-US" sz="3600" dirty="0"/>
          </a:p>
        </p:txBody>
      </p:sp>
      <p:sp>
        <p:nvSpPr>
          <p:cNvPr id="4" name="Text 2"/>
          <p:cNvSpPr txBox="1"/>
          <p:nvPr/>
        </p:nvSpPr>
        <p:spPr>
          <a:xfrm>
            <a:off x="812800" y="1879600"/>
            <a:ext cx="5181600" cy="279400"/>
          </a:xfrm>
          <a:prstGeom prst="rect">
            <a:avLst/>
          </a:prstGeom>
          <a:noFill/>
          <a:ln/>
        </p:spPr>
        <p:txBody>
          <a:bodyPr wrap="square" lIns="0" tIns="0" rIns="0" bIns="0" rtlCol="0" anchor="t"/>
          <a:lstStyle/>
          <a:p>
            <a:pPr marL="0" indent="0">
              <a:buNone/>
            </a:pPr>
            <a:r>
              <a:rPr lang="en-US" sz="1700" b="1" dirty="0">
                <a:solidFill>
                  <a:srgbClr val="1B1838"/>
                </a:solidFill>
                <a:latin typeface="Consolas" pitchFamily="34" charset="0"/>
                <a:ea typeface="Consolas" pitchFamily="34" charset="-122"/>
                <a:cs typeface="Consolas" pitchFamily="34" charset="-120"/>
              </a:rPr>
              <a:t>for</a:t>
            </a:r>
            <a:endParaRPr lang="en-US" sz="1700" dirty="0"/>
          </a:p>
        </p:txBody>
      </p:sp>
      <p:sp>
        <p:nvSpPr>
          <p:cNvPr id="5" name="Kode"/>
          <p:cNvSpPr/>
          <p:nvPr/>
        </p:nvSpPr>
        <p:spPr>
          <a:xfrm>
            <a:off x="812800" y="2235200"/>
            <a:ext cx="5181600" cy="1714500"/>
          </a:xfrm>
          <a:prstGeom prst="roundRect">
            <a:avLst>
              <a:gd name="adj" fmla="val 7407"/>
            </a:avLst>
          </a:prstGeom>
          <a:solidFill>
            <a:srgbClr val="0E0C1F"/>
          </a:solidFill>
          <a:ln w="12700">
            <a:solidFill>
              <a:srgbClr val="2E2A52"/>
            </a:solidFill>
            <a:prstDash val="solid"/>
          </a:ln>
        </p:spPr>
      </p:sp>
      <p:sp>
        <p:nvSpPr>
          <p:cNvPr id="6" name="Shape 4"/>
          <p:cNvSpPr/>
          <p:nvPr/>
        </p:nvSpPr>
        <p:spPr>
          <a:xfrm>
            <a:off x="1066800" y="2438400"/>
            <a:ext cx="101600" cy="101600"/>
          </a:xfrm>
          <a:prstGeom prst="ellipse">
            <a:avLst/>
          </a:prstGeom>
          <a:solidFill>
            <a:srgbClr val="FF5F57"/>
          </a:solidFill>
          <a:ln/>
        </p:spPr>
      </p:sp>
      <p:sp>
        <p:nvSpPr>
          <p:cNvPr id="7" name="Shape 5"/>
          <p:cNvSpPr/>
          <p:nvPr/>
        </p:nvSpPr>
        <p:spPr>
          <a:xfrm>
            <a:off x="1231900" y="2438400"/>
            <a:ext cx="101600" cy="101600"/>
          </a:xfrm>
          <a:prstGeom prst="ellipse">
            <a:avLst/>
          </a:prstGeom>
          <a:solidFill>
            <a:srgbClr val="FEBC2E"/>
          </a:solidFill>
          <a:ln/>
        </p:spPr>
      </p:sp>
      <p:sp>
        <p:nvSpPr>
          <p:cNvPr id="8" name="Shape 6"/>
          <p:cNvSpPr/>
          <p:nvPr/>
        </p:nvSpPr>
        <p:spPr>
          <a:xfrm>
            <a:off x="1397000" y="2438400"/>
            <a:ext cx="101600" cy="101600"/>
          </a:xfrm>
          <a:prstGeom prst="ellipse">
            <a:avLst/>
          </a:prstGeom>
          <a:solidFill>
            <a:srgbClr val="28C840"/>
          </a:solidFill>
          <a:ln/>
        </p:spPr>
      </p:sp>
      <p:sp>
        <p:nvSpPr>
          <p:cNvPr id="9" name="Text 7"/>
          <p:cNvSpPr txBox="1"/>
          <p:nvPr/>
        </p:nvSpPr>
        <p:spPr>
          <a:xfrm>
            <a:off x="1066800" y="2692400"/>
            <a:ext cx="4673600" cy="1104900"/>
          </a:xfrm>
          <a:prstGeom prst="rect">
            <a:avLst/>
          </a:prstGeom>
          <a:noFill/>
          <a:ln/>
        </p:spPr>
        <p:txBody>
          <a:bodyPr wrap="square" lIns="0" tIns="0" rIns="0" bIns="0" rtlCol="0" anchor="t"/>
          <a:lstStyle/>
          <a:p>
            <a:pPr marL="0" indent="0">
              <a:lnSpc>
                <a:spcPct val="130000"/>
              </a:lnSpc>
              <a:buNone/>
            </a:pPr>
            <a:r>
              <a:rPr lang="en-US" sz="1200" dirty="0">
                <a:solidFill>
                  <a:srgbClr val="C792EA"/>
                </a:solidFill>
                <a:latin typeface="Consolas" pitchFamily="34" charset="0"/>
                <a:ea typeface="Consolas" pitchFamily="34" charset="-122"/>
                <a:cs typeface="Consolas" pitchFamily="34" charset="-120"/>
              </a:rPr>
              <a:t>for </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792EA"/>
                </a:solidFill>
                <a:latin typeface="Consolas" pitchFamily="34" charset="0"/>
                <a:ea typeface="Consolas" pitchFamily="34" charset="-122"/>
                <a:cs typeface="Consolas" pitchFamily="34" charset="-120"/>
              </a:rPr>
              <a:t>int </a:t>
            </a:r>
            <a:r>
              <a:rPr lang="en-US" sz="1200" dirty="0">
                <a:solidFill>
                  <a:srgbClr val="E6E3F5"/>
                </a:solidFill>
                <a:latin typeface="Consolas" pitchFamily="34" charset="0"/>
                <a:ea typeface="Consolas" pitchFamily="34" charset="-122"/>
                <a:cs typeface="Consolas" pitchFamily="34" charset="-120"/>
              </a:rPr>
              <a:t>i = </a:t>
            </a:r>
            <a:r>
              <a:rPr lang="en-US" sz="1200" dirty="0">
                <a:solidFill>
                  <a:srgbClr val="F78C6C"/>
                </a:solidFill>
                <a:latin typeface="Consolas" pitchFamily="34" charset="0"/>
                <a:ea typeface="Consolas" pitchFamily="34" charset="-122"/>
                <a:cs typeface="Consolas" pitchFamily="34" charset="-120"/>
              </a:rPr>
              <a:t>0</a:t>
            </a:r>
            <a:r>
              <a:rPr lang="en-US" sz="1200" dirty="0">
                <a:solidFill>
                  <a:srgbClr val="E6E3F5"/>
                </a:solidFill>
                <a:latin typeface="Consolas" pitchFamily="34" charset="0"/>
                <a:ea typeface="Consolas" pitchFamily="34" charset="-122"/>
                <a:cs typeface="Consolas" pitchFamily="34" charset="-120"/>
              </a:rPr>
              <a:t>; i &lt; buah.Length; i++)</a:t>
            </a:r>
            <a:endParaRPr lang="en-US" sz="1200" dirty="0"/>
          </a:p>
          <a:p>
            <a:pPr marL="0" indent="0">
              <a:lnSpc>
                <a:spcPct val="130000"/>
              </a:lnSpc>
              <a:buNone/>
            </a:pP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30000"/>
              </a:lnSpc>
              <a:buNone/>
            </a:pPr>
            <a:r>
              <a:rPr lang="en-US" sz="1200" dirty="0">
                <a:solidFill>
                  <a:srgbClr val="E6E3F5"/>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WriteLine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$"Index {i}: {buah[i]}"</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30000"/>
              </a:lnSpc>
              <a:buNone/>
            </a:pPr>
            <a:r>
              <a:rPr lang="en-US" sz="1200" dirty="0">
                <a:solidFill>
                  <a:srgbClr val="E6E3F5"/>
                </a:solidFill>
                <a:latin typeface="Consolas" pitchFamily="34" charset="0"/>
                <a:ea typeface="Consolas" pitchFamily="34" charset="-122"/>
                <a:cs typeface="Consolas" pitchFamily="34" charset="-120"/>
              </a:rPr>
              <a:t>}</a:t>
            </a:r>
            <a:endParaRPr lang="en-US" sz="1200" dirty="0"/>
          </a:p>
        </p:txBody>
      </p:sp>
      <p:sp>
        <p:nvSpPr>
          <p:cNvPr id="10" name="Text 8"/>
          <p:cNvSpPr txBox="1"/>
          <p:nvPr/>
        </p:nvSpPr>
        <p:spPr>
          <a:xfrm>
            <a:off x="812800" y="4064000"/>
            <a:ext cx="5181600" cy="317500"/>
          </a:xfrm>
          <a:prstGeom prst="rect">
            <a:avLst/>
          </a:prstGeom>
          <a:noFill/>
          <a:ln/>
        </p:spPr>
        <p:txBody>
          <a:bodyPr wrap="square" lIns="0" tIns="0" rIns="0" bIns="0" rtlCol="0" anchor="t"/>
          <a:lstStyle/>
          <a:p>
            <a:pPr marL="0" indent="0">
              <a:buNone/>
            </a:pPr>
            <a:r>
              <a:rPr lang="en-US" sz="1300" dirty="0">
                <a:solidFill>
                  <a:srgbClr val="4A4766"/>
                </a:solidFill>
                <a:latin typeface="Segoe UI" pitchFamily="34" charset="0"/>
                <a:ea typeface="Segoe UI" pitchFamily="34" charset="-122"/>
                <a:cs typeface="Segoe UI" pitchFamily="34" charset="-120"/>
              </a:rPr>
              <a:t>Punya index </a:t>
            </a:r>
            <a:r>
              <a:rPr lang="en-US" sz="1300" b="1" dirty="0">
                <a:solidFill>
                  <a:srgbClr val="1B1838"/>
                </a:solidFill>
                <a:latin typeface="Segoe UI" pitchFamily="34" charset="0"/>
                <a:ea typeface="Segoe UI" pitchFamily="34" charset="-122"/>
                <a:cs typeface="Segoe UI" pitchFamily="34" charset="-120"/>
              </a:rPr>
              <a:t>i</a:t>
            </a:r>
            <a:r>
              <a:rPr lang="en-US" sz="1300" dirty="0">
                <a:solidFill>
                  <a:srgbClr val="4A4766"/>
                </a:solidFill>
                <a:latin typeface="Segoe UI" pitchFamily="34" charset="0"/>
                <a:ea typeface="Segoe UI" pitchFamily="34" charset="-122"/>
                <a:cs typeface="Segoe UI" pitchFamily="34" charset="-120"/>
              </a:rPr>
              <a:t>, bisa membaca sekaligus mengubah isi.</a:t>
            </a:r>
            <a:endParaRPr lang="en-US" sz="1300" dirty="0"/>
          </a:p>
        </p:txBody>
      </p:sp>
      <p:sp>
        <p:nvSpPr>
          <p:cNvPr id="11" name="Text 9"/>
          <p:cNvSpPr txBox="1"/>
          <p:nvPr/>
        </p:nvSpPr>
        <p:spPr>
          <a:xfrm>
            <a:off x="6197600" y="1879600"/>
            <a:ext cx="5181600" cy="279400"/>
          </a:xfrm>
          <a:prstGeom prst="rect">
            <a:avLst/>
          </a:prstGeom>
          <a:noFill/>
          <a:ln/>
        </p:spPr>
        <p:txBody>
          <a:bodyPr wrap="square" lIns="0" tIns="0" rIns="0" bIns="0" rtlCol="0" anchor="t"/>
          <a:lstStyle/>
          <a:p>
            <a:pPr marL="0" indent="0">
              <a:buNone/>
            </a:pPr>
            <a:r>
              <a:rPr lang="en-US" sz="1700" b="1" dirty="0">
                <a:solidFill>
                  <a:srgbClr val="1B1838"/>
                </a:solidFill>
                <a:latin typeface="Consolas" pitchFamily="34" charset="0"/>
                <a:ea typeface="Consolas" pitchFamily="34" charset="-122"/>
                <a:cs typeface="Consolas" pitchFamily="34" charset="-120"/>
              </a:rPr>
              <a:t>foreach</a:t>
            </a:r>
            <a:endParaRPr lang="en-US" sz="1700" dirty="0"/>
          </a:p>
        </p:txBody>
      </p:sp>
      <p:sp>
        <p:nvSpPr>
          <p:cNvPr id="12" name="Kode"/>
          <p:cNvSpPr/>
          <p:nvPr/>
        </p:nvSpPr>
        <p:spPr>
          <a:xfrm>
            <a:off x="6197600" y="2235200"/>
            <a:ext cx="5181600" cy="1714500"/>
          </a:xfrm>
          <a:prstGeom prst="roundRect">
            <a:avLst>
              <a:gd name="adj" fmla="val 7407"/>
            </a:avLst>
          </a:prstGeom>
          <a:solidFill>
            <a:srgbClr val="0E0C1F"/>
          </a:solidFill>
          <a:ln w="12700">
            <a:solidFill>
              <a:srgbClr val="2E2A52"/>
            </a:solidFill>
            <a:prstDash val="solid"/>
          </a:ln>
        </p:spPr>
      </p:sp>
      <p:sp>
        <p:nvSpPr>
          <p:cNvPr id="13" name="Shape 11"/>
          <p:cNvSpPr/>
          <p:nvPr/>
        </p:nvSpPr>
        <p:spPr>
          <a:xfrm>
            <a:off x="6451600" y="2438400"/>
            <a:ext cx="101600" cy="101600"/>
          </a:xfrm>
          <a:prstGeom prst="ellipse">
            <a:avLst/>
          </a:prstGeom>
          <a:solidFill>
            <a:srgbClr val="FF5F57"/>
          </a:solidFill>
          <a:ln/>
        </p:spPr>
      </p:sp>
      <p:sp>
        <p:nvSpPr>
          <p:cNvPr id="14" name="Shape 12"/>
          <p:cNvSpPr/>
          <p:nvPr/>
        </p:nvSpPr>
        <p:spPr>
          <a:xfrm>
            <a:off x="6616700" y="2438400"/>
            <a:ext cx="101600" cy="101600"/>
          </a:xfrm>
          <a:prstGeom prst="ellipse">
            <a:avLst/>
          </a:prstGeom>
          <a:solidFill>
            <a:srgbClr val="FEBC2E"/>
          </a:solidFill>
          <a:ln/>
        </p:spPr>
      </p:sp>
      <p:sp>
        <p:nvSpPr>
          <p:cNvPr id="15" name="Shape 13"/>
          <p:cNvSpPr/>
          <p:nvPr/>
        </p:nvSpPr>
        <p:spPr>
          <a:xfrm>
            <a:off x="6781800" y="2438400"/>
            <a:ext cx="101600" cy="101600"/>
          </a:xfrm>
          <a:prstGeom prst="ellipse">
            <a:avLst/>
          </a:prstGeom>
          <a:solidFill>
            <a:srgbClr val="28C840"/>
          </a:solidFill>
          <a:ln/>
        </p:spPr>
      </p:sp>
      <p:sp>
        <p:nvSpPr>
          <p:cNvPr id="16" name="Text 14"/>
          <p:cNvSpPr txBox="1"/>
          <p:nvPr/>
        </p:nvSpPr>
        <p:spPr>
          <a:xfrm>
            <a:off x="6451600" y="2692400"/>
            <a:ext cx="4673600" cy="1104900"/>
          </a:xfrm>
          <a:prstGeom prst="rect">
            <a:avLst/>
          </a:prstGeom>
          <a:noFill/>
          <a:ln/>
        </p:spPr>
        <p:txBody>
          <a:bodyPr wrap="square" lIns="0" tIns="0" rIns="0" bIns="0" rtlCol="0" anchor="t"/>
          <a:lstStyle/>
          <a:p>
            <a:pPr marL="0" indent="0">
              <a:lnSpc>
                <a:spcPct val="130000"/>
              </a:lnSpc>
              <a:buNone/>
            </a:pPr>
            <a:r>
              <a:rPr lang="en-US" sz="1200" dirty="0">
                <a:solidFill>
                  <a:srgbClr val="C792EA"/>
                </a:solidFill>
                <a:latin typeface="Consolas" pitchFamily="34" charset="0"/>
                <a:ea typeface="Consolas" pitchFamily="34" charset="-122"/>
                <a:cs typeface="Consolas" pitchFamily="34" charset="-120"/>
              </a:rPr>
              <a:t>foreach </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792EA"/>
                </a:solidFill>
                <a:latin typeface="Consolas" pitchFamily="34" charset="0"/>
                <a:ea typeface="Consolas" pitchFamily="34" charset="-122"/>
                <a:cs typeface="Consolas" pitchFamily="34" charset="-120"/>
              </a:rPr>
              <a:t>string </a:t>
            </a:r>
            <a:r>
              <a:rPr lang="en-US" sz="1200" dirty="0">
                <a:solidFill>
                  <a:srgbClr val="E6E3F5"/>
                </a:solidFill>
                <a:latin typeface="Consolas" pitchFamily="34" charset="0"/>
                <a:ea typeface="Consolas" pitchFamily="34" charset="-122"/>
                <a:cs typeface="Consolas" pitchFamily="34" charset="-120"/>
              </a:rPr>
              <a:t>b </a:t>
            </a:r>
            <a:r>
              <a:rPr lang="en-US" sz="1200" dirty="0">
                <a:solidFill>
                  <a:srgbClr val="C792EA"/>
                </a:solidFill>
                <a:latin typeface="Consolas" pitchFamily="34" charset="0"/>
                <a:ea typeface="Consolas" pitchFamily="34" charset="-122"/>
                <a:cs typeface="Consolas" pitchFamily="34" charset="-120"/>
              </a:rPr>
              <a:t>in </a:t>
            </a:r>
            <a:r>
              <a:rPr lang="en-US" sz="1200" dirty="0">
                <a:solidFill>
                  <a:srgbClr val="E6E3F5"/>
                </a:solidFill>
                <a:latin typeface="Consolas" pitchFamily="34" charset="0"/>
                <a:ea typeface="Consolas" pitchFamily="34" charset="-122"/>
                <a:cs typeface="Consolas" pitchFamily="34" charset="-120"/>
              </a:rPr>
              <a:t>buah)</a:t>
            </a:r>
            <a:endParaRPr lang="en-US" sz="1200" dirty="0"/>
          </a:p>
          <a:p>
            <a:pPr marL="0" indent="0">
              <a:lnSpc>
                <a:spcPct val="130000"/>
              </a:lnSpc>
              <a:buNone/>
            </a:pP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30000"/>
              </a:lnSpc>
              <a:buNone/>
            </a:pPr>
            <a:r>
              <a:rPr lang="en-US" sz="1200" dirty="0">
                <a:solidFill>
                  <a:srgbClr val="E6E3F5"/>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WriteLine</a:t>
            </a:r>
            <a:r>
              <a:rPr lang="en-US" sz="1200" dirty="0">
                <a:solidFill>
                  <a:srgbClr val="E6E3F5"/>
                </a:solidFill>
                <a:latin typeface="Consolas" pitchFamily="34" charset="0"/>
                <a:ea typeface="Consolas" pitchFamily="34" charset="-122"/>
                <a:cs typeface="Consolas" pitchFamily="34" charset="-120"/>
              </a:rPr>
              <a:t>(b);</a:t>
            </a:r>
            <a:endParaRPr lang="en-US" sz="1200" dirty="0"/>
          </a:p>
          <a:p>
            <a:pPr marL="0" indent="0">
              <a:lnSpc>
                <a:spcPct val="130000"/>
              </a:lnSpc>
              <a:buNone/>
            </a:pPr>
            <a:r>
              <a:rPr lang="en-US" sz="1200" dirty="0">
                <a:solidFill>
                  <a:srgbClr val="E6E3F5"/>
                </a:solidFill>
                <a:latin typeface="Consolas" pitchFamily="34" charset="0"/>
                <a:ea typeface="Consolas" pitchFamily="34" charset="-122"/>
                <a:cs typeface="Consolas" pitchFamily="34" charset="-120"/>
              </a:rPr>
              <a:t>}</a:t>
            </a:r>
            <a:endParaRPr lang="en-US" sz="1200" dirty="0"/>
          </a:p>
        </p:txBody>
      </p:sp>
      <p:sp>
        <p:nvSpPr>
          <p:cNvPr id="17" name="Text 15"/>
          <p:cNvSpPr txBox="1"/>
          <p:nvPr/>
        </p:nvSpPr>
        <p:spPr>
          <a:xfrm>
            <a:off x="6197600" y="4064000"/>
            <a:ext cx="5181600" cy="317500"/>
          </a:xfrm>
          <a:prstGeom prst="rect">
            <a:avLst/>
          </a:prstGeom>
          <a:noFill/>
          <a:ln/>
        </p:spPr>
        <p:txBody>
          <a:bodyPr wrap="square" lIns="0" tIns="0" rIns="0" bIns="0" rtlCol="0" anchor="t"/>
          <a:lstStyle/>
          <a:p>
            <a:pPr marL="0" indent="0">
              <a:buNone/>
            </a:pPr>
            <a:r>
              <a:rPr lang="en-US" sz="1300" dirty="0">
                <a:solidFill>
                  <a:srgbClr val="4A4766"/>
                </a:solidFill>
                <a:latin typeface="Segoe UI" pitchFamily="34" charset="0"/>
                <a:ea typeface="Segoe UI" pitchFamily="34" charset="-122"/>
                <a:cs typeface="Segoe UI" pitchFamily="34" charset="-120"/>
              </a:rPr>
              <a:t>Lebih ringkas, tapi </a:t>
            </a:r>
            <a:r>
              <a:rPr lang="en-US" sz="1300" b="1" dirty="0">
                <a:solidFill>
                  <a:srgbClr val="1B1838"/>
                </a:solidFill>
                <a:latin typeface="Segoe UI" pitchFamily="34" charset="0"/>
                <a:ea typeface="Segoe UI" pitchFamily="34" charset="-122"/>
                <a:cs typeface="Segoe UI" pitchFamily="34" charset="-120"/>
              </a:rPr>
              <a:t>hanya untuk membaca</a:t>
            </a:r>
            <a:r>
              <a:rPr lang="en-US" sz="1300" dirty="0">
                <a:solidFill>
                  <a:srgbClr val="4A4766"/>
                </a:solidFill>
                <a:latin typeface="Segoe UI" pitchFamily="34" charset="0"/>
                <a:ea typeface="Segoe UI" pitchFamily="34" charset="-122"/>
                <a:cs typeface="Segoe UI" pitchFamily="34" charset="-120"/>
              </a:rPr>
              <a:t> data.</a:t>
            </a:r>
            <a:endParaRPr lang="en-US" sz="1300" dirty="0"/>
          </a:p>
        </p:txBody>
      </p:sp>
      <p:sp>
        <p:nvSpPr>
          <p:cNvPr id="18" name="Shape 16"/>
          <p:cNvSpPr/>
          <p:nvPr/>
        </p:nvSpPr>
        <p:spPr>
          <a:xfrm>
            <a:off x="812800" y="4597400"/>
            <a:ext cx="10566400" cy="635000"/>
          </a:xfrm>
          <a:prstGeom prst="roundRect">
            <a:avLst>
              <a:gd name="adj" fmla="val 20000"/>
            </a:avLst>
          </a:prstGeom>
          <a:solidFill>
            <a:srgbClr val="1B1838"/>
          </a:solidFill>
          <a:ln/>
        </p:spPr>
      </p:sp>
      <p:sp>
        <p:nvSpPr>
          <p:cNvPr id="19" name="Text 17"/>
          <p:cNvSpPr txBox="1"/>
          <p:nvPr/>
        </p:nvSpPr>
        <p:spPr>
          <a:xfrm>
            <a:off x="1066800" y="4597400"/>
            <a:ext cx="1397000" cy="635000"/>
          </a:xfrm>
          <a:prstGeom prst="rect">
            <a:avLst/>
          </a:prstGeom>
          <a:noFill/>
          <a:ln/>
        </p:spPr>
        <p:txBody>
          <a:bodyPr wrap="square" lIns="0" tIns="0" rIns="0" bIns="0" rtlCol="0" anchor="ctr"/>
          <a:lstStyle/>
          <a:p>
            <a:pPr marL="0" indent="0">
              <a:buNone/>
            </a:pPr>
            <a:r>
              <a:rPr lang="en-US" sz="1200" b="1" kern="0" spc="200" dirty="0">
                <a:solidFill>
                  <a:srgbClr val="C4B5FD"/>
                </a:solidFill>
                <a:latin typeface="Segoe UI" pitchFamily="34" charset="0"/>
                <a:ea typeface="Segoe UI" pitchFamily="34" charset="-122"/>
                <a:cs typeface="Segoe UI" pitchFamily="34" charset="-120"/>
              </a:rPr>
              <a:t>SATU BARIS</a:t>
            </a:r>
            <a:endParaRPr lang="en-US" sz="1200" dirty="0"/>
          </a:p>
        </p:txBody>
      </p:sp>
      <p:sp>
        <p:nvSpPr>
          <p:cNvPr id="20" name="Text 18"/>
          <p:cNvSpPr txBox="1"/>
          <p:nvPr/>
        </p:nvSpPr>
        <p:spPr>
          <a:xfrm>
            <a:off x="2540000" y="4597400"/>
            <a:ext cx="8636000" cy="635000"/>
          </a:xfrm>
          <a:prstGeom prst="rect">
            <a:avLst/>
          </a:prstGeom>
          <a:noFill/>
          <a:ln/>
        </p:spPr>
        <p:txBody>
          <a:bodyPr wrap="square" lIns="0" tIns="0" rIns="0" bIns="0" rtlCol="0" anchor="ctr"/>
          <a:lstStyle/>
          <a:p>
            <a:pPr marL="0" indent="0">
              <a:buNone/>
            </a:pP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WriteLine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792EA"/>
                </a:solidFill>
                <a:latin typeface="Consolas" pitchFamily="34" charset="0"/>
                <a:ea typeface="Consolas" pitchFamily="34" charset="-122"/>
                <a:cs typeface="Consolas" pitchFamily="34" charset="-120"/>
              </a:rPr>
              <a:t>string</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Join</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 "</a:t>
            </a:r>
            <a:r>
              <a:rPr lang="en-US" sz="1200" dirty="0">
                <a:solidFill>
                  <a:srgbClr val="E6E3F5"/>
                </a:solidFill>
                <a:latin typeface="Consolas" pitchFamily="34" charset="0"/>
                <a:ea typeface="Consolas" pitchFamily="34" charset="-122"/>
                <a:cs typeface="Consolas" pitchFamily="34" charset="-120"/>
              </a:rPr>
              <a:t>, buah));  </a:t>
            </a:r>
            <a:r>
              <a:rPr lang="en-US" sz="1200" dirty="0">
                <a:solidFill>
                  <a:srgbClr val="8A86A8"/>
                </a:solidFill>
                <a:latin typeface="Consolas" pitchFamily="34" charset="0"/>
                <a:ea typeface="Consolas" pitchFamily="34" charset="-122"/>
                <a:cs typeface="Consolas" pitchFamily="34" charset="-120"/>
              </a:rPr>
              <a:t>// Apel, Jeruk, Mangga</a:t>
            </a:r>
            <a:endParaRPr lang="en-US" sz="12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PERBANDINGAN</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for atau foreach?</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2667000"/>
        </p:xfrm>
        <a:graphic>
          <a:graphicData uri="http://schemas.openxmlformats.org/drawingml/2006/table">
            <a:tbl>
              <a:tblPr/>
              <a:tblGrid>
                <a:gridCol w="3810000">
                  <a:extLst>
                    <a:ext uri="{9D8B030D-6E8A-4147-A177-3AD203B41FA5}">
                      <a16:colId xmlns:a16="http://schemas.microsoft.com/office/drawing/2014/main" val="20000"/>
                    </a:ext>
                  </a:extLst>
                </a:gridCol>
                <a:gridCol w="3378200">
                  <a:extLst>
                    <a:ext uri="{9D8B030D-6E8A-4147-A177-3AD203B41FA5}">
                      <a16:colId xmlns:a16="http://schemas.microsoft.com/office/drawing/2014/main" val="20001"/>
                    </a:ext>
                  </a:extLst>
                </a:gridCol>
                <a:gridCol w="3378200">
                  <a:extLst>
                    <a:ext uri="{9D8B030D-6E8A-4147-A177-3AD203B41FA5}">
                      <a16:colId xmlns:a16="http://schemas.microsoft.com/office/drawing/2014/main" val="20002"/>
                    </a:ext>
                  </a:extLst>
                </a:gridCol>
              </a:tblGrid>
              <a:tr h="533400">
                <a:tc>
                  <a:txBody>
                    <a:bodyPr/>
                    <a:lstStyle/>
                    <a:p>
                      <a:pPr marL="0" indent="0">
                        <a:buNone/>
                      </a:pPr>
                      <a:r>
                        <a:rPr lang="en-US" sz="1600" b="1" dirty="0">
                          <a:solidFill>
                            <a:srgbClr val="F6F4FB"/>
                          </a:solidFill>
                          <a:latin typeface="Segoe UI" pitchFamily="34" charset="0"/>
                          <a:ea typeface="Segoe UI" pitchFamily="34" charset="-122"/>
                          <a:cs typeface="Segoe UI" pitchFamily="34" charset="-120"/>
                        </a:rPr>
                        <a:t>Aspek</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2E2766"/>
                    </a:solidFill>
                  </a:tcPr>
                </a:tc>
                <a:tc>
                  <a:txBody>
                    <a:bodyPr/>
                    <a:lstStyle/>
                    <a:p>
                      <a:pPr marL="0" indent="0">
                        <a:buNone/>
                      </a:pPr>
                      <a:r>
                        <a:rPr lang="en-US" sz="1600" b="1" dirty="0">
                          <a:solidFill>
                            <a:srgbClr val="C4B5FD"/>
                          </a:solidFill>
                          <a:latin typeface="Consolas" pitchFamily="34" charset="0"/>
                          <a:ea typeface="Consolas" pitchFamily="34" charset="-122"/>
                          <a:cs typeface="Consolas" pitchFamily="34" charset="-120"/>
                        </a:rPr>
                        <a:t>for</a:t>
                      </a:r>
                      <a:endParaRPr lang="en-US" sz="1600" dirty="0">
                        <a:latin typeface="Consolas" charset="0"/>
                        <a:ea typeface="Consolas" charset="0"/>
                        <a:cs typeface="Consolas"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2E2766"/>
                    </a:solidFill>
                  </a:tcPr>
                </a:tc>
                <a:tc>
                  <a:txBody>
                    <a:bodyPr/>
                    <a:lstStyle/>
                    <a:p>
                      <a:pPr marL="0" indent="0">
                        <a:buNone/>
                      </a:pPr>
                      <a:r>
                        <a:rPr lang="en-US" sz="1600" b="1" dirty="0">
                          <a:solidFill>
                            <a:srgbClr val="C4B5FD"/>
                          </a:solidFill>
                          <a:latin typeface="Consolas" pitchFamily="34" charset="0"/>
                          <a:ea typeface="Consolas" pitchFamily="34" charset="-122"/>
                          <a:cs typeface="Consolas" pitchFamily="34" charset="-120"/>
                        </a:rPr>
                        <a:t>foreach</a:t>
                      </a:r>
                      <a:endParaRPr lang="en-US" sz="1600" dirty="0">
                        <a:latin typeface="Consolas" charset="0"/>
                        <a:ea typeface="Consolas" charset="0"/>
                        <a:cs typeface="Consolas"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2E2766"/>
                    </a:solidFill>
                  </a:tcPr>
                </a:tc>
                <a:extLst>
                  <a:ext uri="{0D108BD9-81ED-4DB2-BD59-A6C34878D82A}">
                    <a16:rowId xmlns:a16="http://schemas.microsoft.com/office/drawing/2014/main" val="10000"/>
                  </a:ext>
                </a:extLst>
              </a:tr>
              <a:tr h="533400">
                <a:tc>
                  <a:txBody>
                    <a:bodyPr/>
                    <a:lstStyle/>
                    <a:p>
                      <a:pPr marL="0" indent="0">
                        <a:buNone/>
                      </a:pPr>
                      <a:r>
                        <a:rPr lang="en-US" sz="1600" dirty="0">
                          <a:solidFill>
                            <a:srgbClr val="C9C4E0"/>
                          </a:solidFill>
                          <a:latin typeface="Segoe UI" pitchFamily="34" charset="0"/>
                          <a:ea typeface="Segoe UI" pitchFamily="34" charset="-122"/>
                          <a:cs typeface="Segoe UI" pitchFamily="34" charset="-120"/>
                        </a:rPr>
                        <a:t>Punya index?</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D1A3A"/>
                    </a:solidFill>
                  </a:tcPr>
                </a:tc>
                <a:tc>
                  <a:txBody>
                    <a:bodyPr/>
                    <a:lstStyle/>
                    <a:p>
                      <a:pPr marL="0" indent="0">
                        <a:buNone/>
                      </a:pPr>
                      <a:r>
                        <a:rPr lang="en-US" sz="1600" dirty="0">
                          <a:solidFill>
                            <a:srgbClr val="E6E3F5"/>
                          </a:solidFill>
                          <a:latin typeface="Segoe UI" pitchFamily="34" charset="0"/>
                          <a:ea typeface="Segoe UI" pitchFamily="34" charset="-122"/>
                          <a:cs typeface="Segoe UI" pitchFamily="34" charset="-120"/>
                        </a:rPr>
                        <a:t>Ya, lewat i</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D1A3A"/>
                    </a:solidFill>
                  </a:tcPr>
                </a:tc>
                <a:tc>
                  <a:txBody>
                    <a:bodyPr/>
                    <a:lstStyle/>
                    <a:p>
                      <a:pPr marL="0" indent="0">
                        <a:buNone/>
                      </a:pPr>
                      <a:r>
                        <a:rPr lang="en-US" sz="1600" dirty="0">
                          <a:solidFill>
                            <a:srgbClr val="E6E3F5"/>
                          </a:solidFill>
                          <a:latin typeface="Segoe UI" pitchFamily="34" charset="0"/>
                          <a:ea typeface="Segoe UI" pitchFamily="34" charset="-122"/>
                          <a:cs typeface="Segoe UI" pitchFamily="34" charset="-120"/>
                        </a:rPr>
                        <a:t>Tidak</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D1A3A"/>
                    </a:solidFill>
                  </a:tcPr>
                </a:tc>
                <a:extLst>
                  <a:ext uri="{0D108BD9-81ED-4DB2-BD59-A6C34878D82A}">
                    <a16:rowId xmlns:a16="http://schemas.microsoft.com/office/drawing/2014/main" val="10001"/>
                  </a:ext>
                </a:extLst>
              </a:tr>
              <a:tr h="533400">
                <a:tc>
                  <a:txBody>
                    <a:bodyPr/>
                    <a:lstStyle/>
                    <a:p>
                      <a:pPr marL="0" indent="0">
                        <a:buNone/>
                      </a:pPr>
                      <a:r>
                        <a:rPr lang="en-US" sz="1600" dirty="0">
                          <a:solidFill>
                            <a:srgbClr val="C9C4E0"/>
                          </a:solidFill>
                          <a:latin typeface="Segoe UI" pitchFamily="34" charset="0"/>
                          <a:ea typeface="Segoe UI" pitchFamily="34" charset="-122"/>
                          <a:cs typeface="Segoe UI" pitchFamily="34" charset="-120"/>
                        </a:rPr>
                        <a:t>Bisa mengubah isi?</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4122B"/>
                    </a:solidFill>
                  </a:tcPr>
                </a:tc>
                <a:tc>
                  <a:txBody>
                    <a:bodyPr/>
                    <a:lstStyle/>
                    <a:p>
                      <a:pPr marL="0" indent="0">
                        <a:buNone/>
                      </a:pPr>
                      <a:r>
                        <a:rPr lang="en-US" sz="1600" dirty="0">
                          <a:solidFill>
                            <a:srgbClr val="E6E3F5"/>
                          </a:solidFill>
                          <a:latin typeface="Segoe UI" pitchFamily="34" charset="0"/>
                          <a:ea typeface="Segoe UI" pitchFamily="34" charset="-122"/>
                          <a:cs typeface="Segoe UI" pitchFamily="34" charset="-120"/>
                        </a:rPr>
                        <a:t>Bisa</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4122B"/>
                    </a:solidFill>
                  </a:tcPr>
                </a:tc>
                <a:tc>
                  <a:txBody>
                    <a:bodyPr/>
                    <a:lstStyle/>
                    <a:p>
                      <a:pPr marL="0" indent="0">
                        <a:buNone/>
                      </a:pPr>
                      <a:r>
                        <a:rPr lang="en-US" sz="1600" dirty="0">
                          <a:solidFill>
                            <a:srgbClr val="E6E3F5"/>
                          </a:solidFill>
                          <a:latin typeface="Segoe UI" pitchFamily="34" charset="0"/>
                          <a:ea typeface="Segoe UI" pitchFamily="34" charset="-122"/>
                          <a:cs typeface="Segoe UI" pitchFamily="34" charset="-120"/>
                        </a:rPr>
                        <a:t>Tidak, hanya baca</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4122B"/>
                    </a:solidFill>
                  </a:tcPr>
                </a:tc>
                <a:extLst>
                  <a:ext uri="{0D108BD9-81ED-4DB2-BD59-A6C34878D82A}">
                    <a16:rowId xmlns:a16="http://schemas.microsoft.com/office/drawing/2014/main" val="10002"/>
                  </a:ext>
                </a:extLst>
              </a:tr>
              <a:tr h="533400">
                <a:tc>
                  <a:txBody>
                    <a:bodyPr/>
                    <a:lstStyle/>
                    <a:p>
                      <a:pPr marL="0" indent="0">
                        <a:buNone/>
                      </a:pPr>
                      <a:r>
                        <a:rPr lang="en-US" sz="1600" dirty="0">
                          <a:solidFill>
                            <a:srgbClr val="C9C4E0"/>
                          </a:solidFill>
                          <a:latin typeface="Segoe UI" pitchFamily="34" charset="0"/>
                          <a:ea typeface="Segoe UI" pitchFamily="34" charset="-122"/>
                          <a:cs typeface="Segoe UI" pitchFamily="34" charset="-120"/>
                        </a:rPr>
                        <a:t>Penulisan</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D1A3A"/>
                    </a:solidFill>
                  </a:tcPr>
                </a:tc>
                <a:tc>
                  <a:txBody>
                    <a:bodyPr/>
                    <a:lstStyle/>
                    <a:p>
                      <a:pPr marL="0" indent="0">
                        <a:buNone/>
                      </a:pPr>
                      <a:r>
                        <a:rPr lang="en-US" sz="1600" dirty="0">
                          <a:solidFill>
                            <a:srgbClr val="E6E3F5"/>
                          </a:solidFill>
                          <a:latin typeface="Segoe UI" pitchFamily="34" charset="0"/>
                          <a:ea typeface="Segoe UI" pitchFamily="34" charset="-122"/>
                          <a:cs typeface="Segoe UI" pitchFamily="34" charset="-120"/>
                        </a:rPr>
                        <a:t>Lebih panjang</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D1A3A"/>
                    </a:solidFill>
                  </a:tcPr>
                </a:tc>
                <a:tc>
                  <a:txBody>
                    <a:bodyPr/>
                    <a:lstStyle/>
                    <a:p>
                      <a:pPr marL="0" indent="0">
                        <a:buNone/>
                      </a:pPr>
                      <a:r>
                        <a:rPr lang="en-US" sz="1600" dirty="0">
                          <a:solidFill>
                            <a:srgbClr val="E6E3F5"/>
                          </a:solidFill>
                          <a:latin typeface="Segoe UI" pitchFamily="34" charset="0"/>
                          <a:ea typeface="Segoe UI" pitchFamily="34" charset="-122"/>
                          <a:cs typeface="Segoe UI" pitchFamily="34" charset="-120"/>
                        </a:rPr>
                        <a:t>Lebih ringkas</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D1A3A"/>
                    </a:solidFill>
                  </a:tcPr>
                </a:tc>
                <a:extLst>
                  <a:ext uri="{0D108BD9-81ED-4DB2-BD59-A6C34878D82A}">
                    <a16:rowId xmlns:a16="http://schemas.microsoft.com/office/drawing/2014/main" val="10003"/>
                  </a:ext>
                </a:extLst>
              </a:tr>
              <a:tr h="533400">
                <a:tc>
                  <a:txBody>
                    <a:bodyPr/>
                    <a:lstStyle/>
                    <a:p>
                      <a:pPr marL="0" indent="0">
                        <a:buNone/>
                      </a:pPr>
                      <a:r>
                        <a:rPr lang="en-US" sz="1600" dirty="0">
                          <a:solidFill>
                            <a:srgbClr val="C9C4E0"/>
                          </a:solidFill>
                          <a:latin typeface="Segoe UI" pitchFamily="34" charset="0"/>
                          <a:ea typeface="Segoe UI" pitchFamily="34" charset="-122"/>
                          <a:cs typeface="Segoe UI" pitchFamily="34" charset="-120"/>
                        </a:rPr>
                        <a:t>Cocok untuk</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4122B"/>
                    </a:solidFill>
                  </a:tcPr>
                </a:tc>
                <a:tc>
                  <a:txBody>
                    <a:bodyPr/>
                    <a:lstStyle/>
                    <a:p>
                      <a:pPr marL="0" indent="0">
                        <a:buNone/>
                      </a:pPr>
                      <a:r>
                        <a:rPr lang="en-US" sz="1600" dirty="0">
                          <a:solidFill>
                            <a:srgbClr val="E6E3F5"/>
                          </a:solidFill>
                          <a:latin typeface="Segoe UI" pitchFamily="34" charset="0"/>
                          <a:ea typeface="Segoe UI" pitchFamily="34" charset="-122"/>
                          <a:cs typeface="Segoe UI" pitchFamily="34" charset="-120"/>
                        </a:rPr>
                        <a:t>Mengisi dan mengubah</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4122B"/>
                    </a:solidFill>
                  </a:tcPr>
                </a:tc>
                <a:tc>
                  <a:txBody>
                    <a:bodyPr/>
                    <a:lstStyle/>
                    <a:p>
                      <a:pPr marL="0" indent="0">
                        <a:buNone/>
                      </a:pPr>
                      <a:r>
                        <a:rPr lang="en-US" sz="1600" dirty="0">
                          <a:solidFill>
                            <a:srgbClr val="E6E3F5"/>
                          </a:solidFill>
                          <a:latin typeface="Segoe UI" pitchFamily="34" charset="0"/>
                          <a:ea typeface="Segoe UI" pitchFamily="34" charset="-122"/>
                          <a:cs typeface="Segoe UI" pitchFamily="34" charset="-120"/>
                        </a:rPr>
                        <a:t>Menampilkan data</a:t>
                      </a:r>
                      <a:endParaRPr lang="en-US" sz="1600" dirty="0">
                        <a:latin typeface="Segoe UI" charset="0"/>
                        <a:ea typeface="Segoe UI" charset="0"/>
                        <a:cs typeface="Segoe UI" charset="0"/>
                      </a:endParaRPr>
                    </a:p>
                  </a:txBody>
                  <a:tcPr marL="274320" marR="182880" marT="0" marB="0" anchor="ctr">
                    <a:lnL w="12700" cap="flat" cmpd="sng" algn="ctr">
                      <a:solidFill>
                        <a:srgbClr val="2E2A52"/>
                      </a:solidFill>
                      <a:prstDash val="solid"/>
                      <a:round/>
                      <a:headEnd type="none" w="med" len="med"/>
                      <a:tailEnd type="none" w="med" len="med"/>
                    </a:lnL>
                    <a:lnR w="12700" cap="flat" cmpd="sng" algn="ctr">
                      <a:solidFill>
                        <a:srgbClr val="2E2A52"/>
                      </a:solidFill>
                      <a:prstDash val="solid"/>
                      <a:round/>
                      <a:headEnd type="none" w="med" len="med"/>
                      <a:tailEnd type="none" w="med" len="med"/>
                    </a:lnR>
                    <a:lnT w="12700" cap="flat" cmpd="sng" algn="ctr">
                      <a:solidFill>
                        <a:srgbClr val="2E2A52"/>
                      </a:solidFill>
                      <a:prstDash val="solid"/>
                      <a:round/>
                      <a:headEnd type="none" w="med" len="med"/>
                      <a:tailEnd type="none" w="med" len="med"/>
                    </a:lnT>
                    <a:lnB w="12700" cap="flat" cmpd="sng" algn="ctr">
                      <a:solidFill>
                        <a:srgbClr val="2E2A52"/>
                      </a:solidFill>
                      <a:prstDash val="solid"/>
                      <a:round/>
                      <a:headEnd type="none" w="med" len="med"/>
                      <a:tailEnd type="none" w="med" len="med"/>
                    </a:lnB>
                    <a:solidFill>
                      <a:srgbClr val="14122B"/>
                    </a:solidFill>
                  </a:tcPr>
                </a:tc>
                <a:extLst>
                  <a:ext uri="{0D108BD9-81ED-4DB2-BD59-A6C34878D82A}">
                    <a16:rowId xmlns:a16="http://schemas.microsoft.com/office/drawing/2014/main" val="10004"/>
                  </a:ext>
                </a:extLst>
              </a:tr>
            </a:tbl>
          </a:graphicData>
        </a:graphic>
      </p:graphicFrame>
      <p:sp>
        <p:nvSpPr>
          <p:cNvPr id="5" name="Shape 2"/>
          <p:cNvSpPr/>
          <p:nvPr/>
        </p:nvSpPr>
        <p:spPr>
          <a:xfrm>
            <a:off x="812800" y="4826000"/>
            <a:ext cx="10566400" cy="698500"/>
          </a:xfrm>
          <a:prstGeom prst="roundRect">
            <a:avLst>
              <a:gd name="adj" fmla="val 14545"/>
            </a:avLst>
          </a:prstGeom>
          <a:solidFill>
            <a:srgbClr val="2E2766"/>
          </a:solidFill>
          <a:ln/>
        </p:spPr>
      </p:sp>
      <p:sp>
        <p:nvSpPr>
          <p:cNvPr id="6" name="Text 3"/>
          <p:cNvSpPr txBox="1"/>
          <p:nvPr/>
        </p:nvSpPr>
        <p:spPr>
          <a:xfrm>
            <a:off x="1066800" y="4826000"/>
            <a:ext cx="10058400" cy="698500"/>
          </a:xfrm>
          <a:prstGeom prst="rect">
            <a:avLst/>
          </a:prstGeom>
          <a:noFill/>
          <a:ln/>
        </p:spPr>
        <p:txBody>
          <a:bodyPr wrap="square" lIns="0" tIns="0" rIns="0" bIns="0" rtlCol="0" anchor="ctr"/>
          <a:lstStyle/>
          <a:p>
            <a:pPr marL="0" indent="0">
              <a:buNone/>
            </a:pPr>
            <a:r>
              <a:rPr lang="en-US" sz="1600" b="1" dirty="0">
                <a:solidFill>
                  <a:srgbClr val="FBBF24"/>
                </a:solidFill>
                <a:latin typeface="Segoe UI" pitchFamily="34" charset="0"/>
                <a:ea typeface="Segoe UI" pitchFamily="34" charset="-122"/>
                <a:cs typeface="Segoe UI" pitchFamily="34" charset="-120"/>
              </a:rPr>
              <a:t>Tips: </a:t>
            </a:r>
            <a:r>
              <a:rPr lang="en-US" sz="1600" dirty="0">
                <a:solidFill>
                  <a:srgbClr val="F6F4FB"/>
                </a:solidFill>
                <a:latin typeface="Segoe UI" pitchFamily="34" charset="0"/>
                <a:ea typeface="Segoe UI" pitchFamily="34" charset="-122"/>
                <a:cs typeface="Segoe UI" pitchFamily="34" charset="-120"/>
              </a:rPr>
              <a:t>mengisi data pakai </a:t>
            </a:r>
            <a:r>
              <a:rPr lang="en-US" sz="1600" b="1" dirty="0">
                <a:solidFill>
                  <a:srgbClr val="F6F4FB"/>
                </a:solidFill>
                <a:latin typeface="Consolas" pitchFamily="34" charset="0"/>
                <a:ea typeface="Consolas" pitchFamily="34" charset="-122"/>
                <a:cs typeface="Consolas" pitchFamily="34" charset="-120"/>
              </a:rPr>
              <a:t>for</a:t>
            </a:r>
            <a:r>
              <a:rPr lang="en-US" sz="1600" dirty="0">
                <a:solidFill>
                  <a:srgbClr val="F6F4FB"/>
                </a:solidFill>
                <a:latin typeface="Segoe UI" pitchFamily="34" charset="0"/>
                <a:ea typeface="Segoe UI" pitchFamily="34" charset="-122"/>
                <a:cs typeface="Segoe UI" pitchFamily="34" charset="-120"/>
              </a:rPr>
              <a:t>. Sekadar menampilkan, </a:t>
            </a:r>
            <a:r>
              <a:rPr lang="en-US" sz="1600" b="1" dirty="0">
                <a:solidFill>
                  <a:srgbClr val="F6F4FB"/>
                </a:solidFill>
                <a:latin typeface="Consolas" pitchFamily="34" charset="0"/>
                <a:ea typeface="Consolas" pitchFamily="34" charset="-122"/>
                <a:cs typeface="Consolas" pitchFamily="34" charset="-120"/>
              </a:rPr>
              <a:t>foreach</a:t>
            </a:r>
            <a:r>
              <a:rPr lang="en-US" sz="1600" dirty="0">
                <a:solidFill>
                  <a:srgbClr val="F6F4FB"/>
                </a:solidFill>
                <a:latin typeface="Segoe UI" pitchFamily="34" charset="0"/>
                <a:ea typeface="Segoe UI" pitchFamily="34" charset="-122"/>
                <a:cs typeface="Segoe UI" pitchFamily="34" charset="-120"/>
              </a:rPr>
              <a:t> lebih ringkas.</a:t>
            </a:r>
            <a:endParaRPr lang="en-US" sz="16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HATI-HATI</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IndexOutOfRangeException</a:t>
            </a:r>
            <a:endParaRPr lang="en-US" sz="3600" dirty="0"/>
          </a:p>
        </p:txBody>
      </p:sp>
      <p:sp>
        <p:nvSpPr>
          <p:cNvPr id="4" name="Kode"/>
          <p:cNvSpPr/>
          <p:nvPr/>
        </p:nvSpPr>
        <p:spPr>
          <a:xfrm>
            <a:off x="812800" y="1905000"/>
            <a:ext cx="5461000" cy="1587500"/>
          </a:xfrm>
          <a:prstGeom prst="roundRect">
            <a:avLst>
              <a:gd name="adj" fmla="val 8000"/>
            </a:avLst>
          </a:prstGeom>
          <a:solidFill>
            <a:srgbClr val="0E0C1F"/>
          </a:solidFill>
          <a:ln w="12700">
            <a:solidFill>
              <a:srgbClr val="2E2A52"/>
            </a:solidFill>
            <a:prstDash val="solid"/>
          </a:ln>
        </p:spPr>
      </p:sp>
      <p:sp>
        <p:nvSpPr>
          <p:cNvPr id="5" name="Shape 3"/>
          <p:cNvSpPr/>
          <p:nvPr/>
        </p:nvSpPr>
        <p:spPr>
          <a:xfrm>
            <a:off x="1066800" y="2108200"/>
            <a:ext cx="101600" cy="101600"/>
          </a:xfrm>
          <a:prstGeom prst="ellipse">
            <a:avLst/>
          </a:prstGeom>
          <a:solidFill>
            <a:srgbClr val="FF5F57"/>
          </a:solidFill>
          <a:ln/>
        </p:spPr>
      </p:sp>
      <p:sp>
        <p:nvSpPr>
          <p:cNvPr id="6" name="Shape 4"/>
          <p:cNvSpPr/>
          <p:nvPr/>
        </p:nvSpPr>
        <p:spPr>
          <a:xfrm>
            <a:off x="1231900" y="2108200"/>
            <a:ext cx="101600" cy="101600"/>
          </a:xfrm>
          <a:prstGeom prst="ellipse">
            <a:avLst/>
          </a:prstGeom>
          <a:solidFill>
            <a:srgbClr val="FEBC2E"/>
          </a:solidFill>
          <a:ln/>
        </p:spPr>
      </p:sp>
      <p:sp>
        <p:nvSpPr>
          <p:cNvPr id="7" name="Shape 5"/>
          <p:cNvSpPr/>
          <p:nvPr/>
        </p:nvSpPr>
        <p:spPr>
          <a:xfrm>
            <a:off x="1397000" y="2108200"/>
            <a:ext cx="101600" cy="101600"/>
          </a:xfrm>
          <a:prstGeom prst="ellipse">
            <a:avLst/>
          </a:prstGeom>
          <a:solidFill>
            <a:srgbClr val="28C840"/>
          </a:solidFill>
          <a:ln/>
        </p:spPr>
      </p:sp>
      <p:sp>
        <p:nvSpPr>
          <p:cNvPr id="8" name="Text 6"/>
          <p:cNvSpPr txBox="1"/>
          <p:nvPr/>
        </p:nvSpPr>
        <p:spPr>
          <a:xfrm>
            <a:off x="1066800" y="2362200"/>
            <a:ext cx="4953000" cy="977900"/>
          </a:xfrm>
          <a:prstGeom prst="rect">
            <a:avLst/>
          </a:prstGeom>
          <a:noFill/>
          <a:ln/>
        </p:spPr>
        <p:txBody>
          <a:bodyPr wrap="square" lIns="0" tIns="0" rIns="0" bIns="0" rtlCol="0" anchor="t"/>
          <a:lstStyle/>
          <a:p>
            <a:pPr marL="0" indent="0">
              <a:lnSpc>
                <a:spcPct val="130000"/>
              </a:lnSpc>
              <a:buNone/>
            </a:pPr>
            <a:r>
              <a:rPr lang="en-US" sz="1400" dirty="0">
                <a:solidFill>
                  <a:srgbClr val="C792EA"/>
                </a:solidFill>
                <a:latin typeface="Consolas" pitchFamily="34" charset="0"/>
                <a:ea typeface="Consolas" pitchFamily="34" charset="-122"/>
                <a:cs typeface="Consolas" pitchFamily="34" charset="-120"/>
              </a:rPr>
              <a:t>int</a:t>
            </a:r>
            <a:r>
              <a:rPr lang="en-US" sz="1400" dirty="0">
                <a:solidFill>
                  <a:srgbClr val="E6E3F5"/>
                </a:solidFill>
                <a:latin typeface="Consolas" pitchFamily="34" charset="0"/>
                <a:ea typeface="Consolas" pitchFamily="34" charset="-122"/>
                <a:cs typeface="Consolas" pitchFamily="34" charset="-120"/>
              </a:rPr>
              <a:t>[] angka = </a:t>
            </a:r>
            <a:r>
              <a:rPr lang="en-US" sz="1400" dirty="0">
                <a:solidFill>
                  <a:srgbClr val="C792EA"/>
                </a:solidFill>
                <a:latin typeface="Consolas" pitchFamily="34" charset="0"/>
                <a:ea typeface="Consolas" pitchFamily="34" charset="-122"/>
                <a:cs typeface="Consolas" pitchFamily="34" charset="-120"/>
              </a:rPr>
              <a:t>new int</a:t>
            </a:r>
            <a:r>
              <a:rPr lang="en-US" sz="1400" dirty="0">
                <a:solidFill>
                  <a:srgbClr val="E6E3F5"/>
                </a:solidFill>
                <a:latin typeface="Consolas" pitchFamily="34" charset="0"/>
                <a:ea typeface="Consolas" pitchFamily="34" charset="-122"/>
                <a:cs typeface="Consolas" pitchFamily="34" charset="-120"/>
              </a:rPr>
              <a:t>[</a:t>
            </a:r>
            <a:r>
              <a:rPr lang="en-US" sz="1400" dirty="0">
                <a:solidFill>
                  <a:srgbClr val="F78C6C"/>
                </a:solidFill>
                <a:latin typeface="Consolas" pitchFamily="34" charset="0"/>
                <a:ea typeface="Consolas" pitchFamily="34" charset="-122"/>
                <a:cs typeface="Consolas" pitchFamily="34" charset="-120"/>
              </a:rPr>
              <a:t>3</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8A86A8"/>
                </a:solidFill>
                <a:latin typeface="Consolas" pitchFamily="34" charset="0"/>
                <a:ea typeface="Consolas" pitchFamily="34" charset="-122"/>
                <a:cs typeface="Consolas" pitchFamily="34" charset="-120"/>
              </a:rPr>
              <a:t>// index 0, 1, 2</a:t>
            </a:r>
            <a:endParaRPr lang="en-US" sz="1400" dirty="0"/>
          </a:p>
          <a:p>
            <a:pPr marL="0" indent="0">
              <a:lnSpc>
                <a:spcPct val="130000"/>
              </a:lnSpc>
              <a:buNone/>
            </a:pPr>
            <a:r>
              <a:rPr lang="en-US" sz="1400" dirty="0">
                <a:solidFill>
                  <a:srgbClr val="E6E3F5"/>
                </a:solidFill>
                <a:latin typeface="Consolas" pitchFamily="34" charset="0"/>
                <a:ea typeface="Consolas" pitchFamily="34" charset="-122"/>
                <a:cs typeface="Consolas" pitchFamily="34" charset="-120"/>
              </a:rPr>
              <a:t> </a:t>
            </a:r>
            <a:endParaRPr lang="en-US" sz="1400" dirty="0"/>
          </a:p>
          <a:p>
            <a:pPr marL="0" indent="0">
              <a:lnSpc>
                <a:spcPct val="130000"/>
              </a:lnSpc>
              <a:buNone/>
            </a:pPr>
            <a:r>
              <a:rPr lang="en-US" sz="1400" dirty="0">
                <a:solidFill>
                  <a:srgbClr val="E6E3F5"/>
                </a:solidFill>
                <a:latin typeface="Consolas" pitchFamily="34" charset="0"/>
                <a:ea typeface="Consolas" pitchFamily="34" charset="-122"/>
                <a:cs typeface="Consolas" pitchFamily="34" charset="-120"/>
              </a:rPr>
              <a:t>angka[</a:t>
            </a:r>
            <a:r>
              <a:rPr lang="en-US" sz="1400" dirty="0">
                <a:solidFill>
                  <a:srgbClr val="F78C6C"/>
                </a:solidFill>
                <a:latin typeface="Consolas" pitchFamily="34" charset="0"/>
                <a:ea typeface="Consolas" pitchFamily="34" charset="-122"/>
                <a:cs typeface="Consolas" pitchFamily="34" charset="-120"/>
              </a:rPr>
              <a:t>3</a:t>
            </a:r>
            <a:r>
              <a:rPr lang="en-US" sz="1400" dirty="0">
                <a:solidFill>
                  <a:srgbClr val="E6E3F5"/>
                </a:solidFill>
                <a:latin typeface="Consolas" pitchFamily="34" charset="0"/>
                <a:ea typeface="Consolas" pitchFamily="34" charset="-122"/>
                <a:cs typeface="Consolas" pitchFamily="34" charset="-120"/>
              </a:rPr>
              <a:t>] = </a:t>
            </a:r>
            <a:r>
              <a:rPr lang="en-US" sz="1400" dirty="0">
                <a:solidFill>
                  <a:srgbClr val="F78C6C"/>
                </a:solidFill>
                <a:latin typeface="Consolas" pitchFamily="34" charset="0"/>
                <a:ea typeface="Consolas" pitchFamily="34" charset="-122"/>
                <a:cs typeface="Consolas" pitchFamily="34" charset="-120"/>
              </a:rPr>
              <a:t>10</a:t>
            </a:r>
            <a:r>
              <a:rPr lang="en-US" sz="1400" dirty="0">
                <a:solidFill>
                  <a:srgbClr val="E6E3F5"/>
                </a:solidFill>
                <a:latin typeface="Consolas" pitchFamily="34" charset="0"/>
                <a:ea typeface="Consolas" pitchFamily="34" charset="-122"/>
                <a:cs typeface="Consolas" pitchFamily="34" charset="-120"/>
              </a:rPr>
              <a:t>;  </a:t>
            </a:r>
            <a:r>
              <a:rPr lang="en-US" sz="1400" dirty="0">
                <a:solidFill>
                  <a:srgbClr val="FF8A80"/>
                </a:solidFill>
                <a:latin typeface="Consolas" pitchFamily="34" charset="0"/>
                <a:ea typeface="Consolas" pitchFamily="34" charset="-122"/>
                <a:cs typeface="Consolas" pitchFamily="34" charset="-120"/>
              </a:rPr>
              <a:t>// ERROR!</a:t>
            </a:r>
            <a:endParaRPr lang="en-US" sz="1400" dirty="0"/>
          </a:p>
        </p:txBody>
      </p:sp>
      <p:sp>
        <p:nvSpPr>
          <p:cNvPr id="9" name="Shape 7"/>
          <p:cNvSpPr/>
          <p:nvPr/>
        </p:nvSpPr>
        <p:spPr>
          <a:xfrm>
            <a:off x="6578600" y="2095500"/>
            <a:ext cx="1123950" cy="825500"/>
          </a:xfrm>
          <a:prstGeom prst="roundRect">
            <a:avLst>
              <a:gd name="adj" fmla="val 12308"/>
            </a:avLst>
          </a:prstGeom>
          <a:solidFill>
            <a:srgbClr val="1B1838"/>
          </a:solidFill>
          <a:ln/>
        </p:spPr>
      </p:sp>
      <p:sp>
        <p:nvSpPr>
          <p:cNvPr id="10" name="Text 8"/>
          <p:cNvSpPr txBox="1"/>
          <p:nvPr/>
        </p:nvSpPr>
        <p:spPr>
          <a:xfrm>
            <a:off x="6578600" y="2095500"/>
            <a:ext cx="1123950" cy="825500"/>
          </a:xfrm>
          <a:prstGeom prst="rect">
            <a:avLst/>
          </a:prstGeom>
          <a:noFill/>
          <a:ln/>
        </p:spPr>
        <p:txBody>
          <a:bodyPr wrap="square" lIns="0" tIns="0" rIns="0" bIns="0" rtlCol="0" anchor="ctr"/>
          <a:lstStyle/>
          <a:p>
            <a:pPr marL="0" indent="0" algn="ctr">
              <a:buNone/>
            </a:pPr>
            <a:r>
              <a:rPr lang="en-US" sz="1800" b="1" dirty="0">
                <a:solidFill>
                  <a:srgbClr val="F6F4FB"/>
                </a:solidFill>
                <a:latin typeface="Consolas" pitchFamily="34" charset="0"/>
                <a:ea typeface="Consolas" pitchFamily="34" charset="-122"/>
                <a:cs typeface="Consolas" pitchFamily="34" charset="-120"/>
              </a:rPr>
              <a:t>[0]</a:t>
            </a:r>
            <a:endParaRPr lang="en-US" sz="1800" dirty="0"/>
          </a:p>
        </p:txBody>
      </p:sp>
      <p:sp>
        <p:nvSpPr>
          <p:cNvPr id="11" name="Text 9"/>
          <p:cNvSpPr txBox="1"/>
          <p:nvPr/>
        </p:nvSpPr>
        <p:spPr>
          <a:xfrm>
            <a:off x="6578600" y="3022600"/>
            <a:ext cx="1123950" cy="228600"/>
          </a:xfrm>
          <a:prstGeom prst="rect">
            <a:avLst/>
          </a:prstGeom>
          <a:noFill/>
          <a:ln/>
        </p:spPr>
        <p:txBody>
          <a:bodyPr wrap="square" lIns="0" tIns="0" rIns="0" bIns="0" rtlCol="0" anchor="t"/>
          <a:lstStyle/>
          <a:p>
            <a:pPr marL="0" indent="0" algn="ctr">
              <a:buNone/>
            </a:pPr>
            <a:r>
              <a:rPr lang="en-US" sz="1200" dirty="0">
                <a:solidFill>
                  <a:srgbClr val="4A4766"/>
                </a:solidFill>
                <a:latin typeface="Segoe UI" pitchFamily="34" charset="0"/>
                <a:ea typeface="Segoe UI" pitchFamily="34" charset="-122"/>
                <a:cs typeface="Segoe UI" pitchFamily="34" charset="-120"/>
              </a:rPr>
              <a:t>ada</a:t>
            </a:r>
            <a:endParaRPr lang="en-US" sz="1200" dirty="0"/>
          </a:p>
        </p:txBody>
      </p:sp>
      <p:sp>
        <p:nvSpPr>
          <p:cNvPr id="12" name="Shape 10"/>
          <p:cNvSpPr/>
          <p:nvPr/>
        </p:nvSpPr>
        <p:spPr>
          <a:xfrm>
            <a:off x="7804150" y="2095500"/>
            <a:ext cx="1123950" cy="825500"/>
          </a:xfrm>
          <a:prstGeom prst="roundRect">
            <a:avLst>
              <a:gd name="adj" fmla="val 12308"/>
            </a:avLst>
          </a:prstGeom>
          <a:solidFill>
            <a:srgbClr val="1B1838"/>
          </a:solidFill>
          <a:ln/>
        </p:spPr>
      </p:sp>
      <p:sp>
        <p:nvSpPr>
          <p:cNvPr id="13" name="Text 11"/>
          <p:cNvSpPr txBox="1"/>
          <p:nvPr/>
        </p:nvSpPr>
        <p:spPr>
          <a:xfrm>
            <a:off x="7804150" y="2095500"/>
            <a:ext cx="1123950" cy="825500"/>
          </a:xfrm>
          <a:prstGeom prst="rect">
            <a:avLst/>
          </a:prstGeom>
          <a:noFill/>
          <a:ln/>
        </p:spPr>
        <p:txBody>
          <a:bodyPr wrap="square" lIns="0" tIns="0" rIns="0" bIns="0" rtlCol="0" anchor="ctr"/>
          <a:lstStyle/>
          <a:p>
            <a:pPr marL="0" indent="0" algn="ctr">
              <a:buNone/>
            </a:pPr>
            <a:r>
              <a:rPr lang="en-US" sz="1800" b="1" dirty="0">
                <a:solidFill>
                  <a:srgbClr val="F6F4FB"/>
                </a:solidFill>
                <a:latin typeface="Consolas" pitchFamily="34" charset="0"/>
                <a:ea typeface="Consolas" pitchFamily="34" charset="-122"/>
                <a:cs typeface="Consolas" pitchFamily="34" charset="-120"/>
              </a:rPr>
              <a:t>[1]</a:t>
            </a:r>
            <a:endParaRPr lang="en-US" sz="1800" dirty="0"/>
          </a:p>
        </p:txBody>
      </p:sp>
      <p:sp>
        <p:nvSpPr>
          <p:cNvPr id="14" name="Text 12"/>
          <p:cNvSpPr txBox="1"/>
          <p:nvPr/>
        </p:nvSpPr>
        <p:spPr>
          <a:xfrm>
            <a:off x="7804150" y="3022600"/>
            <a:ext cx="1123950" cy="228600"/>
          </a:xfrm>
          <a:prstGeom prst="rect">
            <a:avLst/>
          </a:prstGeom>
          <a:noFill/>
          <a:ln/>
        </p:spPr>
        <p:txBody>
          <a:bodyPr wrap="square" lIns="0" tIns="0" rIns="0" bIns="0" rtlCol="0" anchor="t"/>
          <a:lstStyle/>
          <a:p>
            <a:pPr marL="0" indent="0" algn="ctr">
              <a:buNone/>
            </a:pPr>
            <a:r>
              <a:rPr lang="en-US" sz="1200" dirty="0">
                <a:solidFill>
                  <a:srgbClr val="4A4766"/>
                </a:solidFill>
                <a:latin typeface="Segoe UI" pitchFamily="34" charset="0"/>
                <a:ea typeface="Segoe UI" pitchFamily="34" charset="-122"/>
                <a:cs typeface="Segoe UI" pitchFamily="34" charset="-120"/>
              </a:rPr>
              <a:t>ada</a:t>
            </a:r>
            <a:endParaRPr lang="en-US" sz="1200" dirty="0"/>
          </a:p>
        </p:txBody>
      </p:sp>
      <p:sp>
        <p:nvSpPr>
          <p:cNvPr id="15" name="Shape 13"/>
          <p:cNvSpPr/>
          <p:nvPr/>
        </p:nvSpPr>
        <p:spPr>
          <a:xfrm>
            <a:off x="9029700" y="2095500"/>
            <a:ext cx="1123950" cy="825500"/>
          </a:xfrm>
          <a:prstGeom prst="roundRect">
            <a:avLst>
              <a:gd name="adj" fmla="val 12308"/>
            </a:avLst>
          </a:prstGeom>
          <a:solidFill>
            <a:srgbClr val="1B1838"/>
          </a:solidFill>
          <a:ln/>
        </p:spPr>
      </p:sp>
      <p:sp>
        <p:nvSpPr>
          <p:cNvPr id="16" name="Text 14"/>
          <p:cNvSpPr txBox="1"/>
          <p:nvPr/>
        </p:nvSpPr>
        <p:spPr>
          <a:xfrm>
            <a:off x="9029700" y="2095500"/>
            <a:ext cx="1123950" cy="825500"/>
          </a:xfrm>
          <a:prstGeom prst="rect">
            <a:avLst/>
          </a:prstGeom>
          <a:noFill/>
          <a:ln/>
        </p:spPr>
        <p:txBody>
          <a:bodyPr wrap="square" lIns="0" tIns="0" rIns="0" bIns="0" rtlCol="0" anchor="ctr"/>
          <a:lstStyle/>
          <a:p>
            <a:pPr marL="0" indent="0" algn="ctr">
              <a:buNone/>
            </a:pPr>
            <a:r>
              <a:rPr lang="en-US" sz="1800" b="1" dirty="0">
                <a:solidFill>
                  <a:srgbClr val="F6F4FB"/>
                </a:solidFill>
                <a:latin typeface="Consolas" pitchFamily="34" charset="0"/>
                <a:ea typeface="Consolas" pitchFamily="34" charset="-122"/>
                <a:cs typeface="Consolas" pitchFamily="34" charset="-120"/>
              </a:rPr>
              <a:t>[2]</a:t>
            </a:r>
            <a:endParaRPr lang="en-US" sz="1800" dirty="0"/>
          </a:p>
        </p:txBody>
      </p:sp>
      <p:sp>
        <p:nvSpPr>
          <p:cNvPr id="17" name="Text 15"/>
          <p:cNvSpPr txBox="1"/>
          <p:nvPr/>
        </p:nvSpPr>
        <p:spPr>
          <a:xfrm>
            <a:off x="9029700" y="3022600"/>
            <a:ext cx="1123950" cy="228600"/>
          </a:xfrm>
          <a:prstGeom prst="rect">
            <a:avLst/>
          </a:prstGeom>
          <a:noFill/>
          <a:ln/>
        </p:spPr>
        <p:txBody>
          <a:bodyPr wrap="square" lIns="0" tIns="0" rIns="0" bIns="0" rtlCol="0" anchor="t"/>
          <a:lstStyle/>
          <a:p>
            <a:pPr marL="0" indent="0" algn="ctr">
              <a:buNone/>
            </a:pPr>
            <a:r>
              <a:rPr lang="en-US" sz="1200" dirty="0">
                <a:solidFill>
                  <a:srgbClr val="4A4766"/>
                </a:solidFill>
                <a:latin typeface="Segoe UI" pitchFamily="34" charset="0"/>
                <a:ea typeface="Segoe UI" pitchFamily="34" charset="-122"/>
                <a:cs typeface="Segoe UI" pitchFamily="34" charset="-120"/>
              </a:rPr>
              <a:t>ada</a:t>
            </a:r>
            <a:endParaRPr lang="en-US" sz="1200" dirty="0"/>
          </a:p>
        </p:txBody>
      </p:sp>
      <p:sp>
        <p:nvSpPr>
          <p:cNvPr id="18" name="Shape 16"/>
          <p:cNvSpPr/>
          <p:nvPr/>
        </p:nvSpPr>
        <p:spPr>
          <a:xfrm>
            <a:off x="10255250" y="2095500"/>
            <a:ext cx="1123950" cy="825500"/>
          </a:xfrm>
          <a:prstGeom prst="roundRect">
            <a:avLst>
              <a:gd name="adj" fmla="val 12308"/>
            </a:avLst>
          </a:prstGeom>
          <a:solidFill>
            <a:srgbClr val="FDECE4"/>
          </a:solidFill>
          <a:ln w="38100">
            <a:solidFill>
              <a:srgbClr val="C2410C"/>
            </a:solidFill>
            <a:prstDash val="dash"/>
          </a:ln>
        </p:spPr>
      </p:sp>
      <p:sp>
        <p:nvSpPr>
          <p:cNvPr id="19" name="Text 17"/>
          <p:cNvSpPr txBox="1"/>
          <p:nvPr/>
        </p:nvSpPr>
        <p:spPr>
          <a:xfrm>
            <a:off x="10255250" y="2095500"/>
            <a:ext cx="1123950" cy="825500"/>
          </a:xfrm>
          <a:prstGeom prst="rect">
            <a:avLst/>
          </a:prstGeom>
          <a:noFill/>
          <a:ln/>
        </p:spPr>
        <p:txBody>
          <a:bodyPr wrap="square" lIns="0" tIns="0" rIns="0" bIns="0" rtlCol="0" anchor="ctr"/>
          <a:lstStyle/>
          <a:p>
            <a:pPr marL="0" indent="0" algn="ctr">
              <a:buNone/>
            </a:pPr>
            <a:r>
              <a:rPr lang="en-US" sz="1800" b="1" dirty="0">
                <a:solidFill>
                  <a:srgbClr val="C2410C"/>
                </a:solidFill>
                <a:latin typeface="Consolas" pitchFamily="34" charset="0"/>
                <a:ea typeface="Consolas" pitchFamily="34" charset="-122"/>
                <a:cs typeface="Consolas" pitchFamily="34" charset="-120"/>
              </a:rPr>
              <a:t>[3]</a:t>
            </a:r>
            <a:endParaRPr lang="en-US" sz="1800" dirty="0"/>
          </a:p>
        </p:txBody>
      </p:sp>
      <p:sp>
        <p:nvSpPr>
          <p:cNvPr id="20" name="Text 18"/>
          <p:cNvSpPr txBox="1"/>
          <p:nvPr/>
        </p:nvSpPr>
        <p:spPr>
          <a:xfrm>
            <a:off x="10255250" y="3022600"/>
            <a:ext cx="1123950" cy="228600"/>
          </a:xfrm>
          <a:prstGeom prst="rect">
            <a:avLst/>
          </a:prstGeom>
          <a:noFill/>
          <a:ln/>
        </p:spPr>
        <p:txBody>
          <a:bodyPr wrap="square" lIns="0" tIns="0" rIns="0" bIns="0" rtlCol="0" anchor="t"/>
          <a:lstStyle/>
          <a:p>
            <a:pPr marL="0" indent="0" algn="ctr">
              <a:buNone/>
            </a:pPr>
            <a:r>
              <a:rPr lang="en-US" sz="1200" b="1" dirty="0">
                <a:solidFill>
                  <a:srgbClr val="C2410C"/>
                </a:solidFill>
                <a:latin typeface="Segoe UI" pitchFamily="34" charset="0"/>
                <a:ea typeface="Segoe UI" pitchFamily="34" charset="-122"/>
                <a:cs typeface="Segoe UI" pitchFamily="34" charset="-120"/>
              </a:rPr>
              <a:t>tidak ada</a:t>
            </a:r>
            <a:endParaRPr lang="en-US" sz="1200" dirty="0"/>
          </a:p>
        </p:txBody>
      </p:sp>
      <p:sp>
        <p:nvSpPr>
          <p:cNvPr id="21" name="Shape 19"/>
          <p:cNvSpPr/>
          <p:nvPr/>
        </p:nvSpPr>
        <p:spPr>
          <a:xfrm>
            <a:off x="812800" y="3810000"/>
            <a:ext cx="5181600" cy="1333500"/>
          </a:xfrm>
          <a:prstGeom prst="roundRect">
            <a:avLst>
              <a:gd name="adj" fmla="val 9524"/>
            </a:avLst>
          </a:prstGeom>
          <a:solidFill>
            <a:srgbClr val="FDECE4"/>
          </a:solidFill>
          <a:ln/>
        </p:spPr>
      </p:sp>
      <p:sp>
        <p:nvSpPr>
          <p:cNvPr id="22" name="Shape 20"/>
          <p:cNvSpPr/>
          <p:nvPr/>
        </p:nvSpPr>
        <p:spPr>
          <a:xfrm>
            <a:off x="1041400" y="4038600"/>
            <a:ext cx="304800" cy="304800"/>
          </a:xfrm>
          <a:prstGeom prst="ellipse">
            <a:avLst/>
          </a:prstGeom>
          <a:solidFill>
            <a:srgbClr val="C2410C"/>
          </a:solidFill>
          <a:ln/>
        </p:spPr>
      </p:sp>
      <p:sp>
        <p:nvSpPr>
          <p:cNvPr id="23" name="Text 21"/>
          <p:cNvSpPr txBox="1"/>
          <p:nvPr/>
        </p:nvSpPr>
        <p:spPr>
          <a:xfrm>
            <a:off x="1041400" y="4038600"/>
            <a:ext cx="304800" cy="304800"/>
          </a:xfrm>
          <a:prstGeom prst="rect">
            <a:avLst/>
          </a:prstGeom>
          <a:noFill/>
          <a:ln/>
        </p:spPr>
        <p:txBody>
          <a:bodyPr wrap="square" lIns="0" tIns="0" rIns="0" bIns="0" rtlCol="0" anchor="ctr"/>
          <a:lstStyle/>
          <a:p>
            <a:pPr marL="0" indent="0" algn="ctr">
              <a:buNone/>
            </a:pPr>
            <a:r>
              <a:rPr lang="en-US" sz="1600" dirty="0">
                <a:solidFill>
                  <a:srgbClr val="F6F4FB"/>
                </a:solidFill>
                <a:latin typeface="Segoe UI Semibold" pitchFamily="34" charset="0"/>
                <a:ea typeface="Segoe UI Semibold" pitchFamily="34" charset="-122"/>
                <a:cs typeface="Segoe UI Semibold" pitchFamily="34" charset="-120"/>
              </a:rPr>
              <a:t>!</a:t>
            </a:r>
            <a:endParaRPr lang="en-US" sz="1600" dirty="0"/>
          </a:p>
        </p:txBody>
      </p:sp>
      <p:sp>
        <p:nvSpPr>
          <p:cNvPr id="24" name="Text 22"/>
          <p:cNvSpPr txBox="1"/>
          <p:nvPr/>
        </p:nvSpPr>
        <p:spPr>
          <a:xfrm>
            <a:off x="1524000" y="4038600"/>
            <a:ext cx="4216400" cy="304800"/>
          </a:xfrm>
          <a:prstGeom prst="rect">
            <a:avLst/>
          </a:prstGeom>
          <a:noFill/>
          <a:ln/>
        </p:spPr>
        <p:txBody>
          <a:bodyPr wrap="square" lIns="0" tIns="0" rIns="0" bIns="0" rtlCol="0" anchor="ctr"/>
          <a:lstStyle/>
          <a:p>
            <a:pPr marL="0" indent="0">
              <a:buNone/>
            </a:pPr>
            <a:r>
              <a:rPr lang="en-US" sz="1600" dirty="0">
                <a:solidFill>
                  <a:srgbClr val="1B1838"/>
                </a:solidFill>
                <a:latin typeface="Segoe UI Semibold" pitchFamily="34" charset="0"/>
                <a:ea typeface="Segoe UI Semibold" pitchFamily="34" charset="-122"/>
                <a:cs typeface="Segoe UI Semibold" pitchFamily="34" charset="-120"/>
              </a:rPr>
              <a:t>Kenapa error?</a:t>
            </a:r>
            <a:endParaRPr lang="en-US" sz="1600" dirty="0"/>
          </a:p>
        </p:txBody>
      </p:sp>
      <p:sp>
        <p:nvSpPr>
          <p:cNvPr id="25" name="Text 23"/>
          <p:cNvSpPr txBox="1"/>
          <p:nvPr/>
        </p:nvSpPr>
        <p:spPr>
          <a:xfrm>
            <a:off x="1524000" y="4406900"/>
            <a:ext cx="4216400" cy="635000"/>
          </a:xfrm>
          <a:prstGeom prst="rect">
            <a:avLst/>
          </a:prstGeom>
          <a:noFill/>
          <a:ln/>
        </p:spPr>
        <p:txBody>
          <a:bodyPr wrap="square" lIns="0" tIns="0" rIns="0" bIns="0" rtlCol="0" anchor="t"/>
          <a:lstStyle/>
          <a:p>
            <a:pPr marL="0" indent="0">
              <a:lnSpc>
                <a:spcPct val="125000"/>
              </a:lnSpc>
              <a:buNone/>
            </a:pPr>
            <a:r>
              <a:rPr lang="en-US" sz="1300" dirty="0">
                <a:solidFill>
                  <a:srgbClr val="4A4766"/>
                </a:solidFill>
                <a:latin typeface="Segoe UI" pitchFamily="34" charset="0"/>
                <a:ea typeface="Segoe UI" pitchFamily="34" charset="-122"/>
                <a:cs typeface="Segoe UI" pitchFamily="34" charset="-120"/>
              </a:rPr>
              <a:t>Array berukuran 3 hanya punya index 0 sampai 2. Index 3 atau index negatif tidak ada.</a:t>
            </a:r>
            <a:endParaRPr lang="en-US" sz="1300" dirty="0"/>
          </a:p>
        </p:txBody>
      </p:sp>
      <p:sp>
        <p:nvSpPr>
          <p:cNvPr id="26" name="Shape 24"/>
          <p:cNvSpPr/>
          <p:nvPr/>
        </p:nvSpPr>
        <p:spPr>
          <a:xfrm>
            <a:off x="6197600" y="3810000"/>
            <a:ext cx="5181600" cy="1333500"/>
          </a:xfrm>
          <a:prstGeom prst="roundRect">
            <a:avLst>
              <a:gd name="adj" fmla="val 9524"/>
            </a:avLst>
          </a:prstGeom>
          <a:solidFill>
            <a:srgbClr val="EDE9F7"/>
          </a:solidFill>
          <a:ln/>
        </p:spPr>
      </p:sp>
      <p:sp>
        <p:nvSpPr>
          <p:cNvPr id="27" name="Shape 25"/>
          <p:cNvSpPr/>
          <p:nvPr/>
        </p:nvSpPr>
        <p:spPr>
          <a:xfrm>
            <a:off x="6426200" y="4038600"/>
            <a:ext cx="304800" cy="304800"/>
          </a:xfrm>
          <a:prstGeom prst="ellipse">
            <a:avLst/>
          </a:prstGeom>
          <a:solidFill>
            <a:srgbClr val="6D28D9"/>
          </a:solidFill>
          <a:ln/>
        </p:spPr>
      </p:sp>
      <p:sp>
        <p:nvSpPr>
          <p:cNvPr id="28" name="Text 26"/>
          <p:cNvSpPr txBox="1"/>
          <p:nvPr/>
        </p:nvSpPr>
        <p:spPr>
          <a:xfrm>
            <a:off x="6426200" y="4038600"/>
            <a:ext cx="304800" cy="304800"/>
          </a:xfrm>
          <a:prstGeom prst="rect">
            <a:avLst/>
          </a:prstGeom>
          <a:noFill/>
          <a:ln/>
        </p:spPr>
        <p:txBody>
          <a:bodyPr wrap="square" lIns="0" tIns="0" rIns="0" bIns="0" rtlCol="0" anchor="ctr"/>
          <a:lstStyle/>
          <a:p>
            <a:pPr marL="0" indent="0" algn="ctr">
              <a:buNone/>
            </a:pPr>
            <a:r>
              <a:rPr lang="en-US" sz="1600" dirty="0">
                <a:solidFill>
                  <a:srgbClr val="F6F4FB"/>
                </a:solidFill>
                <a:latin typeface="Segoe UI Semibold" pitchFamily="34" charset="0"/>
                <a:ea typeface="Segoe UI Semibold" pitchFamily="34" charset="-122"/>
                <a:cs typeface="Segoe UI Semibold" pitchFamily="34" charset="-120"/>
              </a:rPr>
              <a:t>✓</a:t>
            </a:r>
            <a:endParaRPr lang="en-US" sz="1600" dirty="0"/>
          </a:p>
        </p:txBody>
      </p:sp>
      <p:sp>
        <p:nvSpPr>
          <p:cNvPr id="29" name="Text 27"/>
          <p:cNvSpPr txBox="1"/>
          <p:nvPr/>
        </p:nvSpPr>
        <p:spPr>
          <a:xfrm>
            <a:off x="6908800" y="4038600"/>
            <a:ext cx="4216400" cy="304800"/>
          </a:xfrm>
          <a:prstGeom prst="rect">
            <a:avLst/>
          </a:prstGeom>
          <a:noFill/>
          <a:ln/>
        </p:spPr>
        <p:txBody>
          <a:bodyPr wrap="square" lIns="0" tIns="0" rIns="0" bIns="0" rtlCol="0" anchor="ctr"/>
          <a:lstStyle/>
          <a:p>
            <a:pPr marL="0" indent="0">
              <a:buNone/>
            </a:pPr>
            <a:r>
              <a:rPr lang="en-US" sz="1600" dirty="0">
                <a:solidFill>
                  <a:srgbClr val="1B1838"/>
                </a:solidFill>
                <a:latin typeface="Segoe UI Semibold" pitchFamily="34" charset="0"/>
                <a:ea typeface="Segoe UI Semibold" pitchFamily="34" charset="-122"/>
                <a:cs typeface="Segoe UI Semibold" pitchFamily="34" charset="-120"/>
              </a:rPr>
              <a:t>Cara aman</a:t>
            </a:r>
            <a:endParaRPr lang="en-US" sz="1600" dirty="0"/>
          </a:p>
        </p:txBody>
      </p:sp>
      <p:sp>
        <p:nvSpPr>
          <p:cNvPr id="30" name="Text 28"/>
          <p:cNvSpPr txBox="1"/>
          <p:nvPr/>
        </p:nvSpPr>
        <p:spPr>
          <a:xfrm>
            <a:off x="6908800" y="4406900"/>
            <a:ext cx="4216400" cy="635000"/>
          </a:xfrm>
          <a:prstGeom prst="rect">
            <a:avLst/>
          </a:prstGeom>
          <a:noFill/>
          <a:ln/>
        </p:spPr>
        <p:txBody>
          <a:bodyPr wrap="square" lIns="0" tIns="0" rIns="0" bIns="0" rtlCol="0" anchor="t"/>
          <a:lstStyle/>
          <a:p>
            <a:pPr marL="0" indent="0">
              <a:lnSpc>
                <a:spcPct val="125000"/>
              </a:lnSpc>
              <a:buNone/>
            </a:pPr>
            <a:r>
              <a:rPr lang="en-US" sz="1300" dirty="0">
                <a:solidFill>
                  <a:srgbClr val="4A4766"/>
                </a:solidFill>
                <a:latin typeface="Segoe UI" pitchFamily="34" charset="0"/>
                <a:ea typeface="Segoe UI" pitchFamily="34" charset="-122"/>
                <a:cs typeface="Segoe UI" pitchFamily="34" charset="-120"/>
              </a:rPr>
              <a:t>Di perulangan, selalu pakai i &lt; array.Length, bukan i &lt;= array.Length.</a:t>
            </a:r>
            <a:endParaRPr lang="en-US" sz="1300" dirty="0"/>
          </a:p>
        </p:txBody>
      </p:sp>
      <p:sp>
        <p:nvSpPr>
          <p:cNvPr id="31"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STUDI KASUS · BAGIAN 1</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Program nilai mahasiswa: input</a:t>
            </a:r>
            <a:endParaRPr lang="en-US" sz="3600" dirty="0"/>
          </a:p>
        </p:txBody>
      </p:sp>
      <p:sp>
        <p:nvSpPr>
          <p:cNvPr id="4" name="Kode"/>
          <p:cNvSpPr/>
          <p:nvPr/>
        </p:nvSpPr>
        <p:spPr>
          <a:xfrm>
            <a:off x="812800" y="1841500"/>
            <a:ext cx="6350000" cy="3937000"/>
          </a:xfrm>
          <a:prstGeom prst="roundRect">
            <a:avLst>
              <a:gd name="adj" fmla="val 3226"/>
            </a:avLst>
          </a:prstGeom>
          <a:solidFill>
            <a:srgbClr val="0E0C1F"/>
          </a:solidFill>
          <a:ln w="12700">
            <a:solidFill>
              <a:srgbClr val="2E2A52"/>
            </a:solidFill>
            <a:prstDash val="solid"/>
          </a:ln>
        </p:spPr>
      </p:sp>
      <p:sp>
        <p:nvSpPr>
          <p:cNvPr id="5" name="Shape 3"/>
          <p:cNvSpPr/>
          <p:nvPr/>
        </p:nvSpPr>
        <p:spPr>
          <a:xfrm>
            <a:off x="1066800" y="2044700"/>
            <a:ext cx="101600" cy="101600"/>
          </a:xfrm>
          <a:prstGeom prst="ellipse">
            <a:avLst/>
          </a:prstGeom>
          <a:solidFill>
            <a:srgbClr val="FF5F57"/>
          </a:solidFill>
          <a:ln/>
        </p:spPr>
      </p:sp>
      <p:sp>
        <p:nvSpPr>
          <p:cNvPr id="6" name="Shape 4"/>
          <p:cNvSpPr/>
          <p:nvPr/>
        </p:nvSpPr>
        <p:spPr>
          <a:xfrm>
            <a:off x="1231900" y="2044700"/>
            <a:ext cx="101600" cy="101600"/>
          </a:xfrm>
          <a:prstGeom prst="ellipse">
            <a:avLst/>
          </a:prstGeom>
          <a:solidFill>
            <a:srgbClr val="FEBC2E"/>
          </a:solidFill>
          <a:ln/>
        </p:spPr>
      </p:sp>
      <p:sp>
        <p:nvSpPr>
          <p:cNvPr id="7" name="Shape 5"/>
          <p:cNvSpPr/>
          <p:nvPr/>
        </p:nvSpPr>
        <p:spPr>
          <a:xfrm>
            <a:off x="1397000" y="2044700"/>
            <a:ext cx="101600" cy="101600"/>
          </a:xfrm>
          <a:prstGeom prst="ellipse">
            <a:avLst/>
          </a:prstGeom>
          <a:solidFill>
            <a:srgbClr val="28C840"/>
          </a:solidFill>
          <a:ln/>
        </p:spPr>
      </p:sp>
      <p:sp>
        <p:nvSpPr>
          <p:cNvPr id="8" name="Text 6"/>
          <p:cNvSpPr txBox="1"/>
          <p:nvPr/>
        </p:nvSpPr>
        <p:spPr>
          <a:xfrm>
            <a:off x="1066800" y="2298700"/>
            <a:ext cx="5842000" cy="3327400"/>
          </a:xfrm>
          <a:prstGeom prst="rect">
            <a:avLst/>
          </a:prstGeom>
          <a:noFill/>
          <a:ln/>
        </p:spPr>
        <p:txBody>
          <a:bodyPr wrap="square" lIns="0" tIns="0" rIns="0" bIns="0" rtlCol="0" anchor="t"/>
          <a:lstStyle/>
          <a:p>
            <a:pPr marL="0" indent="0">
              <a:lnSpc>
                <a:spcPct val="120000"/>
              </a:lnSpc>
              <a:buNone/>
            </a:pP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"Jumlah mahasiswa: "</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C792EA"/>
                </a:solidFill>
                <a:latin typeface="Consolas" pitchFamily="34" charset="0"/>
                <a:ea typeface="Consolas" pitchFamily="34" charset="-122"/>
                <a:cs typeface="Consolas" pitchFamily="34" charset="-120"/>
              </a:rPr>
              <a:t>int </a:t>
            </a:r>
            <a:r>
              <a:rPr lang="en-US" sz="1200" dirty="0">
                <a:solidFill>
                  <a:srgbClr val="E6E3F5"/>
                </a:solidFill>
                <a:latin typeface="Consolas" pitchFamily="34" charset="0"/>
                <a:ea typeface="Consolas" pitchFamily="34" charset="-122"/>
                <a:cs typeface="Consolas" pitchFamily="34" charset="-120"/>
              </a:rPr>
              <a:t>n = </a:t>
            </a:r>
            <a:r>
              <a:rPr lang="en-US" sz="1200" dirty="0">
                <a:solidFill>
                  <a:srgbClr val="C792EA"/>
                </a:solidFill>
                <a:latin typeface="Consolas" pitchFamily="34" charset="0"/>
                <a:ea typeface="Consolas" pitchFamily="34" charset="-122"/>
                <a:cs typeface="Consolas" pitchFamily="34" charset="-120"/>
              </a:rPr>
              <a:t>int</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Parse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ReadLine</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a:t>
            </a:r>
            <a:endParaRPr lang="en-US" sz="1200" dirty="0"/>
          </a:p>
          <a:p>
            <a:pPr marL="0" indent="0">
              <a:lnSpc>
                <a:spcPct val="120000"/>
              </a:lnSpc>
              <a:buNone/>
            </a:pPr>
            <a:r>
              <a:rPr lang="en-US" sz="1200" dirty="0">
                <a:solidFill>
                  <a:srgbClr val="C792EA"/>
                </a:solidFill>
                <a:latin typeface="Consolas" pitchFamily="34" charset="0"/>
                <a:ea typeface="Consolas" pitchFamily="34" charset="-122"/>
                <a:cs typeface="Consolas" pitchFamily="34" charset="-120"/>
              </a:rPr>
              <a:t>string</a:t>
            </a:r>
            <a:r>
              <a:rPr lang="en-US" sz="1200" dirty="0">
                <a:solidFill>
                  <a:srgbClr val="E6E3F5"/>
                </a:solidFill>
                <a:latin typeface="Consolas" pitchFamily="34" charset="0"/>
                <a:ea typeface="Consolas" pitchFamily="34" charset="-122"/>
                <a:cs typeface="Consolas" pitchFamily="34" charset="-120"/>
              </a:rPr>
              <a:t>[] nama = </a:t>
            </a:r>
            <a:r>
              <a:rPr lang="en-US" sz="1200" dirty="0">
                <a:solidFill>
                  <a:srgbClr val="C792EA"/>
                </a:solidFill>
                <a:latin typeface="Consolas" pitchFamily="34" charset="0"/>
                <a:ea typeface="Consolas" pitchFamily="34" charset="-122"/>
                <a:cs typeface="Consolas" pitchFamily="34" charset="-120"/>
              </a:rPr>
              <a:t>new string</a:t>
            </a:r>
            <a:r>
              <a:rPr lang="en-US" sz="1200" dirty="0">
                <a:solidFill>
                  <a:srgbClr val="E6E3F5"/>
                </a:solidFill>
                <a:latin typeface="Consolas" pitchFamily="34" charset="0"/>
                <a:ea typeface="Consolas" pitchFamily="34" charset="-122"/>
                <a:cs typeface="Consolas" pitchFamily="34" charset="-120"/>
              </a:rPr>
              <a:t>[n];</a:t>
            </a:r>
            <a:endParaRPr lang="en-US" sz="1200" dirty="0"/>
          </a:p>
          <a:p>
            <a:pPr marL="0" indent="0">
              <a:lnSpc>
                <a:spcPct val="120000"/>
              </a:lnSpc>
              <a:buNone/>
            </a:pPr>
            <a:r>
              <a:rPr lang="en-US" sz="1200" dirty="0">
                <a:solidFill>
                  <a:srgbClr val="C792EA"/>
                </a:solidFill>
                <a:latin typeface="Consolas" pitchFamily="34" charset="0"/>
                <a:ea typeface="Consolas" pitchFamily="34" charset="-122"/>
                <a:cs typeface="Consolas" pitchFamily="34" charset="-120"/>
              </a:rPr>
              <a:t>int</a:t>
            </a:r>
            <a:r>
              <a:rPr lang="en-US" sz="1200" dirty="0">
                <a:solidFill>
                  <a:srgbClr val="E6E3F5"/>
                </a:solidFill>
                <a:latin typeface="Consolas" pitchFamily="34" charset="0"/>
                <a:ea typeface="Consolas" pitchFamily="34" charset="-122"/>
                <a:cs typeface="Consolas" pitchFamily="34" charset="-120"/>
              </a:rPr>
              <a:t>[] nilai = </a:t>
            </a:r>
            <a:r>
              <a:rPr lang="en-US" sz="1200" dirty="0">
                <a:solidFill>
                  <a:srgbClr val="C792EA"/>
                </a:solidFill>
                <a:latin typeface="Consolas" pitchFamily="34" charset="0"/>
                <a:ea typeface="Consolas" pitchFamily="34" charset="-122"/>
                <a:cs typeface="Consolas" pitchFamily="34" charset="-120"/>
              </a:rPr>
              <a:t>new int</a:t>
            </a:r>
            <a:r>
              <a:rPr lang="en-US" sz="1200" dirty="0">
                <a:solidFill>
                  <a:srgbClr val="E6E3F5"/>
                </a:solidFill>
                <a:latin typeface="Consolas" pitchFamily="34" charset="0"/>
                <a:ea typeface="Consolas" pitchFamily="34" charset="-122"/>
                <a:cs typeface="Consolas" pitchFamily="34" charset="-120"/>
              </a:rPr>
              <a:t>[n];</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a:t>
            </a:r>
            <a:endParaRPr lang="en-US" sz="1200" dirty="0"/>
          </a:p>
          <a:p>
            <a:pPr marL="0" indent="0">
              <a:lnSpc>
                <a:spcPct val="120000"/>
              </a:lnSpc>
              <a:buNone/>
            </a:pPr>
            <a:r>
              <a:rPr lang="en-US" sz="1200" dirty="0">
                <a:solidFill>
                  <a:srgbClr val="8A86A8"/>
                </a:solidFill>
                <a:latin typeface="Consolas" pitchFamily="34" charset="0"/>
                <a:ea typeface="Consolas" pitchFamily="34" charset="-122"/>
                <a:cs typeface="Consolas" pitchFamily="34" charset="-120"/>
              </a:rPr>
              <a:t>// Menyimpan data ke array</a:t>
            </a:r>
            <a:endParaRPr lang="en-US" sz="1200" dirty="0"/>
          </a:p>
          <a:p>
            <a:pPr marL="0" indent="0">
              <a:lnSpc>
                <a:spcPct val="120000"/>
              </a:lnSpc>
              <a:buNone/>
            </a:pPr>
            <a:r>
              <a:rPr lang="en-US" sz="1200" dirty="0">
                <a:solidFill>
                  <a:srgbClr val="C792EA"/>
                </a:solidFill>
                <a:latin typeface="Consolas" pitchFamily="34" charset="0"/>
                <a:ea typeface="Consolas" pitchFamily="34" charset="-122"/>
                <a:cs typeface="Consolas" pitchFamily="34" charset="-120"/>
              </a:rPr>
              <a:t>for </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792EA"/>
                </a:solidFill>
                <a:latin typeface="Consolas" pitchFamily="34" charset="0"/>
                <a:ea typeface="Consolas" pitchFamily="34" charset="-122"/>
                <a:cs typeface="Consolas" pitchFamily="34" charset="-120"/>
              </a:rPr>
              <a:t>int </a:t>
            </a:r>
            <a:r>
              <a:rPr lang="en-US" sz="1200" dirty="0">
                <a:solidFill>
                  <a:srgbClr val="E6E3F5"/>
                </a:solidFill>
                <a:latin typeface="Consolas" pitchFamily="34" charset="0"/>
                <a:ea typeface="Consolas" pitchFamily="34" charset="-122"/>
                <a:cs typeface="Consolas" pitchFamily="34" charset="-120"/>
              </a:rPr>
              <a:t>i = </a:t>
            </a:r>
            <a:r>
              <a:rPr lang="en-US" sz="1200" dirty="0">
                <a:solidFill>
                  <a:srgbClr val="F78C6C"/>
                </a:solidFill>
                <a:latin typeface="Consolas" pitchFamily="34" charset="0"/>
                <a:ea typeface="Consolas" pitchFamily="34" charset="-122"/>
                <a:cs typeface="Consolas" pitchFamily="34" charset="-120"/>
              </a:rPr>
              <a:t>0</a:t>
            </a:r>
            <a:r>
              <a:rPr lang="en-US" sz="1200" dirty="0">
                <a:solidFill>
                  <a:srgbClr val="E6E3F5"/>
                </a:solidFill>
                <a:latin typeface="Consolas" pitchFamily="34" charset="0"/>
                <a:ea typeface="Consolas" pitchFamily="34" charset="-122"/>
                <a:cs typeface="Consolas" pitchFamily="34" charset="-120"/>
              </a:rPr>
              <a:t>; i &lt; n; i++)</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$"Nama ke-{i + 1}: "</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nama[i] = </a:t>
            </a: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ReadLine</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$"Nilai {nama[i]}: "</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nilai[i] = </a:t>
            </a:r>
            <a:r>
              <a:rPr lang="en-US" sz="1200" dirty="0">
                <a:solidFill>
                  <a:srgbClr val="C792EA"/>
                </a:solidFill>
                <a:latin typeface="Consolas" pitchFamily="34" charset="0"/>
                <a:ea typeface="Consolas" pitchFamily="34" charset="-122"/>
                <a:cs typeface="Consolas" pitchFamily="34" charset="-120"/>
              </a:rPr>
              <a:t>int</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Parse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ReadLine</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a:t>
            </a:r>
            <a:endParaRPr lang="en-US" sz="1200" dirty="0"/>
          </a:p>
        </p:txBody>
      </p:sp>
      <p:sp>
        <p:nvSpPr>
          <p:cNvPr id="9" name="Shape 7"/>
          <p:cNvSpPr/>
          <p:nvPr/>
        </p:nvSpPr>
        <p:spPr>
          <a:xfrm>
            <a:off x="7467600" y="1841500"/>
            <a:ext cx="3911600" cy="1092200"/>
          </a:xfrm>
          <a:prstGeom prst="roundRect">
            <a:avLst>
              <a:gd name="adj" fmla="val 10465"/>
            </a:avLst>
          </a:prstGeom>
          <a:solidFill>
            <a:srgbClr val="1D1A3A"/>
          </a:solidFill>
          <a:ln w="12700">
            <a:solidFill>
              <a:srgbClr val="2E2A52"/>
            </a:solidFill>
            <a:prstDash val="solid"/>
          </a:ln>
        </p:spPr>
      </p:sp>
      <p:sp>
        <p:nvSpPr>
          <p:cNvPr id="10" name="Shape 8"/>
          <p:cNvSpPr/>
          <p:nvPr/>
        </p:nvSpPr>
        <p:spPr>
          <a:xfrm>
            <a:off x="7645400" y="2019300"/>
            <a:ext cx="355600" cy="355600"/>
          </a:xfrm>
          <a:prstGeom prst="ellipse">
            <a:avLst/>
          </a:prstGeom>
          <a:solidFill>
            <a:srgbClr val="A78BFA"/>
          </a:solidFill>
          <a:ln/>
        </p:spPr>
      </p:sp>
      <p:sp>
        <p:nvSpPr>
          <p:cNvPr id="11" name="Text 9"/>
          <p:cNvSpPr txBox="1"/>
          <p:nvPr/>
        </p:nvSpPr>
        <p:spPr>
          <a:xfrm>
            <a:off x="7645400" y="2019300"/>
            <a:ext cx="355600" cy="355600"/>
          </a:xfrm>
          <a:prstGeom prst="rect">
            <a:avLst/>
          </a:prstGeom>
          <a:noFill/>
          <a:ln/>
        </p:spPr>
        <p:txBody>
          <a:bodyPr wrap="square" lIns="0" tIns="0" rIns="0" bIns="0" rtlCol="0" anchor="ctr"/>
          <a:lstStyle/>
          <a:p>
            <a:pPr marL="0" indent="0" algn="ctr">
              <a:buNone/>
            </a:pPr>
            <a:r>
              <a:rPr lang="en-US" sz="1600" dirty="0">
                <a:solidFill>
                  <a:srgbClr val="1B1838"/>
                </a:solidFill>
                <a:latin typeface="Segoe UI Semibold" pitchFamily="34" charset="0"/>
                <a:ea typeface="Segoe UI Semibold" pitchFamily="34" charset="-122"/>
                <a:cs typeface="Segoe UI Semibold" pitchFamily="34" charset="-120"/>
              </a:rPr>
              <a:t>1</a:t>
            </a:r>
            <a:endParaRPr lang="en-US" sz="1600" dirty="0"/>
          </a:p>
        </p:txBody>
      </p:sp>
      <p:sp>
        <p:nvSpPr>
          <p:cNvPr id="12" name="Text 10"/>
          <p:cNvSpPr txBox="1"/>
          <p:nvPr/>
        </p:nvSpPr>
        <p:spPr>
          <a:xfrm>
            <a:off x="8153400" y="2019300"/>
            <a:ext cx="3048000" cy="787400"/>
          </a:xfrm>
          <a:prstGeom prst="rect">
            <a:avLst/>
          </a:prstGeom>
          <a:noFill/>
          <a:ln/>
        </p:spPr>
        <p:txBody>
          <a:bodyPr wrap="square" lIns="0" tIns="0" rIns="0" bIns="0" rtlCol="0" anchor="t"/>
          <a:lstStyle/>
          <a:p>
            <a:pPr marL="0" indent="0">
              <a:lnSpc>
                <a:spcPct val="125000"/>
              </a:lnSpc>
              <a:buNone/>
            </a:pPr>
            <a:r>
              <a:rPr lang="en-US" sz="1300" b="1" dirty="0">
                <a:solidFill>
                  <a:srgbClr val="F6F4FB"/>
                </a:solidFill>
                <a:latin typeface="Segoe UI" pitchFamily="34" charset="0"/>
                <a:ea typeface="Segoe UI" pitchFamily="34" charset="-122"/>
                <a:cs typeface="Segoe UI" pitchFamily="34" charset="-120"/>
              </a:rPr>
              <a:t>Baca jumlah data</a:t>
            </a:r>
            <a:r>
              <a:rPr lang="en-US" sz="1300" dirty="0">
                <a:solidFill>
                  <a:srgbClr val="C9C4E0"/>
                </a:solidFill>
                <a:latin typeface="Segoe UI" pitchFamily="34" charset="0"/>
                <a:ea typeface="Segoe UI" pitchFamily="34" charset="-122"/>
                <a:cs typeface="Segoe UI" pitchFamily="34" charset="-120"/>
              </a:rPr>
              <a:t> dari user, simpan ke n.</a:t>
            </a:r>
            <a:endParaRPr lang="en-US" sz="1300" dirty="0"/>
          </a:p>
        </p:txBody>
      </p:sp>
      <p:sp>
        <p:nvSpPr>
          <p:cNvPr id="13" name="Shape 11"/>
          <p:cNvSpPr/>
          <p:nvPr/>
        </p:nvSpPr>
        <p:spPr>
          <a:xfrm>
            <a:off x="7467600" y="3086100"/>
            <a:ext cx="3911600" cy="1092200"/>
          </a:xfrm>
          <a:prstGeom prst="roundRect">
            <a:avLst>
              <a:gd name="adj" fmla="val 10465"/>
            </a:avLst>
          </a:prstGeom>
          <a:solidFill>
            <a:srgbClr val="1D1A3A"/>
          </a:solidFill>
          <a:ln w="12700">
            <a:solidFill>
              <a:srgbClr val="2E2A52"/>
            </a:solidFill>
            <a:prstDash val="solid"/>
          </a:ln>
        </p:spPr>
      </p:sp>
      <p:sp>
        <p:nvSpPr>
          <p:cNvPr id="14" name="Shape 12"/>
          <p:cNvSpPr/>
          <p:nvPr/>
        </p:nvSpPr>
        <p:spPr>
          <a:xfrm>
            <a:off x="7645400" y="3263900"/>
            <a:ext cx="355600" cy="355600"/>
          </a:xfrm>
          <a:prstGeom prst="ellipse">
            <a:avLst/>
          </a:prstGeom>
          <a:solidFill>
            <a:srgbClr val="A78BFA"/>
          </a:solidFill>
          <a:ln/>
        </p:spPr>
      </p:sp>
      <p:sp>
        <p:nvSpPr>
          <p:cNvPr id="15" name="Text 13"/>
          <p:cNvSpPr txBox="1"/>
          <p:nvPr/>
        </p:nvSpPr>
        <p:spPr>
          <a:xfrm>
            <a:off x="7645400" y="3263900"/>
            <a:ext cx="355600" cy="355600"/>
          </a:xfrm>
          <a:prstGeom prst="rect">
            <a:avLst/>
          </a:prstGeom>
          <a:noFill/>
          <a:ln/>
        </p:spPr>
        <p:txBody>
          <a:bodyPr wrap="square" lIns="0" tIns="0" rIns="0" bIns="0" rtlCol="0" anchor="ctr"/>
          <a:lstStyle/>
          <a:p>
            <a:pPr marL="0" indent="0" algn="ctr">
              <a:buNone/>
            </a:pPr>
            <a:r>
              <a:rPr lang="en-US" sz="1600" dirty="0">
                <a:solidFill>
                  <a:srgbClr val="1B1838"/>
                </a:solidFill>
                <a:latin typeface="Segoe UI Semibold" pitchFamily="34" charset="0"/>
                <a:ea typeface="Segoe UI Semibold" pitchFamily="34" charset="-122"/>
                <a:cs typeface="Segoe UI Semibold" pitchFamily="34" charset="-120"/>
              </a:rPr>
              <a:t>2</a:t>
            </a:r>
            <a:endParaRPr lang="en-US" sz="1600" dirty="0"/>
          </a:p>
        </p:txBody>
      </p:sp>
      <p:sp>
        <p:nvSpPr>
          <p:cNvPr id="16" name="Text 14"/>
          <p:cNvSpPr txBox="1"/>
          <p:nvPr/>
        </p:nvSpPr>
        <p:spPr>
          <a:xfrm>
            <a:off x="8153400" y="3263900"/>
            <a:ext cx="3048000" cy="787400"/>
          </a:xfrm>
          <a:prstGeom prst="rect">
            <a:avLst/>
          </a:prstGeom>
          <a:noFill/>
          <a:ln/>
        </p:spPr>
        <p:txBody>
          <a:bodyPr wrap="square" lIns="0" tIns="0" rIns="0" bIns="0" rtlCol="0" anchor="t"/>
          <a:lstStyle/>
          <a:p>
            <a:pPr marL="0" indent="0">
              <a:lnSpc>
                <a:spcPct val="125000"/>
              </a:lnSpc>
              <a:buNone/>
            </a:pPr>
            <a:r>
              <a:rPr lang="en-US" sz="1300" b="1" dirty="0">
                <a:solidFill>
                  <a:srgbClr val="F6F4FB"/>
                </a:solidFill>
                <a:latin typeface="Segoe UI" pitchFamily="34" charset="0"/>
                <a:ea typeface="Segoe UI" pitchFamily="34" charset="-122"/>
                <a:cs typeface="Segoe UI" pitchFamily="34" charset="-120"/>
              </a:rPr>
              <a:t>Buat dua array</a:t>
            </a:r>
            <a:r>
              <a:rPr lang="en-US" sz="1300" dirty="0">
                <a:solidFill>
                  <a:srgbClr val="C9C4E0"/>
                </a:solidFill>
                <a:latin typeface="Segoe UI" pitchFamily="34" charset="0"/>
                <a:ea typeface="Segoe UI" pitchFamily="34" charset="-122"/>
                <a:cs typeface="Segoe UI" pitchFamily="34" charset="-120"/>
              </a:rPr>
              <a:t> berukuran n: nama dan nilai.</a:t>
            </a:r>
            <a:endParaRPr lang="en-US" sz="1300" dirty="0"/>
          </a:p>
        </p:txBody>
      </p:sp>
      <p:sp>
        <p:nvSpPr>
          <p:cNvPr id="17" name="Shape 15"/>
          <p:cNvSpPr/>
          <p:nvPr/>
        </p:nvSpPr>
        <p:spPr>
          <a:xfrm>
            <a:off x="7467600" y="4330700"/>
            <a:ext cx="3911600" cy="1092200"/>
          </a:xfrm>
          <a:prstGeom prst="roundRect">
            <a:avLst>
              <a:gd name="adj" fmla="val 10465"/>
            </a:avLst>
          </a:prstGeom>
          <a:solidFill>
            <a:srgbClr val="1D1A3A"/>
          </a:solidFill>
          <a:ln w="12700">
            <a:solidFill>
              <a:srgbClr val="2E2A52"/>
            </a:solidFill>
            <a:prstDash val="solid"/>
          </a:ln>
        </p:spPr>
      </p:sp>
      <p:sp>
        <p:nvSpPr>
          <p:cNvPr id="18" name="Shape 16"/>
          <p:cNvSpPr/>
          <p:nvPr/>
        </p:nvSpPr>
        <p:spPr>
          <a:xfrm>
            <a:off x="7645400" y="4508500"/>
            <a:ext cx="355600" cy="355600"/>
          </a:xfrm>
          <a:prstGeom prst="ellipse">
            <a:avLst/>
          </a:prstGeom>
          <a:solidFill>
            <a:srgbClr val="A78BFA"/>
          </a:solidFill>
          <a:ln/>
        </p:spPr>
      </p:sp>
      <p:sp>
        <p:nvSpPr>
          <p:cNvPr id="19" name="Text 17"/>
          <p:cNvSpPr txBox="1"/>
          <p:nvPr/>
        </p:nvSpPr>
        <p:spPr>
          <a:xfrm>
            <a:off x="7645400" y="4508500"/>
            <a:ext cx="355600" cy="355600"/>
          </a:xfrm>
          <a:prstGeom prst="rect">
            <a:avLst/>
          </a:prstGeom>
          <a:noFill/>
          <a:ln/>
        </p:spPr>
        <p:txBody>
          <a:bodyPr wrap="square" lIns="0" tIns="0" rIns="0" bIns="0" rtlCol="0" anchor="ctr"/>
          <a:lstStyle/>
          <a:p>
            <a:pPr marL="0" indent="0" algn="ctr">
              <a:buNone/>
            </a:pPr>
            <a:r>
              <a:rPr lang="en-US" sz="1600" dirty="0">
                <a:solidFill>
                  <a:srgbClr val="1B1838"/>
                </a:solidFill>
                <a:latin typeface="Segoe UI Semibold" pitchFamily="34" charset="0"/>
                <a:ea typeface="Segoe UI Semibold" pitchFamily="34" charset="-122"/>
                <a:cs typeface="Segoe UI Semibold" pitchFamily="34" charset="-120"/>
              </a:rPr>
              <a:t>3</a:t>
            </a:r>
            <a:endParaRPr lang="en-US" sz="1600" dirty="0"/>
          </a:p>
        </p:txBody>
      </p:sp>
      <p:sp>
        <p:nvSpPr>
          <p:cNvPr id="20" name="Text 18"/>
          <p:cNvSpPr txBox="1"/>
          <p:nvPr/>
        </p:nvSpPr>
        <p:spPr>
          <a:xfrm>
            <a:off x="8153400" y="4508500"/>
            <a:ext cx="3048000" cy="787400"/>
          </a:xfrm>
          <a:prstGeom prst="rect">
            <a:avLst/>
          </a:prstGeom>
          <a:noFill/>
          <a:ln/>
        </p:spPr>
        <p:txBody>
          <a:bodyPr wrap="square" lIns="0" tIns="0" rIns="0" bIns="0" rtlCol="0" anchor="t"/>
          <a:lstStyle/>
          <a:p>
            <a:pPr marL="0" indent="0">
              <a:lnSpc>
                <a:spcPct val="125000"/>
              </a:lnSpc>
              <a:buNone/>
            </a:pPr>
            <a:r>
              <a:rPr lang="en-US" sz="1300" b="1" dirty="0">
                <a:solidFill>
                  <a:srgbClr val="F6F4FB"/>
                </a:solidFill>
                <a:latin typeface="Segoe UI" pitchFamily="34" charset="0"/>
                <a:ea typeface="Segoe UI" pitchFamily="34" charset="-122"/>
                <a:cs typeface="Segoe UI" pitchFamily="34" charset="-120"/>
              </a:rPr>
              <a:t>Isi kedua array</a:t>
            </a:r>
            <a:r>
              <a:rPr lang="en-US" sz="1300" dirty="0">
                <a:solidFill>
                  <a:srgbClr val="C9C4E0"/>
                </a:solidFill>
                <a:latin typeface="Segoe UI" pitchFamily="34" charset="0"/>
                <a:ea typeface="Segoe UI" pitchFamily="34" charset="-122"/>
                <a:cs typeface="Segoe UI" pitchFamily="34" charset="-120"/>
              </a:rPr>
              <a:t> dengan for. Index i yang sama menghubungkan nama dan nilai.</a:t>
            </a:r>
            <a:endParaRPr lang="en-US" sz="13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STUDI KASUS · BAGIAN 2</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Program nilai mahasiswa: proses</a:t>
            </a:r>
            <a:endParaRPr lang="en-US" sz="3600" dirty="0"/>
          </a:p>
        </p:txBody>
      </p:sp>
      <p:sp>
        <p:nvSpPr>
          <p:cNvPr id="4" name="Kode"/>
          <p:cNvSpPr/>
          <p:nvPr/>
        </p:nvSpPr>
        <p:spPr>
          <a:xfrm>
            <a:off x="812800" y="1841500"/>
            <a:ext cx="6604000" cy="3937000"/>
          </a:xfrm>
          <a:prstGeom prst="roundRect">
            <a:avLst>
              <a:gd name="adj" fmla="val 3226"/>
            </a:avLst>
          </a:prstGeom>
          <a:solidFill>
            <a:srgbClr val="0E0C1F"/>
          </a:solidFill>
          <a:ln w="12700">
            <a:solidFill>
              <a:srgbClr val="2E2A52"/>
            </a:solidFill>
            <a:prstDash val="solid"/>
          </a:ln>
        </p:spPr>
      </p:sp>
      <p:sp>
        <p:nvSpPr>
          <p:cNvPr id="5" name="Shape 3"/>
          <p:cNvSpPr/>
          <p:nvPr/>
        </p:nvSpPr>
        <p:spPr>
          <a:xfrm>
            <a:off x="1066800" y="2044700"/>
            <a:ext cx="101600" cy="101600"/>
          </a:xfrm>
          <a:prstGeom prst="ellipse">
            <a:avLst/>
          </a:prstGeom>
          <a:solidFill>
            <a:srgbClr val="FF5F57"/>
          </a:solidFill>
          <a:ln/>
        </p:spPr>
      </p:sp>
      <p:sp>
        <p:nvSpPr>
          <p:cNvPr id="6" name="Shape 4"/>
          <p:cNvSpPr/>
          <p:nvPr/>
        </p:nvSpPr>
        <p:spPr>
          <a:xfrm>
            <a:off x="1231900" y="2044700"/>
            <a:ext cx="101600" cy="101600"/>
          </a:xfrm>
          <a:prstGeom prst="ellipse">
            <a:avLst/>
          </a:prstGeom>
          <a:solidFill>
            <a:srgbClr val="FEBC2E"/>
          </a:solidFill>
          <a:ln/>
        </p:spPr>
      </p:sp>
      <p:sp>
        <p:nvSpPr>
          <p:cNvPr id="7" name="Shape 5"/>
          <p:cNvSpPr/>
          <p:nvPr/>
        </p:nvSpPr>
        <p:spPr>
          <a:xfrm>
            <a:off x="1397000" y="2044700"/>
            <a:ext cx="101600" cy="101600"/>
          </a:xfrm>
          <a:prstGeom prst="ellipse">
            <a:avLst/>
          </a:prstGeom>
          <a:solidFill>
            <a:srgbClr val="28C840"/>
          </a:solidFill>
          <a:ln/>
        </p:spPr>
      </p:sp>
      <p:sp>
        <p:nvSpPr>
          <p:cNvPr id="8" name="Text 6"/>
          <p:cNvSpPr txBox="1"/>
          <p:nvPr/>
        </p:nvSpPr>
        <p:spPr>
          <a:xfrm>
            <a:off x="1066800" y="2298700"/>
            <a:ext cx="6096000" cy="3327400"/>
          </a:xfrm>
          <a:prstGeom prst="rect">
            <a:avLst/>
          </a:prstGeom>
          <a:noFill/>
          <a:ln/>
        </p:spPr>
        <p:txBody>
          <a:bodyPr wrap="square" lIns="0" tIns="0" rIns="0" bIns="0" rtlCol="0" anchor="t"/>
          <a:lstStyle/>
          <a:p>
            <a:pPr marL="0" indent="0">
              <a:lnSpc>
                <a:spcPct val="120000"/>
              </a:lnSpc>
              <a:buNone/>
            </a:pPr>
            <a:r>
              <a:rPr lang="en-US" sz="1200" dirty="0">
                <a:solidFill>
                  <a:srgbClr val="8A86A8"/>
                </a:solidFill>
                <a:latin typeface="Consolas" pitchFamily="34" charset="0"/>
                <a:ea typeface="Consolas" pitchFamily="34" charset="-122"/>
                <a:cs typeface="Consolas" pitchFamily="34" charset="-120"/>
              </a:rPr>
              <a:t>// Memanggil data dari array</a:t>
            </a:r>
            <a:endParaRPr lang="en-US" sz="1200" dirty="0"/>
          </a:p>
          <a:p>
            <a:pPr marL="0" indent="0">
              <a:lnSpc>
                <a:spcPct val="120000"/>
              </a:lnSpc>
              <a:buNone/>
            </a:pP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WriteLine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"\n=== Daftar Nilai ==="</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C792EA"/>
                </a:solidFill>
                <a:latin typeface="Consolas" pitchFamily="34" charset="0"/>
                <a:ea typeface="Consolas" pitchFamily="34" charset="-122"/>
                <a:cs typeface="Consolas" pitchFamily="34" charset="-120"/>
              </a:rPr>
              <a:t>int </a:t>
            </a:r>
            <a:r>
              <a:rPr lang="en-US" sz="1200" dirty="0">
                <a:solidFill>
                  <a:srgbClr val="E6E3F5"/>
                </a:solidFill>
                <a:latin typeface="Consolas" pitchFamily="34" charset="0"/>
                <a:ea typeface="Consolas" pitchFamily="34" charset="-122"/>
                <a:cs typeface="Consolas" pitchFamily="34" charset="-120"/>
              </a:rPr>
              <a:t>total = </a:t>
            </a:r>
            <a:r>
              <a:rPr lang="en-US" sz="1200" dirty="0">
                <a:solidFill>
                  <a:srgbClr val="F78C6C"/>
                </a:solidFill>
                <a:latin typeface="Consolas" pitchFamily="34" charset="0"/>
                <a:ea typeface="Consolas" pitchFamily="34" charset="-122"/>
                <a:cs typeface="Consolas" pitchFamily="34" charset="-120"/>
              </a:rPr>
              <a:t>0</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C792EA"/>
                </a:solidFill>
                <a:latin typeface="Consolas" pitchFamily="34" charset="0"/>
                <a:ea typeface="Consolas" pitchFamily="34" charset="-122"/>
                <a:cs typeface="Consolas" pitchFamily="34" charset="-120"/>
              </a:rPr>
              <a:t>int </a:t>
            </a:r>
            <a:r>
              <a:rPr lang="en-US" sz="1200" dirty="0">
                <a:solidFill>
                  <a:srgbClr val="E6E3F5"/>
                </a:solidFill>
                <a:latin typeface="Consolas" pitchFamily="34" charset="0"/>
                <a:ea typeface="Consolas" pitchFamily="34" charset="-122"/>
                <a:cs typeface="Consolas" pitchFamily="34" charset="-120"/>
              </a:rPr>
              <a:t>tertinggi = nilai[</a:t>
            </a:r>
            <a:r>
              <a:rPr lang="en-US" sz="1200" dirty="0">
                <a:solidFill>
                  <a:srgbClr val="F78C6C"/>
                </a:solidFill>
                <a:latin typeface="Consolas" pitchFamily="34" charset="0"/>
                <a:ea typeface="Consolas" pitchFamily="34" charset="-122"/>
                <a:cs typeface="Consolas" pitchFamily="34" charset="-120"/>
              </a:rPr>
              <a:t>0</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a:t>
            </a:r>
            <a:endParaRPr lang="en-US" sz="1200" dirty="0"/>
          </a:p>
          <a:p>
            <a:pPr marL="0" indent="0">
              <a:lnSpc>
                <a:spcPct val="120000"/>
              </a:lnSpc>
              <a:buNone/>
            </a:pPr>
            <a:r>
              <a:rPr lang="en-US" sz="1200" dirty="0">
                <a:solidFill>
                  <a:srgbClr val="C792EA"/>
                </a:solidFill>
                <a:latin typeface="Consolas" pitchFamily="34" charset="0"/>
                <a:ea typeface="Consolas" pitchFamily="34" charset="-122"/>
                <a:cs typeface="Consolas" pitchFamily="34" charset="-120"/>
              </a:rPr>
              <a:t>for </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792EA"/>
                </a:solidFill>
                <a:latin typeface="Consolas" pitchFamily="34" charset="0"/>
                <a:ea typeface="Consolas" pitchFamily="34" charset="-122"/>
                <a:cs typeface="Consolas" pitchFamily="34" charset="-120"/>
              </a:rPr>
              <a:t>int </a:t>
            </a:r>
            <a:r>
              <a:rPr lang="en-US" sz="1200" dirty="0">
                <a:solidFill>
                  <a:srgbClr val="E6E3F5"/>
                </a:solidFill>
                <a:latin typeface="Consolas" pitchFamily="34" charset="0"/>
                <a:ea typeface="Consolas" pitchFamily="34" charset="-122"/>
                <a:cs typeface="Consolas" pitchFamily="34" charset="-120"/>
              </a:rPr>
              <a:t>i = </a:t>
            </a:r>
            <a:r>
              <a:rPr lang="en-US" sz="1200" dirty="0">
                <a:solidFill>
                  <a:srgbClr val="F78C6C"/>
                </a:solidFill>
                <a:latin typeface="Consolas" pitchFamily="34" charset="0"/>
                <a:ea typeface="Consolas" pitchFamily="34" charset="-122"/>
                <a:cs typeface="Consolas" pitchFamily="34" charset="-120"/>
              </a:rPr>
              <a:t>0</a:t>
            </a:r>
            <a:r>
              <a:rPr lang="en-US" sz="1200" dirty="0">
                <a:solidFill>
                  <a:srgbClr val="E6E3F5"/>
                </a:solidFill>
                <a:latin typeface="Consolas" pitchFamily="34" charset="0"/>
                <a:ea typeface="Consolas" pitchFamily="34" charset="-122"/>
                <a:cs typeface="Consolas" pitchFamily="34" charset="-120"/>
              </a:rPr>
              <a:t>; i &lt; n; i++)</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a:t>
            </a: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WriteLine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$"{i + 1}. {nama[i]} : {nilai[i]}"</a:t>
            </a: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total += nilai[i];</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a:t>
            </a:r>
            <a:r>
              <a:rPr lang="en-US" sz="1200" dirty="0">
                <a:solidFill>
                  <a:srgbClr val="C792EA"/>
                </a:solidFill>
                <a:latin typeface="Consolas" pitchFamily="34" charset="0"/>
                <a:ea typeface="Consolas" pitchFamily="34" charset="-122"/>
                <a:cs typeface="Consolas" pitchFamily="34" charset="-120"/>
              </a:rPr>
              <a:t>if </a:t>
            </a:r>
            <a:r>
              <a:rPr lang="en-US" sz="1200" dirty="0">
                <a:solidFill>
                  <a:srgbClr val="E6E3F5"/>
                </a:solidFill>
                <a:latin typeface="Consolas" pitchFamily="34" charset="0"/>
                <a:ea typeface="Consolas" pitchFamily="34" charset="-122"/>
                <a:cs typeface="Consolas" pitchFamily="34" charset="-120"/>
              </a:rPr>
              <a:t>(nilai[i] &gt; tertinggi) tertinggi = nilai[i];</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a:t>
            </a:r>
            <a:endParaRPr lang="en-US" sz="1200" dirty="0"/>
          </a:p>
          <a:p>
            <a:pPr marL="0" indent="0">
              <a:lnSpc>
                <a:spcPct val="120000"/>
              </a:lnSpc>
              <a:buNone/>
            </a:pPr>
            <a:r>
              <a:rPr lang="en-US" sz="1200" dirty="0">
                <a:solidFill>
                  <a:srgbClr val="E6E3F5"/>
                </a:solidFill>
                <a:latin typeface="Consolas" pitchFamily="34" charset="0"/>
                <a:ea typeface="Consolas" pitchFamily="34" charset="-122"/>
                <a:cs typeface="Consolas" pitchFamily="34" charset="-120"/>
              </a:rPr>
              <a:t> </a:t>
            </a:r>
            <a:endParaRPr lang="en-US" sz="1200" dirty="0"/>
          </a:p>
          <a:p>
            <a:pPr marL="0" indent="0">
              <a:lnSpc>
                <a:spcPct val="120000"/>
              </a:lnSpc>
              <a:buNone/>
            </a:pPr>
            <a:r>
              <a:rPr lang="en-US" sz="1200" dirty="0">
                <a:solidFill>
                  <a:srgbClr val="C792EA"/>
                </a:solidFill>
                <a:latin typeface="Consolas" pitchFamily="34" charset="0"/>
                <a:ea typeface="Consolas" pitchFamily="34" charset="-122"/>
                <a:cs typeface="Consolas" pitchFamily="34" charset="-120"/>
              </a:rPr>
              <a:t>double </a:t>
            </a:r>
            <a:r>
              <a:rPr lang="en-US" sz="1200" dirty="0">
                <a:solidFill>
                  <a:srgbClr val="E6E3F5"/>
                </a:solidFill>
                <a:latin typeface="Consolas" pitchFamily="34" charset="0"/>
                <a:ea typeface="Consolas" pitchFamily="34" charset="-122"/>
                <a:cs typeface="Consolas" pitchFamily="34" charset="-120"/>
              </a:rPr>
              <a:t>rata = (</a:t>
            </a:r>
            <a:r>
              <a:rPr lang="en-US" sz="1200" dirty="0">
                <a:solidFill>
                  <a:srgbClr val="C792EA"/>
                </a:solidFill>
                <a:latin typeface="Consolas" pitchFamily="34" charset="0"/>
                <a:ea typeface="Consolas" pitchFamily="34" charset="-122"/>
                <a:cs typeface="Consolas" pitchFamily="34" charset="-120"/>
              </a:rPr>
              <a:t>double</a:t>
            </a:r>
            <a:r>
              <a:rPr lang="en-US" sz="1200" dirty="0">
                <a:solidFill>
                  <a:srgbClr val="E6E3F5"/>
                </a:solidFill>
                <a:latin typeface="Consolas" pitchFamily="34" charset="0"/>
                <a:ea typeface="Consolas" pitchFamily="34" charset="-122"/>
                <a:cs typeface="Consolas" pitchFamily="34" charset="-120"/>
              </a:rPr>
              <a:t>)total / n;</a:t>
            </a:r>
            <a:endParaRPr lang="en-US" sz="1200" dirty="0"/>
          </a:p>
          <a:p>
            <a:pPr marL="0" indent="0">
              <a:lnSpc>
                <a:spcPct val="120000"/>
              </a:lnSpc>
              <a:buNone/>
            </a:pPr>
            <a:r>
              <a:rPr lang="en-US" sz="1200" dirty="0">
                <a:solidFill>
                  <a:srgbClr val="FFCB6B"/>
                </a:solidFill>
                <a:latin typeface="Consolas" pitchFamily="34" charset="0"/>
                <a:ea typeface="Consolas" pitchFamily="34" charset="-122"/>
                <a:cs typeface="Consolas" pitchFamily="34" charset="-120"/>
              </a:rPr>
              <a:t>Console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82AAFF"/>
                </a:solidFill>
                <a:latin typeface="Consolas" pitchFamily="34" charset="0"/>
                <a:ea typeface="Consolas" pitchFamily="34" charset="-122"/>
                <a:cs typeface="Consolas" pitchFamily="34" charset="-120"/>
              </a:rPr>
              <a:t>WriteLine</a:t>
            </a:r>
            <a:r>
              <a:rPr lang="en-US" sz="1200" dirty="0">
                <a:solidFill>
                  <a:srgbClr val="E6E3F5"/>
                </a:solidFill>
                <a:latin typeface="Consolas" pitchFamily="34" charset="0"/>
                <a:ea typeface="Consolas" pitchFamily="34" charset="-122"/>
                <a:cs typeface="Consolas" pitchFamily="34" charset="-120"/>
              </a:rPr>
              <a:t>(</a:t>
            </a:r>
            <a:r>
              <a:rPr lang="en-US" sz="1200" dirty="0">
                <a:solidFill>
                  <a:srgbClr val="C3E88D"/>
                </a:solidFill>
                <a:latin typeface="Consolas" pitchFamily="34" charset="0"/>
                <a:ea typeface="Consolas" pitchFamily="34" charset="-122"/>
                <a:cs typeface="Consolas" pitchFamily="34" charset="-120"/>
              </a:rPr>
              <a:t>$"Rata-rata : {rata:F2}"</a:t>
            </a:r>
            <a:r>
              <a:rPr lang="en-US" sz="1200" dirty="0">
                <a:solidFill>
                  <a:srgbClr val="E6E3F5"/>
                </a:solidFill>
                <a:latin typeface="Consolas" pitchFamily="34" charset="0"/>
                <a:ea typeface="Consolas" pitchFamily="34" charset="-122"/>
                <a:cs typeface="Consolas" pitchFamily="34" charset="-120"/>
              </a:rPr>
              <a:t>);</a:t>
            </a:r>
            <a:endParaRPr lang="en-US" sz="1200" dirty="0"/>
          </a:p>
        </p:txBody>
      </p:sp>
      <p:sp>
        <p:nvSpPr>
          <p:cNvPr id="9" name="Shape 7"/>
          <p:cNvSpPr/>
          <p:nvPr/>
        </p:nvSpPr>
        <p:spPr>
          <a:xfrm>
            <a:off x="7721600" y="1841500"/>
            <a:ext cx="3657600" cy="1092200"/>
          </a:xfrm>
          <a:prstGeom prst="roundRect">
            <a:avLst>
              <a:gd name="adj" fmla="val 10465"/>
            </a:avLst>
          </a:prstGeom>
          <a:solidFill>
            <a:srgbClr val="FDFCFF"/>
          </a:solidFill>
          <a:ln w="12700">
            <a:solidFill>
              <a:srgbClr val="E4E0F0"/>
            </a:solidFill>
            <a:prstDash val="solid"/>
          </a:ln>
        </p:spPr>
      </p:sp>
      <p:sp>
        <p:nvSpPr>
          <p:cNvPr id="10" name="Shape 8"/>
          <p:cNvSpPr/>
          <p:nvPr/>
        </p:nvSpPr>
        <p:spPr>
          <a:xfrm>
            <a:off x="7899400" y="2019300"/>
            <a:ext cx="355600" cy="355600"/>
          </a:xfrm>
          <a:prstGeom prst="ellipse">
            <a:avLst/>
          </a:prstGeom>
          <a:solidFill>
            <a:srgbClr val="6D28D9"/>
          </a:solidFill>
          <a:ln/>
        </p:spPr>
      </p:sp>
      <p:sp>
        <p:nvSpPr>
          <p:cNvPr id="11" name="Text 9"/>
          <p:cNvSpPr txBox="1"/>
          <p:nvPr/>
        </p:nvSpPr>
        <p:spPr>
          <a:xfrm>
            <a:off x="7899400" y="2019300"/>
            <a:ext cx="355600" cy="355600"/>
          </a:xfrm>
          <a:prstGeom prst="rect">
            <a:avLst/>
          </a:prstGeom>
          <a:noFill/>
          <a:ln/>
        </p:spPr>
        <p:txBody>
          <a:bodyPr wrap="square" lIns="0" tIns="0" rIns="0" bIns="0" rtlCol="0" anchor="ctr"/>
          <a:lstStyle/>
          <a:p>
            <a:pPr marL="0" indent="0" algn="ctr">
              <a:buNone/>
            </a:pPr>
            <a:r>
              <a:rPr lang="en-US" sz="1600" dirty="0">
                <a:solidFill>
                  <a:srgbClr val="F6F4FB"/>
                </a:solidFill>
                <a:latin typeface="Segoe UI Semibold" pitchFamily="34" charset="0"/>
                <a:ea typeface="Segoe UI Semibold" pitchFamily="34" charset="-122"/>
                <a:cs typeface="Segoe UI Semibold" pitchFamily="34" charset="-120"/>
              </a:rPr>
              <a:t>4</a:t>
            </a:r>
            <a:endParaRPr lang="en-US" sz="1600" dirty="0"/>
          </a:p>
        </p:txBody>
      </p:sp>
      <p:sp>
        <p:nvSpPr>
          <p:cNvPr id="12" name="Text 10"/>
          <p:cNvSpPr txBox="1"/>
          <p:nvPr/>
        </p:nvSpPr>
        <p:spPr>
          <a:xfrm>
            <a:off x="8407400" y="2019300"/>
            <a:ext cx="2794000" cy="787400"/>
          </a:xfrm>
          <a:prstGeom prst="rect">
            <a:avLst/>
          </a:prstGeom>
          <a:noFill/>
          <a:ln/>
        </p:spPr>
        <p:txBody>
          <a:bodyPr wrap="square" lIns="0" tIns="0" rIns="0" bIns="0" rtlCol="0" anchor="t"/>
          <a:lstStyle/>
          <a:p>
            <a:pPr marL="0" indent="0">
              <a:lnSpc>
                <a:spcPct val="125000"/>
              </a:lnSpc>
              <a:buNone/>
            </a:pPr>
            <a:r>
              <a:rPr lang="en-US" sz="1300" b="1" dirty="0">
                <a:solidFill>
                  <a:srgbClr val="1B1838"/>
                </a:solidFill>
                <a:latin typeface="Segoe UI" pitchFamily="34" charset="0"/>
                <a:ea typeface="Segoe UI" pitchFamily="34" charset="-122"/>
                <a:cs typeface="Segoe UI" pitchFamily="34" charset="-120"/>
              </a:rPr>
              <a:t>Tampilkan</a:t>
            </a:r>
            <a:r>
              <a:rPr lang="en-US" sz="1300" dirty="0">
                <a:solidFill>
                  <a:srgbClr val="4A4766"/>
                </a:solidFill>
                <a:latin typeface="Segoe UI" pitchFamily="34" charset="0"/>
                <a:ea typeface="Segoe UI" pitchFamily="34" charset="-122"/>
                <a:cs typeface="Segoe UI" pitchFamily="34" charset="-120"/>
              </a:rPr>
              <a:t> setiap nama dan nilai dengan for.</a:t>
            </a:r>
            <a:endParaRPr lang="en-US" sz="1300" dirty="0"/>
          </a:p>
        </p:txBody>
      </p:sp>
      <p:sp>
        <p:nvSpPr>
          <p:cNvPr id="13" name="Shape 11"/>
          <p:cNvSpPr/>
          <p:nvPr/>
        </p:nvSpPr>
        <p:spPr>
          <a:xfrm>
            <a:off x="7721600" y="3086100"/>
            <a:ext cx="3657600" cy="1092200"/>
          </a:xfrm>
          <a:prstGeom prst="roundRect">
            <a:avLst>
              <a:gd name="adj" fmla="val 10465"/>
            </a:avLst>
          </a:prstGeom>
          <a:solidFill>
            <a:srgbClr val="FDFCFF"/>
          </a:solidFill>
          <a:ln w="12700">
            <a:solidFill>
              <a:srgbClr val="E4E0F0"/>
            </a:solidFill>
            <a:prstDash val="solid"/>
          </a:ln>
        </p:spPr>
      </p:sp>
      <p:sp>
        <p:nvSpPr>
          <p:cNvPr id="14" name="Shape 12"/>
          <p:cNvSpPr/>
          <p:nvPr/>
        </p:nvSpPr>
        <p:spPr>
          <a:xfrm>
            <a:off x="7899400" y="3263900"/>
            <a:ext cx="355600" cy="355600"/>
          </a:xfrm>
          <a:prstGeom prst="ellipse">
            <a:avLst/>
          </a:prstGeom>
          <a:solidFill>
            <a:srgbClr val="6D28D9"/>
          </a:solidFill>
          <a:ln/>
        </p:spPr>
      </p:sp>
      <p:sp>
        <p:nvSpPr>
          <p:cNvPr id="15" name="Text 13"/>
          <p:cNvSpPr txBox="1"/>
          <p:nvPr/>
        </p:nvSpPr>
        <p:spPr>
          <a:xfrm>
            <a:off x="7899400" y="3263900"/>
            <a:ext cx="355600" cy="355600"/>
          </a:xfrm>
          <a:prstGeom prst="rect">
            <a:avLst/>
          </a:prstGeom>
          <a:noFill/>
          <a:ln/>
        </p:spPr>
        <p:txBody>
          <a:bodyPr wrap="square" lIns="0" tIns="0" rIns="0" bIns="0" rtlCol="0" anchor="ctr"/>
          <a:lstStyle/>
          <a:p>
            <a:pPr marL="0" indent="0" algn="ctr">
              <a:buNone/>
            </a:pPr>
            <a:r>
              <a:rPr lang="en-US" sz="1600" dirty="0">
                <a:solidFill>
                  <a:srgbClr val="F6F4FB"/>
                </a:solidFill>
                <a:latin typeface="Segoe UI Semibold" pitchFamily="34" charset="0"/>
                <a:ea typeface="Segoe UI Semibold" pitchFamily="34" charset="-122"/>
                <a:cs typeface="Segoe UI Semibold" pitchFamily="34" charset="-120"/>
              </a:rPr>
              <a:t>5</a:t>
            </a:r>
            <a:endParaRPr lang="en-US" sz="1600" dirty="0"/>
          </a:p>
        </p:txBody>
      </p:sp>
      <p:sp>
        <p:nvSpPr>
          <p:cNvPr id="16" name="Text 14"/>
          <p:cNvSpPr txBox="1"/>
          <p:nvPr/>
        </p:nvSpPr>
        <p:spPr>
          <a:xfrm>
            <a:off x="8407400" y="3263900"/>
            <a:ext cx="2794000" cy="787400"/>
          </a:xfrm>
          <a:prstGeom prst="rect">
            <a:avLst/>
          </a:prstGeom>
          <a:noFill/>
          <a:ln/>
        </p:spPr>
        <p:txBody>
          <a:bodyPr wrap="square" lIns="0" tIns="0" rIns="0" bIns="0" rtlCol="0" anchor="t"/>
          <a:lstStyle/>
          <a:p>
            <a:pPr marL="0" indent="0">
              <a:lnSpc>
                <a:spcPct val="125000"/>
              </a:lnSpc>
              <a:buNone/>
            </a:pPr>
            <a:r>
              <a:rPr lang="en-US" sz="1300" b="1" dirty="0">
                <a:solidFill>
                  <a:srgbClr val="1B1838"/>
                </a:solidFill>
                <a:latin typeface="Segoe UI" pitchFamily="34" charset="0"/>
                <a:ea typeface="Segoe UI" pitchFamily="34" charset="-122"/>
                <a:cs typeface="Segoe UI" pitchFamily="34" charset="-120"/>
              </a:rPr>
              <a:t>Jumlahkan total</a:t>
            </a:r>
            <a:r>
              <a:rPr lang="en-US" sz="1300" dirty="0">
                <a:solidFill>
                  <a:srgbClr val="4A4766"/>
                </a:solidFill>
                <a:latin typeface="Segoe UI" pitchFamily="34" charset="0"/>
                <a:ea typeface="Segoe UI" pitchFamily="34" charset="-122"/>
                <a:cs typeface="Segoe UI" pitchFamily="34" charset="-120"/>
              </a:rPr>
              <a:t> dan cari nilai tertinggi di putaran yang sama.</a:t>
            </a:r>
            <a:endParaRPr lang="en-US" sz="1300" dirty="0"/>
          </a:p>
        </p:txBody>
      </p:sp>
      <p:sp>
        <p:nvSpPr>
          <p:cNvPr id="17" name="Shape 15"/>
          <p:cNvSpPr/>
          <p:nvPr/>
        </p:nvSpPr>
        <p:spPr>
          <a:xfrm>
            <a:off x="7721600" y="4330700"/>
            <a:ext cx="3657600" cy="1092200"/>
          </a:xfrm>
          <a:prstGeom prst="roundRect">
            <a:avLst>
              <a:gd name="adj" fmla="val 10465"/>
            </a:avLst>
          </a:prstGeom>
          <a:solidFill>
            <a:srgbClr val="FDFCFF"/>
          </a:solidFill>
          <a:ln w="12700">
            <a:solidFill>
              <a:srgbClr val="E4E0F0"/>
            </a:solidFill>
            <a:prstDash val="solid"/>
          </a:ln>
        </p:spPr>
      </p:sp>
      <p:sp>
        <p:nvSpPr>
          <p:cNvPr id="18" name="Shape 16"/>
          <p:cNvSpPr/>
          <p:nvPr/>
        </p:nvSpPr>
        <p:spPr>
          <a:xfrm>
            <a:off x="7899400" y="4508500"/>
            <a:ext cx="355600" cy="355600"/>
          </a:xfrm>
          <a:prstGeom prst="ellipse">
            <a:avLst/>
          </a:prstGeom>
          <a:solidFill>
            <a:srgbClr val="6D28D9"/>
          </a:solidFill>
          <a:ln/>
        </p:spPr>
      </p:sp>
      <p:sp>
        <p:nvSpPr>
          <p:cNvPr id="19" name="Text 17"/>
          <p:cNvSpPr txBox="1"/>
          <p:nvPr/>
        </p:nvSpPr>
        <p:spPr>
          <a:xfrm>
            <a:off x="7899400" y="4508500"/>
            <a:ext cx="355600" cy="355600"/>
          </a:xfrm>
          <a:prstGeom prst="rect">
            <a:avLst/>
          </a:prstGeom>
          <a:noFill/>
          <a:ln/>
        </p:spPr>
        <p:txBody>
          <a:bodyPr wrap="square" lIns="0" tIns="0" rIns="0" bIns="0" rtlCol="0" anchor="ctr"/>
          <a:lstStyle/>
          <a:p>
            <a:pPr marL="0" indent="0" algn="ctr">
              <a:buNone/>
            </a:pPr>
            <a:r>
              <a:rPr lang="en-US" sz="1600" dirty="0">
                <a:solidFill>
                  <a:srgbClr val="F6F4FB"/>
                </a:solidFill>
                <a:latin typeface="Segoe UI Semibold" pitchFamily="34" charset="0"/>
                <a:ea typeface="Segoe UI Semibold" pitchFamily="34" charset="-122"/>
                <a:cs typeface="Segoe UI Semibold" pitchFamily="34" charset="-120"/>
              </a:rPr>
              <a:t>6</a:t>
            </a:r>
            <a:endParaRPr lang="en-US" sz="1600" dirty="0"/>
          </a:p>
        </p:txBody>
      </p:sp>
      <p:sp>
        <p:nvSpPr>
          <p:cNvPr id="20" name="Text 18"/>
          <p:cNvSpPr txBox="1"/>
          <p:nvPr/>
        </p:nvSpPr>
        <p:spPr>
          <a:xfrm>
            <a:off x="8407400" y="4508500"/>
            <a:ext cx="2794000" cy="787400"/>
          </a:xfrm>
          <a:prstGeom prst="rect">
            <a:avLst/>
          </a:prstGeom>
          <a:noFill/>
          <a:ln/>
        </p:spPr>
        <p:txBody>
          <a:bodyPr wrap="square" lIns="0" tIns="0" rIns="0" bIns="0" rtlCol="0" anchor="t"/>
          <a:lstStyle/>
          <a:p>
            <a:pPr marL="0" indent="0">
              <a:lnSpc>
                <a:spcPct val="125000"/>
              </a:lnSpc>
              <a:buNone/>
            </a:pPr>
            <a:r>
              <a:rPr lang="en-US" sz="1300" b="1" dirty="0">
                <a:solidFill>
                  <a:srgbClr val="1B1838"/>
                </a:solidFill>
                <a:latin typeface="Segoe UI" pitchFamily="34" charset="0"/>
                <a:ea typeface="Segoe UI" pitchFamily="34" charset="-122"/>
                <a:cs typeface="Segoe UI" pitchFamily="34" charset="-120"/>
              </a:rPr>
              <a:t>Hitung rata-rata</a:t>
            </a:r>
            <a:r>
              <a:rPr lang="en-US" sz="1300" dirty="0">
                <a:solidFill>
                  <a:srgbClr val="4A4766"/>
                </a:solidFill>
                <a:latin typeface="Segoe UI" pitchFamily="34" charset="0"/>
                <a:ea typeface="Segoe UI" pitchFamily="34" charset="-122"/>
                <a:cs typeface="Segoe UI" pitchFamily="34" charset="-120"/>
              </a:rPr>
              <a:t>, lalu tampilkan Total dan Tertinggi dengan cara yang sama.</a:t>
            </a:r>
            <a:endParaRPr lang="en-US" sz="1300" dirty="0"/>
          </a:p>
        </p:txBody>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A78BFA"/>
                </a:solidFill>
                <a:latin typeface="Segoe UI" pitchFamily="34" charset="0"/>
                <a:ea typeface="Segoe UI" pitchFamily="34" charset="-122"/>
                <a:cs typeface="Segoe UI" pitchFamily="34" charset="-120"/>
              </a:rPr>
              <a:t>HASIL</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F6F4FB"/>
                </a:solidFill>
                <a:latin typeface="Segoe UI Semibold" pitchFamily="34" charset="0"/>
                <a:ea typeface="Segoe UI Semibold" pitchFamily="34" charset="-122"/>
                <a:cs typeface="Segoe UI Semibold" pitchFamily="34" charset="-120"/>
              </a:rPr>
              <a:t>Program saat dijalankan</a:t>
            </a:r>
            <a:endParaRPr lang="en-US" sz="3600" dirty="0"/>
          </a:p>
        </p:txBody>
      </p:sp>
      <p:sp>
        <p:nvSpPr>
          <p:cNvPr id="4" name="Shape 2"/>
          <p:cNvSpPr/>
          <p:nvPr/>
        </p:nvSpPr>
        <p:spPr>
          <a:xfrm>
            <a:off x="812800" y="1905000"/>
            <a:ext cx="3384550" cy="2921000"/>
          </a:xfrm>
          <a:prstGeom prst="roundRect">
            <a:avLst>
              <a:gd name="adj" fmla="val 4348"/>
            </a:avLst>
          </a:prstGeom>
          <a:solidFill>
            <a:srgbClr val="0A0918"/>
          </a:solidFill>
          <a:ln w="12700">
            <a:solidFill>
              <a:srgbClr val="2E2A52"/>
            </a:solidFill>
            <a:prstDash val="solid"/>
          </a:ln>
        </p:spPr>
      </p:sp>
      <p:sp>
        <p:nvSpPr>
          <p:cNvPr id="5" name="Text 3"/>
          <p:cNvSpPr txBox="1"/>
          <p:nvPr/>
        </p:nvSpPr>
        <p:spPr>
          <a:xfrm>
            <a:off x="1016000" y="2082800"/>
            <a:ext cx="2978150" cy="228600"/>
          </a:xfrm>
          <a:prstGeom prst="rect">
            <a:avLst/>
          </a:prstGeom>
          <a:noFill/>
          <a:ln/>
        </p:spPr>
        <p:txBody>
          <a:bodyPr wrap="square" lIns="0" tIns="0" rIns="0" bIns="0" rtlCol="0" anchor="t"/>
          <a:lstStyle/>
          <a:p>
            <a:pPr marL="0" indent="0">
              <a:buNone/>
            </a:pPr>
            <a:r>
              <a:rPr lang="en-US" sz="1200" b="1" kern="0" spc="200" dirty="0">
                <a:solidFill>
                  <a:srgbClr val="8A86A8"/>
                </a:solidFill>
                <a:latin typeface="Segoe UI" pitchFamily="34" charset="0"/>
                <a:ea typeface="Segoe UI" pitchFamily="34" charset="-122"/>
                <a:cs typeface="Segoe UI" pitchFamily="34" charset="-120"/>
              </a:rPr>
              <a:t>1 · INPUT USER</a:t>
            </a:r>
            <a:endParaRPr lang="en-US" sz="1200" dirty="0"/>
          </a:p>
        </p:txBody>
      </p:sp>
      <p:sp>
        <p:nvSpPr>
          <p:cNvPr id="6" name="Text 4"/>
          <p:cNvSpPr txBox="1"/>
          <p:nvPr/>
        </p:nvSpPr>
        <p:spPr>
          <a:xfrm>
            <a:off x="1016000" y="2413000"/>
            <a:ext cx="2978150" cy="2260600"/>
          </a:xfrm>
          <a:prstGeom prst="rect">
            <a:avLst/>
          </a:prstGeom>
          <a:noFill/>
          <a:ln/>
        </p:spPr>
        <p:txBody>
          <a:bodyPr wrap="square" lIns="0" tIns="0" rIns="0" bIns="0" rtlCol="0" anchor="t"/>
          <a:lstStyle/>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Jumlah mahasiswa: </a:t>
            </a:r>
            <a:r>
              <a:rPr lang="en-US" sz="1300" dirty="0">
                <a:solidFill>
                  <a:srgbClr val="FBBF24"/>
                </a:solidFill>
                <a:latin typeface="Consolas" pitchFamily="34" charset="0"/>
                <a:ea typeface="Consolas" pitchFamily="34" charset="-122"/>
                <a:cs typeface="Consolas" pitchFamily="34" charset="-120"/>
              </a:rPr>
              <a:t>3</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Nama ke-1: </a:t>
            </a:r>
            <a:r>
              <a:rPr lang="en-US" sz="1300" dirty="0">
                <a:solidFill>
                  <a:srgbClr val="FBBF24"/>
                </a:solidFill>
                <a:latin typeface="Consolas" pitchFamily="34" charset="0"/>
                <a:ea typeface="Consolas" pitchFamily="34" charset="-122"/>
                <a:cs typeface="Consolas" pitchFamily="34" charset="-120"/>
              </a:rPr>
              <a:t>Andi</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Nilai Andi: </a:t>
            </a:r>
            <a:r>
              <a:rPr lang="en-US" sz="1300" dirty="0">
                <a:solidFill>
                  <a:srgbClr val="FBBF24"/>
                </a:solidFill>
                <a:latin typeface="Consolas" pitchFamily="34" charset="0"/>
                <a:ea typeface="Consolas" pitchFamily="34" charset="-122"/>
                <a:cs typeface="Consolas" pitchFamily="34" charset="-120"/>
              </a:rPr>
              <a:t>80</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Nama ke-2: </a:t>
            </a:r>
            <a:r>
              <a:rPr lang="en-US" sz="1300" dirty="0">
                <a:solidFill>
                  <a:srgbClr val="FBBF24"/>
                </a:solidFill>
                <a:latin typeface="Consolas" pitchFamily="34" charset="0"/>
                <a:ea typeface="Consolas" pitchFamily="34" charset="-122"/>
                <a:cs typeface="Consolas" pitchFamily="34" charset="-120"/>
              </a:rPr>
              <a:t>Budi</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Nilai Budi: </a:t>
            </a:r>
            <a:r>
              <a:rPr lang="en-US" sz="1300" dirty="0">
                <a:solidFill>
                  <a:srgbClr val="FBBF24"/>
                </a:solidFill>
                <a:latin typeface="Consolas" pitchFamily="34" charset="0"/>
                <a:ea typeface="Consolas" pitchFamily="34" charset="-122"/>
                <a:cs typeface="Consolas" pitchFamily="34" charset="-120"/>
              </a:rPr>
              <a:t>90</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Nama ke-3: </a:t>
            </a:r>
            <a:r>
              <a:rPr lang="en-US" sz="1300" dirty="0">
                <a:solidFill>
                  <a:srgbClr val="FBBF24"/>
                </a:solidFill>
                <a:latin typeface="Consolas" pitchFamily="34" charset="0"/>
                <a:ea typeface="Consolas" pitchFamily="34" charset="-122"/>
                <a:cs typeface="Consolas" pitchFamily="34" charset="-120"/>
              </a:rPr>
              <a:t>Citra</a:t>
            </a:r>
            <a:endParaRPr lang="en-US" sz="1300" dirty="0"/>
          </a:p>
          <a:p>
            <a:pPr marL="0" indent="0">
              <a:lnSpc>
                <a:spcPct val="130000"/>
              </a:lnSpc>
              <a:buNone/>
            </a:pPr>
            <a:r>
              <a:rPr lang="en-US" sz="1300" dirty="0">
                <a:solidFill>
                  <a:srgbClr val="E6E3F5"/>
                </a:solidFill>
                <a:latin typeface="Consolas" pitchFamily="34" charset="0"/>
                <a:ea typeface="Consolas" pitchFamily="34" charset="-122"/>
                <a:cs typeface="Consolas" pitchFamily="34" charset="-120"/>
              </a:rPr>
              <a:t>Nilai Citra: </a:t>
            </a:r>
            <a:r>
              <a:rPr lang="en-US" sz="1300" dirty="0">
                <a:solidFill>
                  <a:srgbClr val="FBBF24"/>
                </a:solidFill>
                <a:latin typeface="Consolas" pitchFamily="34" charset="0"/>
                <a:ea typeface="Consolas" pitchFamily="34" charset="-122"/>
                <a:cs typeface="Consolas" pitchFamily="34" charset="-120"/>
              </a:rPr>
              <a:t>85</a:t>
            </a:r>
            <a:endParaRPr lang="en-US" sz="1300" dirty="0"/>
          </a:p>
        </p:txBody>
      </p:sp>
      <p:sp>
        <p:nvSpPr>
          <p:cNvPr id="7" name="Shape 5"/>
          <p:cNvSpPr/>
          <p:nvPr/>
        </p:nvSpPr>
        <p:spPr>
          <a:xfrm>
            <a:off x="4400550" y="1905000"/>
            <a:ext cx="3384550" cy="2921000"/>
          </a:xfrm>
          <a:prstGeom prst="roundRect">
            <a:avLst>
              <a:gd name="adj" fmla="val 4348"/>
            </a:avLst>
          </a:prstGeom>
          <a:solidFill>
            <a:srgbClr val="1D1A3A"/>
          </a:solidFill>
          <a:ln w="12700">
            <a:solidFill>
              <a:srgbClr val="2E2A52"/>
            </a:solidFill>
            <a:prstDash val="solid"/>
          </a:ln>
        </p:spPr>
      </p:sp>
      <p:sp>
        <p:nvSpPr>
          <p:cNvPr id="8" name="Text 6"/>
          <p:cNvSpPr txBox="1"/>
          <p:nvPr/>
        </p:nvSpPr>
        <p:spPr>
          <a:xfrm>
            <a:off x="4603750" y="2082800"/>
            <a:ext cx="2978150" cy="228600"/>
          </a:xfrm>
          <a:prstGeom prst="rect">
            <a:avLst/>
          </a:prstGeom>
          <a:noFill/>
          <a:ln/>
        </p:spPr>
        <p:txBody>
          <a:bodyPr wrap="square" lIns="0" tIns="0" rIns="0" bIns="0" rtlCol="0" anchor="t"/>
          <a:lstStyle/>
          <a:p>
            <a:pPr marL="0" indent="0">
              <a:buNone/>
            </a:pPr>
            <a:r>
              <a:rPr lang="en-US" sz="1200" b="1" kern="0" spc="200" dirty="0">
                <a:solidFill>
                  <a:srgbClr val="A78BFA"/>
                </a:solidFill>
                <a:latin typeface="Segoe UI" pitchFamily="34" charset="0"/>
                <a:ea typeface="Segoe UI" pitchFamily="34" charset="-122"/>
                <a:cs typeface="Segoe UI" pitchFamily="34" charset="-120"/>
              </a:rPr>
              <a:t>2 · ISI ARRAY</a:t>
            </a:r>
            <a:endParaRPr lang="en-US" sz="1200" dirty="0"/>
          </a:p>
        </p:txBody>
      </p:sp>
      <p:sp>
        <p:nvSpPr>
          <p:cNvPr id="9" name="Text 7"/>
          <p:cNvSpPr txBox="1"/>
          <p:nvPr/>
        </p:nvSpPr>
        <p:spPr>
          <a:xfrm>
            <a:off x="4603750" y="2438400"/>
            <a:ext cx="2978150" cy="215900"/>
          </a:xfrm>
          <a:prstGeom prst="rect">
            <a:avLst/>
          </a:prstGeom>
          <a:noFill/>
          <a:ln/>
        </p:spPr>
        <p:txBody>
          <a:bodyPr wrap="square" lIns="0" tIns="0" rIns="0" bIns="0" rtlCol="0" anchor="t"/>
          <a:lstStyle/>
          <a:p>
            <a:pPr marL="0" indent="0">
              <a:buNone/>
            </a:pPr>
            <a:r>
              <a:rPr lang="en-US" sz="1200" dirty="0">
                <a:solidFill>
                  <a:srgbClr val="8A86A8"/>
                </a:solidFill>
                <a:latin typeface="Consolas" pitchFamily="34" charset="0"/>
                <a:ea typeface="Consolas" pitchFamily="34" charset="-122"/>
                <a:cs typeface="Consolas" pitchFamily="34" charset="-120"/>
              </a:rPr>
              <a:t>nama[]</a:t>
            </a:r>
            <a:endParaRPr lang="en-US" sz="1200" dirty="0"/>
          </a:p>
        </p:txBody>
      </p:sp>
      <p:sp>
        <p:nvSpPr>
          <p:cNvPr id="10" name="Shape 8"/>
          <p:cNvSpPr/>
          <p:nvPr/>
        </p:nvSpPr>
        <p:spPr>
          <a:xfrm>
            <a:off x="4603750" y="2717800"/>
            <a:ext cx="933450" cy="508000"/>
          </a:xfrm>
          <a:prstGeom prst="roundRect">
            <a:avLst>
              <a:gd name="adj" fmla="val 15000"/>
            </a:avLst>
          </a:prstGeom>
          <a:solidFill>
            <a:srgbClr val="2E2766"/>
          </a:solidFill>
          <a:ln w="25400">
            <a:solidFill>
              <a:srgbClr val="A78BFA"/>
            </a:solidFill>
            <a:prstDash val="solid"/>
          </a:ln>
        </p:spPr>
      </p:sp>
      <p:sp>
        <p:nvSpPr>
          <p:cNvPr id="11" name="Text 9"/>
          <p:cNvSpPr txBox="1"/>
          <p:nvPr/>
        </p:nvSpPr>
        <p:spPr>
          <a:xfrm>
            <a:off x="4603750" y="2717800"/>
            <a:ext cx="933450" cy="508000"/>
          </a:xfrm>
          <a:prstGeom prst="rect">
            <a:avLst/>
          </a:prstGeom>
          <a:noFill/>
          <a:ln/>
        </p:spPr>
        <p:txBody>
          <a:bodyPr wrap="square" lIns="0" tIns="0" rIns="0" bIns="0" rtlCol="0" anchor="ctr"/>
          <a:lstStyle/>
          <a:p>
            <a:pPr marL="0" indent="0" algn="ctr">
              <a:buNone/>
            </a:pPr>
            <a:r>
              <a:rPr lang="en-US" sz="1400" b="1" dirty="0">
                <a:solidFill>
                  <a:srgbClr val="F6F4FB"/>
                </a:solidFill>
                <a:latin typeface="Segoe UI" pitchFamily="34" charset="0"/>
                <a:ea typeface="Segoe UI" pitchFamily="34" charset="-122"/>
                <a:cs typeface="Segoe UI" pitchFamily="34" charset="-120"/>
              </a:rPr>
              <a:t>Andi</a:t>
            </a:r>
            <a:endParaRPr lang="en-US" sz="1400" dirty="0"/>
          </a:p>
        </p:txBody>
      </p:sp>
      <p:sp>
        <p:nvSpPr>
          <p:cNvPr id="12" name="Shape 10"/>
          <p:cNvSpPr/>
          <p:nvPr/>
        </p:nvSpPr>
        <p:spPr>
          <a:xfrm>
            <a:off x="5626100" y="2717800"/>
            <a:ext cx="933450" cy="508000"/>
          </a:xfrm>
          <a:prstGeom prst="roundRect">
            <a:avLst>
              <a:gd name="adj" fmla="val 15000"/>
            </a:avLst>
          </a:prstGeom>
          <a:solidFill>
            <a:srgbClr val="2E2766"/>
          </a:solidFill>
          <a:ln w="25400">
            <a:solidFill>
              <a:srgbClr val="A78BFA"/>
            </a:solidFill>
            <a:prstDash val="solid"/>
          </a:ln>
        </p:spPr>
      </p:sp>
      <p:sp>
        <p:nvSpPr>
          <p:cNvPr id="13" name="Text 11"/>
          <p:cNvSpPr txBox="1"/>
          <p:nvPr/>
        </p:nvSpPr>
        <p:spPr>
          <a:xfrm>
            <a:off x="5626100" y="2717800"/>
            <a:ext cx="933450" cy="508000"/>
          </a:xfrm>
          <a:prstGeom prst="rect">
            <a:avLst/>
          </a:prstGeom>
          <a:noFill/>
          <a:ln/>
        </p:spPr>
        <p:txBody>
          <a:bodyPr wrap="square" lIns="0" tIns="0" rIns="0" bIns="0" rtlCol="0" anchor="ctr"/>
          <a:lstStyle/>
          <a:p>
            <a:pPr marL="0" indent="0" algn="ctr">
              <a:buNone/>
            </a:pPr>
            <a:r>
              <a:rPr lang="en-US" sz="1400" b="1" dirty="0">
                <a:solidFill>
                  <a:srgbClr val="F6F4FB"/>
                </a:solidFill>
                <a:latin typeface="Segoe UI" pitchFamily="34" charset="0"/>
                <a:ea typeface="Segoe UI" pitchFamily="34" charset="-122"/>
                <a:cs typeface="Segoe UI" pitchFamily="34" charset="-120"/>
              </a:rPr>
              <a:t>Budi</a:t>
            </a:r>
            <a:endParaRPr lang="en-US" sz="1400" dirty="0"/>
          </a:p>
        </p:txBody>
      </p:sp>
      <p:sp>
        <p:nvSpPr>
          <p:cNvPr id="14" name="Shape 12"/>
          <p:cNvSpPr/>
          <p:nvPr/>
        </p:nvSpPr>
        <p:spPr>
          <a:xfrm>
            <a:off x="6648450" y="2717800"/>
            <a:ext cx="933450" cy="508000"/>
          </a:xfrm>
          <a:prstGeom prst="roundRect">
            <a:avLst>
              <a:gd name="adj" fmla="val 15000"/>
            </a:avLst>
          </a:prstGeom>
          <a:solidFill>
            <a:srgbClr val="2E2766"/>
          </a:solidFill>
          <a:ln w="25400">
            <a:solidFill>
              <a:srgbClr val="A78BFA"/>
            </a:solidFill>
            <a:prstDash val="solid"/>
          </a:ln>
        </p:spPr>
      </p:sp>
      <p:sp>
        <p:nvSpPr>
          <p:cNvPr id="15" name="Text 13"/>
          <p:cNvSpPr txBox="1"/>
          <p:nvPr/>
        </p:nvSpPr>
        <p:spPr>
          <a:xfrm>
            <a:off x="6648450" y="2717800"/>
            <a:ext cx="933450" cy="508000"/>
          </a:xfrm>
          <a:prstGeom prst="rect">
            <a:avLst/>
          </a:prstGeom>
          <a:noFill/>
          <a:ln/>
        </p:spPr>
        <p:txBody>
          <a:bodyPr wrap="square" lIns="0" tIns="0" rIns="0" bIns="0" rtlCol="0" anchor="ctr"/>
          <a:lstStyle/>
          <a:p>
            <a:pPr marL="0" indent="0" algn="ctr">
              <a:buNone/>
            </a:pPr>
            <a:r>
              <a:rPr lang="en-US" sz="1400" b="1" dirty="0">
                <a:solidFill>
                  <a:srgbClr val="F6F4FB"/>
                </a:solidFill>
                <a:latin typeface="Segoe UI" pitchFamily="34" charset="0"/>
                <a:ea typeface="Segoe UI" pitchFamily="34" charset="-122"/>
                <a:cs typeface="Segoe UI" pitchFamily="34" charset="-120"/>
              </a:rPr>
              <a:t>Citra</a:t>
            </a:r>
            <a:endParaRPr lang="en-US" sz="1400" dirty="0"/>
          </a:p>
        </p:txBody>
      </p:sp>
      <p:sp>
        <p:nvSpPr>
          <p:cNvPr id="16" name="Text 14"/>
          <p:cNvSpPr txBox="1"/>
          <p:nvPr/>
        </p:nvSpPr>
        <p:spPr>
          <a:xfrm>
            <a:off x="4603750" y="3390900"/>
            <a:ext cx="2978150" cy="215900"/>
          </a:xfrm>
          <a:prstGeom prst="rect">
            <a:avLst/>
          </a:prstGeom>
          <a:noFill/>
          <a:ln/>
        </p:spPr>
        <p:txBody>
          <a:bodyPr wrap="square" lIns="0" tIns="0" rIns="0" bIns="0" rtlCol="0" anchor="t"/>
          <a:lstStyle/>
          <a:p>
            <a:pPr marL="0" indent="0">
              <a:buNone/>
            </a:pPr>
            <a:r>
              <a:rPr lang="en-US" sz="1200" dirty="0">
                <a:solidFill>
                  <a:srgbClr val="8A86A8"/>
                </a:solidFill>
                <a:latin typeface="Consolas" pitchFamily="34" charset="0"/>
                <a:ea typeface="Consolas" pitchFamily="34" charset="-122"/>
                <a:cs typeface="Consolas" pitchFamily="34" charset="-120"/>
              </a:rPr>
              <a:t>nilai[]</a:t>
            </a:r>
            <a:endParaRPr lang="en-US" sz="1200" dirty="0"/>
          </a:p>
        </p:txBody>
      </p:sp>
      <p:sp>
        <p:nvSpPr>
          <p:cNvPr id="17" name="Shape 15"/>
          <p:cNvSpPr/>
          <p:nvPr/>
        </p:nvSpPr>
        <p:spPr>
          <a:xfrm>
            <a:off x="4603750" y="3670300"/>
            <a:ext cx="933450" cy="508000"/>
          </a:xfrm>
          <a:prstGeom prst="roundRect">
            <a:avLst>
              <a:gd name="adj" fmla="val 15000"/>
            </a:avLst>
          </a:prstGeom>
          <a:solidFill>
            <a:srgbClr val="2E2766"/>
          </a:solidFill>
          <a:ln w="25400">
            <a:solidFill>
              <a:srgbClr val="A78BFA"/>
            </a:solidFill>
            <a:prstDash val="solid"/>
          </a:ln>
        </p:spPr>
      </p:sp>
      <p:sp>
        <p:nvSpPr>
          <p:cNvPr id="18" name="Text 16"/>
          <p:cNvSpPr txBox="1"/>
          <p:nvPr/>
        </p:nvSpPr>
        <p:spPr>
          <a:xfrm>
            <a:off x="4603750" y="3670300"/>
            <a:ext cx="933450" cy="508000"/>
          </a:xfrm>
          <a:prstGeom prst="rect">
            <a:avLst/>
          </a:prstGeom>
          <a:noFill/>
          <a:ln/>
        </p:spPr>
        <p:txBody>
          <a:bodyPr wrap="square" lIns="0" tIns="0" rIns="0" bIns="0" rtlCol="0" anchor="ctr"/>
          <a:lstStyle/>
          <a:p>
            <a:pPr marL="0" indent="0" algn="ctr">
              <a:buNone/>
            </a:pPr>
            <a:r>
              <a:rPr lang="en-US" sz="1400" b="1" dirty="0">
                <a:solidFill>
                  <a:srgbClr val="F6F4FB"/>
                </a:solidFill>
                <a:latin typeface="Segoe UI" pitchFamily="34" charset="0"/>
                <a:ea typeface="Segoe UI" pitchFamily="34" charset="-122"/>
                <a:cs typeface="Segoe UI" pitchFamily="34" charset="-120"/>
              </a:rPr>
              <a:t>80</a:t>
            </a:r>
            <a:endParaRPr lang="en-US" sz="1400" dirty="0"/>
          </a:p>
        </p:txBody>
      </p:sp>
      <p:sp>
        <p:nvSpPr>
          <p:cNvPr id="19" name="Shape 17"/>
          <p:cNvSpPr/>
          <p:nvPr/>
        </p:nvSpPr>
        <p:spPr>
          <a:xfrm>
            <a:off x="5626100" y="3670300"/>
            <a:ext cx="933450" cy="508000"/>
          </a:xfrm>
          <a:prstGeom prst="roundRect">
            <a:avLst>
              <a:gd name="adj" fmla="val 15000"/>
            </a:avLst>
          </a:prstGeom>
          <a:solidFill>
            <a:srgbClr val="F59E0B"/>
          </a:solidFill>
          <a:ln w="25400">
            <a:solidFill>
              <a:srgbClr val="F59E0B"/>
            </a:solidFill>
            <a:prstDash val="solid"/>
          </a:ln>
        </p:spPr>
      </p:sp>
      <p:sp>
        <p:nvSpPr>
          <p:cNvPr id="20" name="Text 18"/>
          <p:cNvSpPr txBox="1"/>
          <p:nvPr/>
        </p:nvSpPr>
        <p:spPr>
          <a:xfrm>
            <a:off x="5626100" y="3670300"/>
            <a:ext cx="933450" cy="508000"/>
          </a:xfrm>
          <a:prstGeom prst="rect">
            <a:avLst/>
          </a:prstGeom>
          <a:noFill/>
          <a:ln/>
        </p:spPr>
        <p:txBody>
          <a:bodyPr wrap="square" lIns="0" tIns="0" rIns="0" bIns="0" rtlCol="0" anchor="ctr"/>
          <a:lstStyle/>
          <a:p>
            <a:pPr marL="0" indent="0" algn="ctr">
              <a:buNone/>
            </a:pPr>
            <a:r>
              <a:rPr lang="en-US" sz="1400" b="1" dirty="0">
                <a:solidFill>
                  <a:srgbClr val="1B1838"/>
                </a:solidFill>
                <a:latin typeface="Segoe UI" pitchFamily="34" charset="0"/>
                <a:ea typeface="Segoe UI" pitchFamily="34" charset="-122"/>
                <a:cs typeface="Segoe UI" pitchFamily="34" charset="-120"/>
              </a:rPr>
              <a:t>90</a:t>
            </a:r>
            <a:endParaRPr lang="en-US" sz="1400" dirty="0"/>
          </a:p>
        </p:txBody>
      </p:sp>
      <p:sp>
        <p:nvSpPr>
          <p:cNvPr id="21" name="Shape 19"/>
          <p:cNvSpPr/>
          <p:nvPr/>
        </p:nvSpPr>
        <p:spPr>
          <a:xfrm>
            <a:off x="6648450" y="3670300"/>
            <a:ext cx="933450" cy="508000"/>
          </a:xfrm>
          <a:prstGeom prst="roundRect">
            <a:avLst>
              <a:gd name="adj" fmla="val 15000"/>
            </a:avLst>
          </a:prstGeom>
          <a:solidFill>
            <a:srgbClr val="2E2766"/>
          </a:solidFill>
          <a:ln w="25400">
            <a:solidFill>
              <a:srgbClr val="A78BFA"/>
            </a:solidFill>
            <a:prstDash val="solid"/>
          </a:ln>
        </p:spPr>
      </p:sp>
      <p:sp>
        <p:nvSpPr>
          <p:cNvPr id="22" name="Text 20"/>
          <p:cNvSpPr txBox="1"/>
          <p:nvPr/>
        </p:nvSpPr>
        <p:spPr>
          <a:xfrm>
            <a:off x="6648450" y="3670300"/>
            <a:ext cx="933450" cy="508000"/>
          </a:xfrm>
          <a:prstGeom prst="rect">
            <a:avLst/>
          </a:prstGeom>
          <a:noFill/>
          <a:ln/>
        </p:spPr>
        <p:txBody>
          <a:bodyPr wrap="square" lIns="0" tIns="0" rIns="0" bIns="0" rtlCol="0" anchor="ctr"/>
          <a:lstStyle/>
          <a:p>
            <a:pPr marL="0" indent="0" algn="ctr">
              <a:buNone/>
            </a:pPr>
            <a:r>
              <a:rPr lang="en-US" sz="1400" b="1" dirty="0">
                <a:solidFill>
                  <a:srgbClr val="F6F4FB"/>
                </a:solidFill>
                <a:latin typeface="Segoe UI" pitchFamily="34" charset="0"/>
                <a:ea typeface="Segoe UI" pitchFamily="34" charset="-122"/>
                <a:cs typeface="Segoe UI" pitchFamily="34" charset="-120"/>
              </a:rPr>
              <a:t>85</a:t>
            </a:r>
            <a:endParaRPr lang="en-US" sz="1400" dirty="0"/>
          </a:p>
        </p:txBody>
      </p:sp>
      <p:sp>
        <p:nvSpPr>
          <p:cNvPr id="23" name="Text 21"/>
          <p:cNvSpPr txBox="1"/>
          <p:nvPr/>
        </p:nvSpPr>
        <p:spPr>
          <a:xfrm>
            <a:off x="4603750" y="4292600"/>
            <a:ext cx="933450" cy="215900"/>
          </a:xfrm>
          <a:prstGeom prst="rect">
            <a:avLst/>
          </a:prstGeom>
          <a:noFill/>
          <a:ln/>
        </p:spPr>
        <p:txBody>
          <a:bodyPr wrap="square" lIns="0" tIns="0" rIns="0" bIns="0" rtlCol="0" anchor="t"/>
          <a:lstStyle/>
          <a:p>
            <a:pPr marL="0" indent="0" algn="ctr">
              <a:buNone/>
            </a:pPr>
            <a:r>
              <a:rPr lang="en-US" sz="1200" dirty="0">
                <a:solidFill>
                  <a:srgbClr val="8A86A8"/>
                </a:solidFill>
                <a:latin typeface="Consolas" pitchFamily="34" charset="0"/>
                <a:ea typeface="Consolas" pitchFamily="34" charset="-122"/>
                <a:cs typeface="Consolas" pitchFamily="34" charset="-120"/>
              </a:rPr>
              <a:t>[0]</a:t>
            </a:r>
            <a:endParaRPr lang="en-US" sz="1200" dirty="0"/>
          </a:p>
        </p:txBody>
      </p:sp>
      <p:sp>
        <p:nvSpPr>
          <p:cNvPr id="24" name="Text 22"/>
          <p:cNvSpPr txBox="1"/>
          <p:nvPr/>
        </p:nvSpPr>
        <p:spPr>
          <a:xfrm>
            <a:off x="5626100" y="4292600"/>
            <a:ext cx="933450" cy="215900"/>
          </a:xfrm>
          <a:prstGeom prst="rect">
            <a:avLst/>
          </a:prstGeom>
          <a:noFill/>
          <a:ln/>
        </p:spPr>
        <p:txBody>
          <a:bodyPr wrap="square" lIns="0" tIns="0" rIns="0" bIns="0" rtlCol="0" anchor="t"/>
          <a:lstStyle/>
          <a:p>
            <a:pPr marL="0" indent="0" algn="ctr">
              <a:buNone/>
            </a:pPr>
            <a:r>
              <a:rPr lang="en-US" sz="1200" dirty="0">
                <a:solidFill>
                  <a:srgbClr val="8A86A8"/>
                </a:solidFill>
                <a:latin typeface="Consolas" pitchFamily="34" charset="0"/>
                <a:ea typeface="Consolas" pitchFamily="34" charset="-122"/>
                <a:cs typeface="Consolas" pitchFamily="34" charset="-120"/>
              </a:rPr>
              <a:t>[1]</a:t>
            </a:r>
            <a:endParaRPr lang="en-US" sz="1200" dirty="0"/>
          </a:p>
        </p:txBody>
      </p:sp>
      <p:sp>
        <p:nvSpPr>
          <p:cNvPr id="25" name="Text 23"/>
          <p:cNvSpPr txBox="1"/>
          <p:nvPr/>
        </p:nvSpPr>
        <p:spPr>
          <a:xfrm>
            <a:off x="6648450" y="4292600"/>
            <a:ext cx="933450" cy="215900"/>
          </a:xfrm>
          <a:prstGeom prst="rect">
            <a:avLst/>
          </a:prstGeom>
          <a:noFill/>
          <a:ln/>
        </p:spPr>
        <p:txBody>
          <a:bodyPr wrap="square" lIns="0" tIns="0" rIns="0" bIns="0" rtlCol="0" anchor="t"/>
          <a:lstStyle/>
          <a:p>
            <a:pPr marL="0" indent="0" algn="ctr">
              <a:buNone/>
            </a:pPr>
            <a:r>
              <a:rPr lang="en-US" sz="1200" dirty="0">
                <a:solidFill>
                  <a:srgbClr val="8A86A8"/>
                </a:solidFill>
                <a:latin typeface="Consolas" pitchFamily="34" charset="0"/>
                <a:ea typeface="Consolas" pitchFamily="34" charset="-122"/>
                <a:cs typeface="Consolas" pitchFamily="34" charset="-120"/>
              </a:rPr>
              <a:t>[2]</a:t>
            </a:r>
            <a:endParaRPr lang="en-US" sz="1200" dirty="0"/>
          </a:p>
        </p:txBody>
      </p:sp>
      <p:sp>
        <p:nvSpPr>
          <p:cNvPr id="26" name="Shape 24"/>
          <p:cNvSpPr/>
          <p:nvPr/>
        </p:nvSpPr>
        <p:spPr>
          <a:xfrm>
            <a:off x="7988300" y="1905000"/>
            <a:ext cx="3390900" cy="2921000"/>
          </a:xfrm>
          <a:prstGeom prst="roundRect">
            <a:avLst>
              <a:gd name="adj" fmla="val 4348"/>
            </a:avLst>
          </a:prstGeom>
          <a:solidFill>
            <a:srgbClr val="0A0918"/>
          </a:solidFill>
          <a:ln w="12700">
            <a:solidFill>
              <a:srgbClr val="2E2A52"/>
            </a:solidFill>
            <a:prstDash val="solid"/>
          </a:ln>
        </p:spPr>
      </p:sp>
      <p:sp>
        <p:nvSpPr>
          <p:cNvPr id="27" name="Text 25"/>
          <p:cNvSpPr txBox="1"/>
          <p:nvPr/>
        </p:nvSpPr>
        <p:spPr>
          <a:xfrm>
            <a:off x="8191500" y="2082800"/>
            <a:ext cx="2984500" cy="228600"/>
          </a:xfrm>
          <a:prstGeom prst="rect">
            <a:avLst/>
          </a:prstGeom>
          <a:noFill/>
          <a:ln/>
        </p:spPr>
        <p:txBody>
          <a:bodyPr wrap="square" lIns="0" tIns="0" rIns="0" bIns="0" rtlCol="0" anchor="t"/>
          <a:lstStyle/>
          <a:p>
            <a:pPr marL="0" indent="0">
              <a:buNone/>
            </a:pPr>
            <a:r>
              <a:rPr lang="en-US" sz="1200" b="1" kern="0" spc="200" dirty="0">
                <a:solidFill>
                  <a:srgbClr val="8A86A8"/>
                </a:solidFill>
                <a:latin typeface="Segoe UI" pitchFamily="34" charset="0"/>
                <a:ea typeface="Segoe UI" pitchFamily="34" charset="-122"/>
                <a:cs typeface="Segoe UI" pitchFamily="34" charset="-120"/>
              </a:rPr>
              <a:t>3 · OUTPUT</a:t>
            </a:r>
            <a:endParaRPr lang="en-US" sz="1200" dirty="0"/>
          </a:p>
        </p:txBody>
      </p:sp>
      <p:sp>
        <p:nvSpPr>
          <p:cNvPr id="28" name="Text 26"/>
          <p:cNvSpPr txBox="1"/>
          <p:nvPr/>
        </p:nvSpPr>
        <p:spPr>
          <a:xfrm>
            <a:off x="8191500" y="2413000"/>
            <a:ext cx="2984500" cy="2260600"/>
          </a:xfrm>
          <a:prstGeom prst="rect">
            <a:avLst/>
          </a:prstGeom>
          <a:noFill/>
          <a:ln/>
        </p:spPr>
        <p:txBody>
          <a:bodyPr wrap="square" lIns="0" tIns="0" rIns="0" bIns="0" rtlCol="0" anchor="t"/>
          <a:lstStyle/>
          <a:p>
            <a:pPr marL="0" indent="0">
              <a:lnSpc>
                <a:spcPct val="130000"/>
              </a:lnSpc>
              <a:buNone/>
            </a:pPr>
            <a:r>
              <a:rPr lang="en-US" sz="1300" dirty="0">
                <a:solidFill>
                  <a:srgbClr val="C3E88D"/>
                </a:solidFill>
                <a:latin typeface="Consolas" pitchFamily="34" charset="0"/>
                <a:ea typeface="Consolas" pitchFamily="34" charset="-122"/>
                <a:cs typeface="Consolas" pitchFamily="34" charset="-120"/>
              </a:rPr>
              <a:t>=== Daftar Nilai ===</a:t>
            </a:r>
            <a:endParaRPr lang="en-US" sz="1300" dirty="0"/>
          </a:p>
          <a:p>
            <a:pPr marL="0" indent="0">
              <a:lnSpc>
                <a:spcPct val="130000"/>
              </a:lnSpc>
              <a:buNone/>
            </a:pPr>
            <a:r>
              <a:rPr lang="en-US" sz="1300" dirty="0">
                <a:solidFill>
                  <a:srgbClr val="C3E88D"/>
                </a:solidFill>
                <a:latin typeface="Consolas" pitchFamily="34" charset="0"/>
                <a:ea typeface="Consolas" pitchFamily="34" charset="-122"/>
                <a:cs typeface="Consolas" pitchFamily="34" charset="-120"/>
              </a:rPr>
              <a:t>1. Andi : 80</a:t>
            </a:r>
            <a:endParaRPr lang="en-US" sz="1300" dirty="0"/>
          </a:p>
          <a:p>
            <a:pPr marL="0" indent="0">
              <a:lnSpc>
                <a:spcPct val="130000"/>
              </a:lnSpc>
              <a:buNone/>
            </a:pPr>
            <a:r>
              <a:rPr lang="en-US" sz="1300" dirty="0">
                <a:solidFill>
                  <a:srgbClr val="C3E88D"/>
                </a:solidFill>
                <a:latin typeface="Consolas" pitchFamily="34" charset="0"/>
                <a:ea typeface="Consolas" pitchFamily="34" charset="-122"/>
                <a:cs typeface="Consolas" pitchFamily="34" charset="-120"/>
              </a:rPr>
              <a:t>2. Budi : 90</a:t>
            </a:r>
            <a:endParaRPr lang="en-US" sz="1300" dirty="0"/>
          </a:p>
          <a:p>
            <a:pPr marL="0" indent="0">
              <a:lnSpc>
                <a:spcPct val="130000"/>
              </a:lnSpc>
              <a:buNone/>
            </a:pPr>
            <a:r>
              <a:rPr lang="en-US" sz="1300" dirty="0">
                <a:solidFill>
                  <a:srgbClr val="C3E88D"/>
                </a:solidFill>
                <a:latin typeface="Consolas" pitchFamily="34" charset="0"/>
                <a:ea typeface="Consolas" pitchFamily="34" charset="-122"/>
                <a:cs typeface="Consolas" pitchFamily="34" charset="-120"/>
              </a:rPr>
              <a:t>3. Citra : 85</a:t>
            </a:r>
            <a:endParaRPr lang="en-US" sz="1300" dirty="0"/>
          </a:p>
          <a:p>
            <a:pPr marL="0" indent="0">
              <a:lnSpc>
                <a:spcPct val="130000"/>
              </a:lnSpc>
              <a:buNone/>
            </a:pPr>
            <a:r>
              <a:rPr lang="en-US" sz="1300" dirty="0">
                <a:solidFill>
                  <a:srgbClr val="C3E88D"/>
                </a:solidFill>
                <a:latin typeface="Consolas" pitchFamily="34" charset="0"/>
                <a:ea typeface="Consolas" pitchFamily="34" charset="-122"/>
                <a:cs typeface="Consolas" pitchFamily="34" charset="-120"/>
              </a:rPr>
              <a:t> </a:t>
            </a:r>
            <a:endParaRPr lang="en-US" sz="1300" dirty="0"/>
          </a:p>
          <a:p>
            <a:pPr marL="0" indent="0">
              <a:lnSpc>
                <a:spcPct val="130000"/>
              </a:lnSpc>
              <a:buNone/>
            </a:pPr>
            <a:r>
              <a:rPr lang="en-US" sz="1300" dirty="0">
                <a:solidFill>
                  <a:srgbClr val="C3E88D"/>
                </a:solidFill>
                <a:latin typeface="Consolas" pitchFamily="34" charset="0"/>
                <a:ea typeface="Consolas" pitchFamily="34" charset="-122"/>
                <a:cs typeface="Consolas" pitchFamily="34" charset="-120"/>
              </a:rPr>
              <a:t>Total     : 255</a:t>
            </a:r>
            <a:endParaRPr lang="en-US" sz="1300" dirty="0"/>
          </a:p>
          <a:p>
            <a:pPr marL="0" indent="0">
              <a:lnSpc>
                <a:spcPct val="130000"/>
              </a:lnSpc>
              <a:buNone/>
            </a:pPr>
            <a:r>
              <a:rPr lang="en-US" sz="1300" dirty="0">
                <a:solidFill>
                  <a:srgbClr val="C3E88D"/>
                </a:solidFill>
                <a:latin typeface="Consolas" pitchFamily="34" charset="0"/>
                <a:ea typeface="Consolas" pitchFamily="34" charset="-122"/>
                <a:cs typeface="Consolas" pitchFamily="34" charset="-120"/>
              </a:rPr>
              <a:t>Rata-rata : 85.00</a:t>
            </a:r>
            <a:endParaRPr lang="en-US" sz="1300" dirty="0"/>
          </a:p>
          <a:p>
            <a:pPr marL="0" indent="0">
              <a:lnSpc>
                <a:spcPct val="130000"/>
              </a:lnSpc>
              <a:buNone/>
            </a:pPr>
            <a:r>
              <a:rPr lang="en-US" sz="1300" dirty="0">
                <a:solidFill>
                  <a:srgbClr val="C3E88D"/>
                </a:solidFill>
                <a:latin typeface="Consolas" pitchFamily="34" charset="0"/>
                <a:ea typeface="Consolas" pitchFamily="34" charset="-122"/>
                <a:cs typeface="Consolas" pitchFamily="34" charset="-120"/>
              </a:rPr>
              <a:t>Tertinggi : 90</a:t>
            </a:r>
            <a:endParaRPr lang="en-US" sz="1300" dirty="0"/>
          </a:p>
        </p:txBody>
      </p:sp>
      <p:sp>
        <p:nvSpPr>
          <p:cNvPr id="29" name="Text 27"/>
          <p:cNvSpPr txBox="1"/>
          <p:nvPr/>
        </p:nvSpPr>
        <p:spPr>
          <a:xfrm>
            <a:off x="812800" y="5080000"/>
            <a:ext cx="10566400" cy="254000"/>
          </a:xfrm>
          <a:prstGeom prst="rect">
            <a:avLst/>
          </a:prstGeom>
          <a:noFill/>
          <a:ln/>
        </p:spPr>
        <p:txBody>
          <a:bodyPr wrap="square" lIns="0" tIns="0" rIns="0" bIns="0" rtlCol="0" anchor="t"/>
          <a:lstStyle/>
          <a:p>
            <a:pPr marL="0" indent="0">
              <a:buNone/>
            </a:pPr>
            <a:r>
              <a:rPr lang="en-US" sz="1300" dirty="0">
                <a:solidFill>
                  <a:srgbClr val="C9C4E0"/>
                </a:solidFill>
                <a:latin typeface="Segoe UI" pitchFamily="34" charset="0"/>
                <a:ea typeface="Segoe UI" pitchFamily="34" charset="-122"/>
                <a:cs typeface="Segoe UI" pitchFamily="34" charset="-120"/>
              </a:rPr>
              <a:t>Nilai tertinggi (90) ditandai oranye pada array nilai.</a:t>
            </a:r>
            <a:endParaRPr lang="en-US" sz="1300" dirty="0"/>
          </a:p>
        </p:txBody>
      </p:sp>
      <p:sp>
        <p:nvSpPr>
          <p:cNvPr id="30"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8A86A8"/>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12800" y="711200"/>
            <a:ext cx="10566400" cy="254000"/>
          </a:xfrm>
          <a:prstGeom prst="rect">
            <a:avLst/>
          </a:prstGeom>
          <a:noFill/>
          <a:ln/>
        </p:spPr>
        <p:txBody>
          <a:bodyPr wrap="square" lIns="0" tIns="0" rIns="0" bIns="0" rtlCol="0" anchor="t"/>
          <a:lstStyle/>
          <a:p>
            <a:pPr marL="0" indent="0" algn="l">
              <a:buNone/>
            </a:pPr>
            <a:r>
              <a:rPr lang="en-US" sz="1200" b="1" kern="0" spc="300" dirty="0">
                <a:solidFill>
                  <a:srgbClr val="6D28D9"/>
                </a:solidFill>
                <a:latin typeface="Segoe UI" pitchFamily="34" charset="0"/>
                <a:ea typeface="Segoe UI" pitchFamily="34" charset="-122"/>
                <a:cs typeface="Segoe UI" pitchFamily="34" charset="-120"/>
              </a:rPr>
              <a:t>RANGKUMAN</a:t>
            </a:r>
            <a:endParaRPr lang="en-US" sz="1200" dirty="0"/>
          </a:p>
        </p:txBody>
      </p:sp>
      <p:sp>
        <p:nvSpPr>
          <p:cNvPr id="3" name="Text 0"/>
          <p:cNvSpPr>
            <a:spLocks noGrp="1"/>
          </p:cNvSpPr>
          <p:nvPr>
            <p:ph type="title" idx="101" hasCustomPrompt="1"/>
          </p:nvPr>
        </p:nvSpPr>
        <p:spPr>
          <a:xfrm>
            <a:off x="812800" y="990600"/>
            <a:ext cx="10566400" cy="635000"/>
          </a:xfrm>
          <a:prstGeom prst="rect">
            <a:avLst/>
          </a:prstGeom>
          <a:noFill/>
          <a:ln/>
        </p:spPr>
        <p:txBody>
          <a:bodyPr wrap="square" lIns="0" tIns="0" rIns="0" bIns="0" rtlCol="0" anchor="ctr"/>
          <a:lstStyle/>
          <a:p>
            <a:pPr marL="0" indent="0" algn="l">
              <a:buNone/>
            </a:pPr>
            <a:r>
              <a:rPr lang="en-US" sz="3600" dirty="0">
                <a:solidFill>
                  <a:srgbClr val="1B1838"/>
                </a:solidFill>
                <a:latin typeface="Segoe UI Semibold" pitchFamily="34" charset="0"/>
                <a:ea typeface="Segoe UI Semibold" pitchFamily="34" charset="-122"/>
                <a:cs typeface="Segoe UI Semibold" pitchFamily="34" charset="-120"/>
              </a:rPr>
              <a:t>Kesimpulan</a:t>
            </a:r>
            <a:endParaRPr lang="en-US" sz="3600" dirty="0"/>
          </a:p>
        </p:txBody>
      </p:sp>
      <p:sp>
        <p:nvSpPr>
          <p:cNvPr id="4" name="Shape 2"/>
          <p:cNvSpPr/>
          <p:nvPr/>
        </p:nvSpPr>
        <p:spPr>
          <a:xfrm>
            <a:off x="812800" y="1879600"/>
            <a:ext cx="10566400" cy="0"/>
          </a:xfrm>
          <a:prstGeom prst="line">
            <a:avLst/>
          </a:prstGeom>
          <a:noFill/>
          <a:ln w="12700">
            <a:solidFill>
              <a:srgbClr val="DCD6EC"/>
            </a:solidFill>
            <a:prstDash val="solid"/>
          </a:ln>
        </p:spPr>
      </p:sp>
      <p:sp>
        <p:nvSpPr>
          <p:cNvPr id="5" name="Text 3"/>
          <p:cNvSpPr txBox="1"/>
          <p:nvPr/>
        </p:nvSpPr>
        <p:spPr>
          <a:xfrm>
            <a:off x="812800" y="1879600"/>
            <a:ext cx="698500" cy="711200"/>
          </a:xfrm>
          <a:prstGeom prst="rect">
            <a:avLst/>
          </a:prstGeom>
          <a:noFill/>
          <a:ln/>
        </p:spPr>
        <p:txBody>
          <a:bodyPr wrap="square" lIns="0" tIns="0" rIns="0" bIns="0" rtlCol="0" anchor="ctr"/>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01</a:t>
            </a:r>
            <a:endParaRPr lang="en-US" sz="2200" dirty="0"/>
          </a:p>
        </p:txBody>
      </p:sp>
      <p:sp>
        <p:nvSpPr>
          <p:cNvPr id="6" name="Text 4"/>
          <p:cNvSpPr txBox="1"/>
          <p:nvPr/>
        </p:nvSpPr>
        <p:spPr>
          <a:xfrm>
            <a:off x="1701800" y="1879600"/>
            <a:ext cx="9677400" cy="711200"/>
          </a:xfrm>
          <a:prstGeom prst="rect">
            <a:avLst/>
          </a:prstGeom>
          <a:noFill/>
          <a:ln/>
        </p:spPr>
        <p:txBody>
          <a:bodyPr wrap="square" lIns="0" tIns="0" rIns="0" bIns="0" rtlCol="0" anchor="ctr"/>
          <a:lstStyle/>
          <a:p>
            <a:pPr marL="0" indent="0">
              <a:buNone/>
            </a:pPr>
            <a:r>
              <a:rPr lang="en-US" sz="1600" dirty="0">
                <a:solidFill>
                  <a:srgbClr val="1B1838"/>
                </a:solidFill>
                <a:latin typeface="Segoe UI" pitchFamily="34" charset="0"/>
                <a:ea typeface="Segoe UI" pitchFamily="34" charset="-122"/>
                <a:cs typeface="Segoe UI" pitchFamily="34" charset="-120"/>
              </a:rPr>
              <a:t>Array menyimpan </a:t>
            </a:r>
            <a:r>
              <a:rPr lang="en-US" sz="1600" b="1" dirty="0">
                <a:solidFill>
                  <a:srgbClr val="1B1838"/>
                </a:solidFill>
                <a:latin typeface="Segoe UI" pitchFamily="34" charset="0"/>
                <a:ea typeface="Segoe UI" pitchFamily="34" charset="-122"/>
                <a:cs typeface="Segoe UI" pitchFamily="34" charset="-120"/>
              </a:rPr>
              <a:t>banyak data bertipe sama</a:t>
            </a:r>
            <a:r>
              <a:rPr lang="en-US" sz="1600" dirty="0">
                <a:solidFill>
                  <a:srgbClr val="1B1838"/>
                </a:solidFill>
                <a:latin typeface="Segoe UI" pitchFamily="34" charset="0"/>
                <a:ea typeface="Segoe UI" pitchFamily="34" charset="-122"/>
                <a:cs typeface="Segoe UI" pitchFamily="34" charset="-120"/>
              </a:rPr>
              <a:t> dalam satu variabel.</a:t>
            </a:r>
            <a:endParaRPr lang="en-US" sz="1600" dirty="0"/>
          </a:p>
        </p:txBody>
      </p:sp>
      <p:sp>
        <p:nvSpPr>
          <p:cNvPr id="7" name="Shape 5"/>
          <p:cNvSpPr/>
          <p:nvPr/>
        </p:nvSpPr>
        <p:spPr>
          <a:xfrm>
            <a:off x="812800" y="2590800"/>
            <a:ext cx="10566400" cy="0"/>
          </a:xfrm>
          <a:prstGeom prst="line">
            <a:avLst/>
          </a:prstGeom>
          <a:noFill/>
          <a:ln w="12700">
            <a:solidFill>
              <a:srgbClr val="DCD6EC"/>
            </a:solidFill>
            <a:prstDash val="solid"/>
          </a:ln>
        </p:spPr>
      </p:sp>
      <p:sp>
        <p:nvSpPr>
          <p:cNvPr id="8" name="Text 6"/>
          <p:cNvSpPr txBox="1"/>
          <p:nvPr/>
        </p:nvSpPr>
        <p:spPr>
          <a:xfrm>
            <a:off x="812800" y="2590800"/>
            <a:ext cx="698500" cy="711200"/>
          </a:xfrm>
          <a:prstGeom prst="rect">
            <a:avLst/>
          </a:prstGeom>
          <a:noFill/>
          <a:ln/>
        </p:spPr>
        <p:txBody>
          <a:bodyPr wrap="square" lIns="0" tIns="0" rIns="0" bIns="0" rtlCol="0" anchor="ctr"/>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02</a:t>
            </a:r>
            <a:endParaRPr lang="en-US" sz="2200" dirty="0"/>
          </a:p>
        </p:txBody>
      </p:sp>
      <p:sp>
        <p:nvSpPr>
          <p:cNvPr id="9" name="Text 7"/>
          <p:cNvSpPr txBox="1"/>
          <p:nvPr/>
        </p:nvSpPr>
        <p:spPr>
          <a:xfrm>
            <a:off x="1701800" y="2590800"/>
            <a:ext cx="9677400" cy="711200"/>
          </a:xfrm>
          <a:prstGeom prst="rect">
            <a:avLst/>
          </a:prstGeom>
          <a:noFill/>
          <a:ln/>
        </p:spPr>
        <p:txBody>
          <a:bodyPr wrap="square" lIns="0" tIns="0" rIns="0" bIns="0" rtlCol="0" anchor="ctr"/>
          <a:lstStyle/>
          <a:p>
            <a:pPr marL="0" indent="0">
              <a:buNone/>
            </a:pPr>
            <a:r>
              <a:rPr lang="en-US" sz="1600" dirty="0">
                <a:solidFill>
                  <a:srgbClr val="1B1838"/>
                </a:solidFill>
                <a:latin typeface="Segoe UI" pitchFamily="34" charset="0"/>
                <a:ea typeface="Segoe UI" pitchFamily="34" charset="-122"/>
                <a:cs typeface="Segoe UI" pitchFamily="34" charset="-120"/>
              </a:rPr>
              <a:t>Index dimulai dari </a:t>
            </a:r>
            <a:r>
              <a:rPr lang="en-US" sz="1600" b="1" dirty="0">
                <a:solidFill>
                  <a:srgbClr val="1B1838"/>
                </a:solidFill>
                <a:latin typeface="Segoe UI" pitchFamily="34" charset="0"/>
                <a:ea typeface="Segoe UI" pitchFamily="34" charset="-122"/>
                <a:cs typeface="Segoe UI" pitchFamily="34" charset="-120"/>
              </a:rPr>
              <a:t>0</a:t>
            </a:r>
            <a:r>
              <a:rPr lang="en-US" sz="1600" dirty="0">
                <a:solidFill>
                  <a:srgbClr val="1B1838"/>
                </a:solidFill>
                <a:latin typeface="Segoe UI" pitchFamily="34" charset="0"/>
                <a:ea typeface="Segoe UI" pitchFamily="34" charset="-122"/>
                <a:cs typeface="Segoe UI" pitchFamily="34" charset="-120"/>
              </a:rPr>
              <a:t>, elemen terakhir ada di </a:t>
            </a:r>
            <a:r>
              <a:rPr lang="en-US" sz="1600" b="1" dirty="0">
                <a:solidFill>
                  <a:srgbClr val="1B1838"/>
                </a:solidFill>
                <a:latin typeface="Segoe UI" pitchFamily="34" charset="0"/>
                <a:ea typeface="Segoe UI" pitchFamily="34" charset="-122"/>
                <a:cs typeface="Segoe UI" pitchFamily="34" charset="-120"/>
              </a:rPr>
              <a:t>Length − 1</a:t>
            </a:r>
            <a:r>
              <a:rPr lang="en-US" sz="1600" dirty="0">
                <a:solidFill>
                  <a:srgbClr val="1B1838"/>
                </a:solidFill>
                <a:latin typeface="Segoe UI" pitchFamily="34" charset="0"/>
                <a:ea typeface="Segoe UI" pitchFamily="34" charset="-122"/>
                <a:cs typeface="Segoe UI" pitchFamily="34" charset="-120"/>
              </a:rPr>
              <a:t>.</a:t>
            </a:r>
            <a:endParaRPr lang="en-US" sz="1600" dirty="0"/>
          </a:p>
        </p:txBody>
      </p:sp>
      <p:sp>
        <p:nvSpPr>
          <p:cNvPr id="10" name="Shape 8"/>
          <p:cNvSpPr/>
          <p:nvPr/>
        </p:nvSpPr>
        <p:spPr>
          <a:xfrm>
            <a:off x="812800" y="3302000"/>
            <a:ext cx="10566400" cy="0"/>
          </a:xfrm>
          <a:prstGeom prst="line">
            <a:avLst/>
          </a:prstGeom>
          <a:noFill/>
          <a:ln w="12700">
            <a:solidFill>
              <a:srgbClr val="DCD6EC"/>
            </a:solidFill>
            <a:prstDash val="solid"/>
          </a:ln>
        </p:spPr>
      </p:sp>
      <p:sp>
        <p:nvSpPr>
          <p:cNvPr id="11" name="Text 9"/>
          <p:cNvSpPr txBox="1"/>
          <p:nvPr/>
        </p:nvSpPr>
        <p:spPr>
          <a:xfrm>
            <a:off x="812800" y="3302000"/>
            <a:ext cx="698500" cy="711200"/>
          </a:xfrm>
          <a:prstGeom prst="rect">
            <a:avLst/>
          </a:prstGeom>
          <a:noFill/>
          <a:ln/>
        </p:spPr>
        <p:txBody>
          <a:bodyPr wrap="square" lIns="0" tIns="0" rIns="0" bIns="0" rtlCol="0" anchor="ctr"/>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03</a:t>
            </a:r>
            <a:endParaRPr lang="en-US" sz="2200" dirty="0"/>
          </a:p>
        </p:txBody>
      </p:sp>
      <p:sp>
        <p:nvSpPr>
          <p:cNvPr id="12" name="Text 10"/>
          <p:cNvSpPr txBox="1"/>
          <p:nvPr/>
        </p:nvSpPr>
        <p:spPr>
          <a:xfrm>
            <a:off x="1701800" y="3302000"/>
            <a:ext cx="9677400" cy="711200"/>
          </a:xfrm>
          <a:prstGeom prst="rect">
            <a:avLst/>
          </a:prstGeom>
          <a:noFill/>
          <a:ln/>
        </p:spPr>
        <p:txBody>
          <a:bodyPr wrap="square" lIns="0" tIns="0" rIns="0" bIns="0" rtlCol="0" anchor="ctr"/>
          <a:lstStyle/>
          <a:p>
            <a:pPr marL="0" indent="0">
              <a:buNone/>
            </a:pPr>
            <a:r>
              <a:rPr lang="en-US" sz="1600" dirty="0">
                <a:solidFill>
                  <a:srgbClr val="1B1838"/>
                </a:solidFill>
                <a:latin typeface="Segoe UI" pitchFamily="34" charset="0"/>
                <a:ea typeface="Segoe UI" pitchFamily="34" charset="-122"/>
                <a:cs typeface="Segoe UI" pitchFamily="34" charset="-120"/>
              </a:rPr>
              <a:t>Dibuat dengan </a:t>
            </a:r>
            <a:r>
              <a:rPr lang="en-US" sz="1600" b="1" dirty="0">
                <a:solidFill>
                  <a:srgbClr val="1B1838"/>
                </a:solidFill>
                <a:latin typeface="Segoe UI" pitchFamily="34" charset="0"/>
                <a:ea typeface="Segoe UI" pitchFamily="34" charset="-122"/>
                <a:cs typeface="Segoe UI" pitchFamily="34" charset="-120"/>
              </a:rPr>
              <a:t>tipe[] nama = new tipe[ukuran];</a:t>
            </a:r>
            <a:r>
              <a:rPr lang="en-US" sz="1600" dirty="0">
                <a:solidFill>
                  <a:srgbClr val="1B1838"/>
                </a:solidFill>
                <a:latin typeface="Segoe UI" pitchFamily="34" charset="0"/>
                <a:ea typeface="Segoe UI" pitchFamily="34" charset="-122"/>
                <a:cs typeface="Segoe UI" pitchFamily="34" charset="-120"/>
              </a:rPr>
              <a:t> atau langsung diisi </a:t>
            </a:r>
            <a:r>
              <a:rPr lang="en-US" sz="1600" b="1" dirty="0">
                <a:solidFill>
                  <a:srgbClr val="1B1838"/>
                </a:solidFill>
                <a:latin typeface="Segoe UI" pitchFamily="34" charset="0"/>
                <a:ea typeface="Segoe UI" pitchFamily="34" charset="-122"/>
                <a:cs typeface="Segoe UI" pitchFamily="34" charset="-120"/>
              </a:rPr>
              <a:t>{ ... }</a:t>
            </a:r>
            <a:r>
              <a:rPr lang="en-US" sz="1600" dirty="0">
                <a:solidFill>
                  <a:srgbClr val="1B1838"/>
                </a:solidFill>
                <a:latin typeface="Segoe UI" pitchFamily="34" charset="0"/>
                <a:ea typeface="Segoe UI" pitchFamily="34" charset="-122"/>
                <a:cs typeface="Segoe UI" pitchFamily="34" charset="-120"/>
              </a:rPr>
              <a:t>.</a:t>
            </a:r>
            <a:endParaRPr lang="en-US" sz="1600" dirty="0"/>
          </a:p>
        </p:txBody>
      </p:sp>
      <p:sp>
        <p:nvSpPr>
          <p:cNvPr id="13" name="Shape 11"/>
          <p:cNvSpPr/>
          <p:nvPr/>
        </p:nvSpPr>
        <p:spPr>
          <a:xfrm>
            <a:off x="812800" y="4013200"/>
            <a:ext cx="10566400" cy="0"/>
          </a:xfrm>
          <a:prstGeom prst="line">
            <a:avLst/>
          </a:prstGeom>
          <a:noFill/>
          <a:ln w="12700">
            <a:solidFill>
              <a:srgbClr val="DCD6EC"/>
            </a:solidFill>
            <a:prstDash val="solid"/>
          </a:ln>
        </p:spPr>
      </p:sp>
      <p:sp>
        <p:nvSpPr>
          <p:cNvPr id="14" name="Text 12"/>
          <p:cNvSpPr txBox="1"/>
          <p:nvPr/>
        </p:nvSpPr>
        <p:spPr>
          <a:xfrm>
            <a:off x="812800" y="4013200"/>
            <a:ext cx="698500" cy="711200"/>
          </a:xfrm>
          <a:prstGeom prst="rect">
            <a:avLst/>
          </a:prstGeom>
          <a:noFill/>
          <a:ln/>
        </p:spPr>
        <p:txBody>
          <a:bodyPr wrap="square" lIns="0" tIns="0" rIns="0" bIns="0" rtlCol="0" anchor="ctr"/>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04</a:t>
            </a:r>
            <a:endParaRPr lang="en-US" sz="2200" dirty="0"/>
          </a:p>
        </p:txBody>
      </p:sp>
      <p:sp>
        <p:nvSpPr>
          <p:cNvPr id="15" name="Text 13"/>
          <p:cNvSpPr txBox="1"/>
          <p:nvPr/>
        </p:nvSpPr>
        <p:spPr>
          <a:xfrm>
            <a:off x="1701800" y="4013200"/>
            <a:ext cx="9677400" cy="711200"/>
          </a:xfrm>
          <a:prstGeom prst="rect">
            <a:avLst/>
          </a:prstGeom>
          <a:noFill/>
          <a:ln/>
        </p:spPr>
        <p:txBody>
          <a:bodyPr wrap="square" lIns="0" tIns="0" rIns="0" bIns="0" rtlCol="0" anchor="ctr"/>
          <a:lstStyle/>
          <a:p>
            <a:pPr marL="0" indent="0">
              <a:buNone/>
            </a:pPr>
            <a:r>
              <a:rPr lang="en-US" sz="1600" dirty="0">
                <a:solidFill>
                  <a:srgbClr val="1B1838"/>
                </a:solidFill>
                <a:latin typeface="Segoe UI" pitchFamily="34" charset="0"/>
                <a:ea typeface="Segoe UI" pitchFamily="34" charset="-122"/>
                <a:cs typeface="Segoe UI" pitchFamily="34" charset="-120"/>
              </a:rPr>
              <a:t>Data </a:t>
            </a:r>
            <a:r>
              <a:rPr lang="en-US" sz="1600" b="1" dirty="0">
                <a:solidFill>
                  <a:srgbClr val="1B1838"/>
                </a:solidFill>
                <a:latin typeface="Segoe UI" pitchFamily="34" charset="0"/>
                <a:ea typeface="Segoe UI" pitchFamily="34" charset="-122"/>
                <a:cs typeface="Segoe UI" pitchFamily="34" charset="-120"/>
              </a:rPr>
              <a:t>disimpan</a:t>
            </a:r>
            <a:r>
              <a:rPr lang="en-US" sz="1600" dirty="0">
                <a:solidFill>
                  <a:srgbClr val="1B1838"/>
                </a:solidFill>
                <a:latin typeface="Segoe UI" pitchFamily="34" charset="0"/>
                <a:ea typeface="Segoe UI" pitchFamily="34" charset="-122"/>
                <a:cs typeface="Segoe UI" pitchFamily="34" charset="-120"/>
              </a:rPr>
              <a:t> lewat index atau perulangan for.</a:t>
            </a:r>
            <a:endParaRPr lang="en-US" sz="1600" dirty="0"/>
          </a:p>
        </p:txBody>
      </p:sp>
      <p:sp>
        <p:nvSpPr>
          <p:cNvPr id="16" name="Shape 14"/>
          <p:cNvSpPr/>
          <p:nvPr/>
        </p:nvSpPr>
        <p:spPr>
          <a:xfrm>
            <a:off x="812800" y="4724400"/>
            <a:ext cx="10566400" cy="0"/>
          </a:xfrm>
          <a:prstGeom prst="line">
            <a:avLst/>
          </a:prstGeom>
          <a:noFill/>
          <a:ln w="12700">
            <a:solidFill>
              <a:srgbClr val="DCD6EC"/>
            </a:solidFill>
            <a:prstDash val="solid"/>
          </a:ln>
        </p:spPr>
      </p:sp>
      <p:sp>
        <p:nvSpPr>
          <p:cNvPr id="17" name="Text 15"/>
          <p:cNvSpPr txBox="1"/>
          <p:nvPr/>
        </p:nvSpPr>
        <p:spPr>
          <a:xfrm>
            <a:off x="812800" y="4724400"/>
            <a:ext cx="698500" cy="711200"/>
          </a:xfrm>
          <a:prstGeom prst="rect">
            <a:avLst/>
          </a:prstGeom>
          <a:noFill/>
          <a:ln/>
        </p:spPr>
        <p:txBody>
          <a:bodyPr wrap="square" lIns="0" tIns="0" rIns="0" bIns="0" rtlCol="0" anchor="ctr"/>
          <a:lstStyle/>
          <a:p>
            <a:pPr marL="0" indent="0">
              <a:buNone/>
            </a:pPr>
            <a:r>
              <a:rPr lang="en-US" sz="2200" dirty="0">
                <a:solidFill>
                  <a:srgbClr val="6D28D9"/>
                </a:solidFill>
                <a:latin typeface="Segoe UI Semibold" pitchFamily="34" charset="0"/>
                <a:ea typeface="Segoe UI Semibold" pitchFamily="34" charset="-122"/>
                <a:cs typeface="Segoe UI Semibold" pitchFamily="34" charset="-120"/>
              </a:rPr>
              <a:t>05</a:t>
            </a:r>
            <a:endParaRPr lang="en-US" sz="2200" dirty="0"/>
          </a:p>
        </p:txBody>
      </p:sp>
      <p:sp>
        <p:nvSpPr>
          <p:cNvPr id="18" name="Text 16"/>
          <p:cNvSpPr txBox="1"/>
          <p:nvPr/>
        </p:nvSpPr>
        <p:spPr>
          <a:xfrm>
            <a:off x="1701800" y="4724400"/>
            <a:ext cx="9677400" cy="711200"/>
          </a:xfrm>
          <a:prstGeom prst="rect">
            <a:avLst/>
          </a:prstGeom>
          <a:noFill/>
          <a:ln/>
        </p:spPr>
        <p:txBody>
          <a:bodyPr wrap="square" lIns="0" tIns="0" rIns="0" bIns="0" rtlCol="0" anchor="ctr"/>
          <a:lstStyle/>
          <a:p>
            <a:pPr marL="0" indent="0">
              <a:buNone/>
            </a:pPr>
            <a:r>
              <a:rPr lang="en-US" sz="1600" dirty="0">
                <a:solidFill>
                  <a:srgbClr val="1B1838"/>
                </a:solidFill>
                <a:latin typeface="Segoe UI" pitchFamily="34" charset="0"/>
                <a:ea typeface="Segoe UI" pitchFamily="34" charset="-122"/>
                <a:cs typeface="Segoe UI" pitchFamily="34" charset="-120"/>
              </a:rPr>
              <a:t>Data </a:t>
            </a:r>
            <a:r>
              <a:rPr lang="en-US" sz="1600" b="1" dirty="0">
                <a:solidFill>
                  <a:srgbClr val="1B1838"/>
                </a:solidFill>
                <a:latin typeface="Segoe UI" pitchFamily="34" charset="0"/>
                <a:ea typeface="Segoe UI" pitchFamily="34" charset="-122"/>
                <a:cs typeface="Segoe UI" pitchFamily="34" charset="-120"/>
              </a:rPr>
              <a:t>dipanggil</a:t>
            </a:r>
            <a:r>
              <a:rPr lang="en-US" sz="1600" dirty="0">
                <a:solidFill>
                  <a:srgbClr val="1B1838"/>
                </a:solidFill>
                <a:latin typeface="Segoe UI" pitchFamily="34" charset="0"/>
                <a:ea typeface="Segoe UI" pitchFamily="34" charset="-122"/>
                <a:cs typeface="Segoe UI" pitchFamily="34" charset="-120"/>
              </a:rPr>
              <a:t> lewat index, for, foreach, atau string.Join.</a:t>
            </a:r>
            <a:endParaRPr lang="en-US" sz="1600" dirty="0"/>
          </a:p>
        </p:txBody>
      </p:sp>
      <p:sp>
        <p:nvSpPr>
          <p:cNvPr id="19" name="Shape 17"/>
          <p:cNvSpPr/>
          <p:nvPr/>
        </p:nvSpPr>
        <p:spPr>
          <a:xfrm>
            <a:off x="812800" y="5435600"/>
            <a:ext cx="10566400" cy="0"/>
          </a:xfrm>
          <a:prstGeom prst="line">
            <a:avLst/>
          </a:prstGeom>
          <a:noFill/>
          <a:ln w="12700">
            <a:solidFill>
              <a:srgbClr val="DCD6EC"/>
            </a:solidFill>
            <a:prstDash val="solid"/>
          </a:ln>
        </p:spPr>
      </p:sp>
      <p:sp>
        <p:nvSpPr>
          <p:cNvPr id="25" name="Slide Number Placeholder 0"/>
          <p:cNvSpPr>
            <a:spLocks noGrp="1"/>
          </p:cNvSpPr>
          <p:nvPr>
            <p:ph type="sldNum" sz="quarter" idx="4294967295"/>
          </p:nvPr>
        </p:nvSpPr>
        <p:spPr>
          <a:xfrm>
            <a:off x="10109200" y="6070600"/>
            <a:ext cx="1270000" cy="25400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200">
                <a:solidFill>
                  <a:srgbClr val="6B6789"/>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6350000" y="-1651000"/>
            <a:ext cx="7620000" cy="7620000"/>
          </a:xfrm>
          <a:prstGeom prst="ellipse">
            <a:avLst/>
          </a:prstGeom>
          <a:solidFill>
            <a:srgbClr val="2A2160"/>
          </a:solidFill>
          <a:ln/>
        </p:spPr>
      </p:sp>
      <p:sp>
        <p:nvSpPr>
          <p:cNvPr id="3" name="Kode"/>
          <p:cNvSpPr/>
          <p:nvPr/>
        </p:nvSpPr>
        <p:spPr>
          <a:xfrm>
            <a:off x="812800" y="1524000"/>
            <a:ext cx="4826000" cy="571500"/>
          </a:xfrm>
          <a:prstGeom prst="roundRect">
            <a:avLst>
              <a:gd name="adj" fmla="val 22222"/>
            </a:avLst>
          </a:prstGeom>
          <a:solidFill>
            <a:srgbClr val="0E0C1F"/>
          </a:solidFill>
          <a:ln w="12700">
            <a:solidFill>
              <a:srgbClr val="2E2A52"/>
            </a:solidFill>
            <a:prstDash val="solid"/>
          </a:ln>
        </p:spPr>
      </p:sp>
      <p:sp>
        <p:nvSpPr>
          <p:cNvPr id="4" name="Text 2"/>
          <p:cNvSpPr txBox="1"/>
          <p:nvPr/>
        </p:nvSpPr>
        <p:spPr>
          <a:xfrm>
            <a:off x="1066800" y="1676400"/>
            <a:ext cx="4318000" cy="266700"/>
          </a:xfrm>
          <a:prstGeom prst="rect">
            <a:avLst/>
          </a:prstGeom>
          <a:noFill/>
          <a:ln/>
        </p:spPr>
        <p:txBody>
          <a:bodyPr wrap="square" lIns="0" tIns="0" rIns="0" bIns="0" rtlCol="0" anchor="ctr"/>
          <a:lstStyle/>
          <a:p>
            <a:pPr marL="0" indent="0">
              <a:lnSpc>
                <a:spcPct val="125000"/>
              </a:lnSpc>
              <a:buNone/>
            </a:pPr>
            <a:r>
              <a:rPr lang="en-US" sz="1600" dirty="0">
                <a:solidFill>
                  <a:srgbClr val="FFCB6B"/>
                </a:solidFill>
                <a:latin typeface="Consolas" pitchFamily="34" charset="0"/>
                <a:ea typeface="Consolas" pitchFamily="34" charset="-122"/>
                <a:cs typeface="Consolas" pitchFamily="34" charset="-120"/>
              </a:rPr>
              <a:t>Console</a:t>
            </a:r>
            <a:r>
              <a:rPr lang="en-US" sz="1600" dirty="0">
                <a:solidFill>
                  <a:srgbClr val="E6E3F5"/>
                </a:solidFill>
                <a:latin typeface="Consolas" pitchFamily="34" charset="0"/>
                <a:ea typeface="Consolas" pitchFamily="34" charset="-122"/>
                <a:cs typeface="Consolas" pitchFamily="34" charset="-120"/>
              </a:rPr>
              <a:t>.</a:t>
            </a:r>
            <a:r>
              <a:rPr lang="en-US" sz="1600" dirty="0">
                <a:solidFill>
                  <a:srgbClr val="82AAFF"/>
                </a:solidFill>
                <a:latin typeface="Consolas" pitchFamily="34" charset="0"/>
                <a:ea typeface="Consolas" pitchFamily="34" charset="-122"/>
                <a:cs typeface="Consolas" pitchFamily="34" charset="-120"/>
              </a:rPr>
              <a:t>WriteLine</a:t>
            </a:r>
            <a:r>
              <a:rPr lang="en-US" sz="1600" dirty="0">
                <a:solidFill>
                  <a:srgbClr val="E6E3F5"/>
                </a:solidFill>
                <a:latin typeface="Consolas" pitchFamily="34" charset="0"/>
                <a:ea typeface="Consolas" pitchFamily="34" charset="-122"/>
                <a:cs typeface="Consolas" pitchFamily="34" charset="-120"/>
              </a:rPr>
              <a:t>(</a:t>
            </a:r>
            <a:r>
              <a:rPr lang="en-US" sz="1600" dirty="0">
                <a:solidFill>
                  <a:srgbClr val="C3E88D"/>
                </a:solidFill>
                <a:latin typeface="Consolas" pitchFamily="34" charset="0"/>
                <a:ea typeface="Consolas" pitchFamily="34" charset="-122"/>
                <a:cs typeface="Consolas" pitchFamily="34" charset="-120"/>
              </a:rPr>
              <a:t>"Terima kasih!"</a:t>
            </a:r>
            <a:r>
              <a:rPr lang="en-US" sz="1600" dirty="0">
                <a:solidFill>
                  <a:srgbClr val="E6E3F5"/>
                </a:solidFill>
                <a:latin typeface="Consolas" pitchFamily="34" charset="0"/>
                <a:ea typeface="Consolas" pitchFamily="34" charset="-122"/>
                <a:cs typeface="Consolas" pitchFamily="34" charset="-120"/>
              </a:rPr>
              <a:t>);</a:t>
            </a:r>
            <a:endParaRPr lang="en-US" sz="1600" dirty="0"/>
          </a:p>
        </p:txBody>
      </p:sp>
      <p:sp>
        <p:nvSpPr>
          <p:cNvPr id="5" name="Text 0"/>
          <p:cNvSpPr>
            <a:spLocks noGrp="1"/>
          </p:cNvSpPr>
          <p:nvPr>
            <p:ph type="title" idx="100" hasCustomPrompt="1"/>
          </p:nvPr>
        </p:nvSpPr>
        <p:spPr>
          <a:xfrm>
            <a:off x="812800" y="2222500"/>
            <a:ext cx="6350000" cy="1270000"/>
          </a:xfrm>
          <a:prstGeom prst="rect">
            <a:avLst/>
          </a:prstGeom>
          <a:noFill/>
          <a:ln/>
        </p:spPr>
        <p:txBody>
          <a:bodyPr wrap="square" lIns="0" tIns="0" rIns="0" bIns="0" rtlCol="0" anchor="t"/>
          <a:lstStyle/>
          <a:p>
            <a:pPr marL="0" indent="0" algn="l">
              <a:buNone/>
            </a:pPr>
            <a:r>
              <a:rPr lang="en-US" sz="8000" dirty="0">
                <a:solidFill>
                  <a:srgbClr val="F6F4FB"/>
                </a:solidFill>
                <a:latin typeface="Segoe UI Semibold" pitchFamily="34" charset="0"/>
                <a:ea typeface="Segoe UI Semibold" pitchFamily="34" charset="-122"/>
                <a:cs typeface="Segoe UI Semibold" pitchFamily="34" charset="-120"/>
              </a:rPr>
              <a:t>Terima </a:t>
            </a:r>
            <a:r>
              <a:rPr lang="en-US" sz="8000" dirty="0">
                <a:solidFill>
                  <a:srgbClr val="A78BFA"/>
                </a:solidFill>
                <a:latin typeface="Segoe UI Semibold" pitchFamily="34" charset="0"/>
                <a:ea typeface="Segoe UI Semibold" pitchFamily="34" charset="-122"/>
                <a:cs typeface="Segoe UI Semibold" pitchFamily="34" charset="-120"/>
              </a:rPr>
              <a:t>kasih</a:t>
            </a:r>
            <a:endParaRPr lang="en-US" sz="8000" dirty="0"/>
          </a:p>
        </p:txBody>
      </p:sp>
      <p:sp>
        <p:nvSpPr>
          <p:cNvPr id="6" name="Text 0"/>
          <p:cNvSpPr>
            <a:spLocks noGrp="1"/>
          </p:cNvSpPr>
          <p:nvPr>
            <p:ph type="body" idx="101" hasCustomPrompt="1"/>
          </p:nvPr>
        </p:nvSpPr>
        <p:spPr>
          <a:xfrm>
            <a:off x="812800" y="3683000"/>
            <a:ext cx="5715000" cy="508000"/>
          </a:xfrm>
          <a:prstGeom prst="rect">
            <a:avLst/>
          </a:prstGeom>
          <a:noFill/>
          <a:ln/>
        </p:spPr>
        <p:txBody>
          <a:bodyPr wrap="square" lIns="0" tIns="0" rIns="0" bIns="0" rtlCol="0" anchor="t"/>
          <a:lstStyle/>
          <a:p>
            <a:pPr marL="0" indent="0" algn="l">
              <a:buNone/>
            </a:pPr>
            <a:r>
              <a:rPr lang="en-US" sz="2000" dirty="0">
                <a:solidFill>
                  <a:srgbClr val="C9C4E0"/>
                </a:solidFill>
                <a:latin typeface="Segoe UI" pitchFamily="34" charset="0"/>
                <a:ea typeface="Segoe UI" pitchFamily="34" charset="-122"/>
                <a:cs typeface="Segoe UI" pitchFamily="34" charset="-120"/>
              </a:rPr>
              <a:t>Ada pertanyaan?</a:t>
            </a:r>
            <a:endParaRPr lang="en-US" sz="2000" dirty="0"/>
          </a:p>
        </p:txBody>
      </p:sp>
      <p:sp>
        <p:nvSpPr>
          <p:cNvPr id="7" name="Text 5"/>
          <p:cNvSpPr txBox="1"/>
          <p:nvPr/>
        </p:nvSpPr>
        <p:spPr>
          <a:xfrm>
            <a:off x="812800" y="4381500"/>
            <a:ext cx="5080000" cy="254000"/>
          </a:xfrm>
          <a:prstGeom prst="rect">
            <a:avLst/>
          </a:prstGeom>
          <a:noFill/>
          <a:ln/>
        </p:spPr>
        <p:txBody>
          <a:bodyPr wrap="square" lIns="0" tIns="0" rIns="0" bIns="0" rtlCol="0" anchor="t"/>
          <a:lstStyle/>
          <a:p>
            <a:pPr marL="0" indent="0">
              <a:buNone/>
            </a:pPr>
            <a:r>
              <a:rPr lang="en-US" sz="1200" dirty="0">
                <a:solidFill>
                  <a:srgbClr val="8A86A8"/>
                </a:solidFill>
                <a:latin typeface="Segoe UI" pitchFamily="34" charset="0"/>
                <a:ea typeface="Segoe UI" pitchFamily="34" charset="-122"/>
                <a:cs typeface="Segoe UI" pitchFamily="34" charset="-120"/>
              </a:rPr>
              <a:t>[Nama Penyaji]  ·  [Kelas / NIM]</a:t>
            </a:r>
            <a:endParaRPr lang="en-US" sz="1200" dirty="0"/>
          </a:p>
        </p:txBody>
      </p:sp>
    </p:spTree>
  </p:cSld>
  <p:clrMapOvr>
    <a:masterClrMapping/>
  </p:clrMapOvr>
</p:sld>
</file>

<file path=ppt/theme/theme1.xml><?xml version="1.0" encoding="utf-8"?>
<a:theme xmlns:a="http://schemas.openxmlformats.org/drawingml/2006/main" name="Array C# Violet">
  <a:themeElements>
    <a:clrScheme name="Array C# Violet">
      <a:dk1>
        <a:srgbClr val="1B1838"/>
      </a:dk1>
      <a:lt1>
        <a:srgbClr val="FDFCFF"/>
      </a:lt1>
      <a:dk2>
        <a:srgbClr val="14122B"/>
      </a:dk2>
      <a:lt2>
        <a:srgbClr val="F6F4FB"/>
      </a:lt2>
      <a:accent1>
        <a:srgbClr val="6D28D9"/>
      </a:accent1>
      <a:accent2>
        <a:srgbClr val="A78BFA"/>
      </a:accent2>
      <a:accent3>
        <a:srgbClr val="F59E0B"/>
      </a:accent3>
      <a:accent4>
        <a:srgbClr val="C3E88D"/>
      </a:accent4>
      <a:accent5>
        <a:srgbClr val="82AAFF"/>
      </a:accent5>
      <a:accent6>
        <a:srgbClr val="C2410C"/>
      </a:accent6>
      <a:hlink>
        <a:srgbClr val="6D28D9"/>
      </a:hlink>
      <a:folHlink>
        <a:srgbClr val="A78BFA"/>
      </a:folHlink>
    </a:clrScheme>
    <a:fontScheme name="Array C# Violet">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2581</Words>
  <Application>Microsoft Office PowerPoint</Application>
  <PresentationFormat>Widescreen</PresentationFormat>
  <Paragraphs>445</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Consolas</vt:lpstr>
      <vt:lpstr>Segoe UI</vt:lpstr>
      <vt:lpstr>Segoe UI Semibold</vt:lpstr>
      <vt:lpstr>Array C# Violet</vt:lpstr>
      <vt:lpstr>Array pada C#</vt:lpstr>
      <vt:lpstr>Yang akan kita bahas</vt:lpstr>
      <vt:lpstr>Apa itu Array?</vt:lpstr>
      <vt:lpstr>Tanpa array vs dengan array</vt:lpstr>
      <vt:lpstr>Ciri-ciri array di C#</vt:lpstr>
      <vt:lpstr>Data tersusun dalam satu baris</vt:lpstr>
      <vt:lpstr>Tiga cara membuat array</vt:lpstr>
      <vt:lpstr>Isi array sebelum diisi</vt:lpstr>
      <vt:lpstr>Menyimpan Data ke Array</vt:lpstr>
      <vt:lpstr>Mengisi lewat index</vt:lpstr>
      <vt:lpstr>Mengisi dengan perulangan for</vt:lpstr>
      <vt:lpstr>Mengisi dari input user</vt:lpstr>
      <vt:lpstr>Dari mana n berasal?</vt:lpstr>
      <vt:lpstr>Memanggil Data dari Array</vt:lpstr>
      <vt:lpstr>Mengambil satu elemen lewat index</vt:lpstr>
      <vt:lpstr>Menampilkan semua elemen</vt:lpstr>
      <vt:lpstr>for atau foreach?</vt:lpstr>
      <vt:lpstr>IndexOutOfRangeException</vt:lpstr>
      <vt:lpstr>Program nilai mahasiswa: input</vt:lpstr>
      <vt:lpstr>Program nilai mahasiswa: proses</vt:lpstr>
      <vt:lpstr>Program saat dijalankan</vt:lpstr>
      <vt:lpstr>Kesimpulan</vt:lpstr>
      <vt:lpstr>Terima kasih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Array pada C#</dc:title>
  <dc:subject>Algoritma Dasar Pemrograman</dc:subject>
  <dc:creator>PptxGenJS</dc:creator>
  <cp:lastModifiedBy>ayyub -</cp:lastModifiedBy>
  <cp:revision>1</cp:revision>
  <dcterms:created xsi:type="dcterms:W3CDTF">2026-10-19T23:23:42Z</dcterms:created>
  <dcterms:modified xsi:type="dcterms:W3CDTF">2026-10-19T23:26:56Z</dcterms:modified>
</cp:coreProperties>
</file>