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80" r:id="rId23"/>
    <p:sldId id="281" r:id="rId24"/>
    <p:sldId id="282" r:id="rId25"/>
    <p:sldId id="28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9B7F3-C5CF-4B09-8588-5D89F7FCB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A616B-2BE9-48D4-8907-F17D8E2A7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1580B-D5DD-4889-AF6E-07D475952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2F1E-7415-4DAC-93E4-70E9D47C6FD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D1EE2-B0B0-482B-9A38-C01B834C4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E9A53-A3D0-4518-8382-FF61AEC2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49A-C214-4516-88C4-CD8EE449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5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363A-31C9-4FB4-AB8F-B7D6AF02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1E9D5-FFFD-478A-83F0-2450E8E7B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A45BA-8767-46FD-9F30-5BD8C583A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2F1E-7415-4DAC-93E4-70E9D47C6FD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594CF-58AB-47B8-AE00-0281CB54A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470E1-3E86-4AE7-B39D-82542DC4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49A-C214-4516-88C4-CD8EE449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33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9DDAC-6130-41D8-81F2-0083B09F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EE5C4-ECC9-48CF-912A-BA652EEEF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77CBA-BBB5-44F4-BA0B-C9156DB20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2F1E-7415-4DAC-93E4-70E9D47C6FD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4FB0B-F247-4C91-B7AE-8A2B0F63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82798-7F10-4147-AA7A-32D5A1E9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49A-C214-4516-88C4-CD8EE449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596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3F60F-80B1-4BE7-93E3-D8DD39F30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73710-6E2C-4FCD-983B-E27FE9673E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89B48-6FF8-4536-A6F4-0F644A193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03287-F1F9-451A-B527-EE9805730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2F1E-7415-4DAC-93E4-70E9D47C6FD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616CD-BBCA-49FE-BE2C-A821B3B56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BC9C1-9495-43B1-A281-25819347C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49A-C214-4516-88C4-CD8EE449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40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ADC74-FDE0-4619-A9EF-DC2F1DFF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A5EAC-D6DB-4B60-B28E-40C415B71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D0660-C15A-4E11-AFF1-9225876A2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C75977-5AE8-456A-9ED3-69EBA62BA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319F07-CEFE-49A3-BBD1-55577654A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3DC066-E472-4633-83E1-286921612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2F1E-7415-4DAC-93E4-70E9D47C6FD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F7DE98-3D5B-499F-8A92-1EB867847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1F13F3-421B-48E4-A999-B98F9A4ED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49A-C214-4516-88C4-CD8EE449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649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3AD6-CEFE-446A-99BE-3E8DABA39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51DA76-6E57-4942-9ECE-63A440C72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2F1E-7415-4DAC-93E4-70E9D47C6FD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47322-E46A-4010-A7DC-4C687DC5D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39478-6B6F-4A0E-AA54-D3B28059A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49A-C214-4516-88C4-CD8EE449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77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E6CF1-7694-4CAF-827C-E623B407E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2F1E-7415-4DAC-93E4-70E9D47C6FD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787356-10FC-4369-967D-0D8C49708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572D0-5345-49FE-B0AE-E5ECC73D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49A-C214-4516-88C4-CD8EE449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6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98667-A8D6-4D35-A420-46C0921D5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99354-2205-4BD2-B1C2-E5ADD7337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67958-023B-44D8-8010-AF23C4469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3C83A-214D-489F-911E-647C756C5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2F1E-7415-4DAC-93E4-70E9D47C6FD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E7B72-01AD-4D9F-B6F9-4E236A13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F355-A04F-416A-9537-85FC04A9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49A-C214-4516-88C4-CD8EE449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46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AD40A-9A7E-4610-B2E7-995BD6C55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9CA63C-A64D-4717-BCC2-D0EC60E2E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EEB56-4AC7-4BE9-A01C-3705CCD28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966DE-C75A-4F75-9CB1-824EB05FE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2F1E-7415-4DAC-93E4-70E9D47C6FD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9C498-78B0-45EF-884F-259218A5E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2CCA7-986E-43F7-A137-2CCB5A4D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49A-C214-4516-88C4-CD8EE449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4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DE49B-DD25-4731-849E-B536B822D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2993A-7BDF-4BAE-96CE-8AE85B75C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6A1B6-1904-4A4F-A196-53162FD5E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2F1E-7415-4DAC-93E4-70E9D47C6FD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FFEAF-9BFC-47A3-987F-D7DF61097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FEA44-8D8F-4A51-8A4F-E2455FCD6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49A-C214-4516-88C4-CD8EE449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53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C9D2A9-9684-49CB-BB28-E9E005201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A0362F-27C5-40B9-A8C8-3D0054D94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3DDFA-CAFD-4903-B6FB-822668E84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2F1E-7415-4DAC-93E4-70E9D47C6FD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C9D00-F110-4EDC-BF15-30A5AE73D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75EF0-66F7-4D83-ABE9-97517A6D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49A-C214-4516-88C4-CD8EE449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07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9E8DED-6105-469F-B985-C3EA4ADE2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0E669-41DA-4BDA-BC92-D054E757A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C6D70-5012-489C-AE72-CA30562D9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12F1E-7415-4DAC-93E4-70E9D47C6FD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6531F-13BD-44BC-A93E-9053A066A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C8A6D-F1A1-473E-B71B-1D3614FC2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8449A-C214-4516-88C4-CD8EE449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266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A1DEB3-0CDF-42FA-BB44-AF237583DCC1}"/>
              </a:ext>
            </a:extLst>
          </p:cNvPr>
          <p:cNvSpPr txBox="1"/>
          <p:nvPr/>
        </p:nvSpPr>
        <p:spPr>
          <a:xfrm>
            <a:off x="1565274" y="1937550"/>
            <a:ext cx="9610726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 dirty="0">
                <a:latin typeface="Aptos Display"/>
              </a:rPr>
              <a:t>PRAKTIKUM ALGORITMA DAN PEMROGRAMAN C#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27728-B590-4A37-9D10-8DD4D4689805}"/>
              </a:ext>
            </a:extLst>
          </p:cNvPr>
          <p:cNvSpPr txBox="1"/>
          <p:nvPr/>
        </p:nvSpPr>
        <p:spPr>
          <a:xfrm>
            <a:off x="1016000" y="2553103"/>
            <a:ext cx="10160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3400" b="1" dirty="0">
                <a:latin typeface="Aptos Display"/>
              </a:rPr>
              <a:t>PENGKONDISIAN / PERCABANGAN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96C91-DAFF-468A-A868-26128612A57B}"/>
              </a:ext>
            </a:extLst>
          </p:cNvPr>
          <p:cNvSpPr txBox="1"/>
          <p:nvPr/>
        </p:nvSpPr>
        <p:spPr>
          <a:xfrm>
            <a:off x="3090862" y="3275753"/>
            <a:ext cx="5981701" cy="8104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000" dirty="0">
                <a:latin typeface="Consolas" panose="020B0609020204030204" pitchFamily="49" charset="0"/>
              </a:rPr>
              <a:t>if | else | else if | switch | ternary</a:t>
            </a:r>
          </a:p>
          <a:p>
            <a:pPr>
              <a:spcAft>
                <a:spcPts val="800"/>
              </a:spcAft>
            </a:pPr>
            <a:r>
              <a:rPr lang="en-US" sz="2000" dirty="0">
                <a:latin typeface="Consolas" panose="020B0609020204030204" pitchFamily="49" charset="0"/>
              </a:rPr>
              <a:t>Operator </a:t>
            </a:r>
            <a:r>
              <a:rPr lang="en-US" sz="2000" dirty="0" err="1">
                <a:latin typeface="Consolas" panose="020B0609020204030204" pitchFamily="49" charset="0"/>
              </a:rPr>
              <a:t>Perbandingan</a:t>
            </a:r>
            <a:r>
              <a:rPr lang="en-US" sz="2000" dirty="0">
                <a:latin typeface="Consolas" panose="020B0609020204030204" pitchFamily="49" charset="0"/>
              </a:rPr>
              <a:t> dan Operator </a:t>
            </a:r>
            <a:r>
              <a:rPr lang="en-US" sz="2000" dirty="0" err="1">
                <a:latin typeface="Consolas" panose="020B0609020204030204" pitchFamily="49" charset="0"/>
              </a:rPr>
              <a:t>Logika</a:t>
            </a:r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902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F2148B-7CCB-4CB2-BC03-6A89C51C6D8E}"/>
              </a:ext>
            </a:extLst>
          </p:cNvPr>
          <p:cNvSpPr txBox="1"/>
          <p:nvPr/>
        </p:nvSpPr>
        <p:spPr>
          <a:xfrm>
            <a:off x="698500" y="688975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 dirty="0">
                <a:latin typeface="Aptos Display"/>
              </a:rPr>
              <a:t>TUJUAN PEMBELAJARAN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4A6F01-2E70-40FC-9972-9D9250241B71}"/>
              </a:ext>
            </a:extLst>
          </p:cNvPr>
          <p:cNvSpPr txBox="1"/>
          <p:nvPr/>
        </p:nvSpPr>
        <p:spPr>
          <a:xfrm>
            <a:off x="833437" y="1554163"/>
            <a:ext cx="10795000" cy="319061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Setelah </a:t>
            </a:r>
            <a:r>
              <a:rPr lang="en-US" sz="2800" dirty="0" err="1">
                <a:latin typeface="Consolas" panose="020B0609020204030204" pitchFamily="49" charset="0"/>
              </a:rPr>
              <a:t>praktikum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 err="1">
                <a:latin typeface="Consolas" panose="020B0609020204030204" pitchFamily="49" charset="0"/>
              </a:rPr>
              <a:t>mahasiswa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mampu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1. </a:t>
            </a:r>
            <a:r>
              <a:rPr lang="en-US" sz="2800" dirty="0" err="1">
                <a:latin typeface="Consolas" panose="020B0609020204030204" pitchFamily="49" charset="0"/>
              </a:rPr>
              <a:t>Memahami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konsep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pengkondisian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dalam</a:t>
            </a:r>
            <a:r>
              <a:rPr lang="en-US" sz="2800" dirty="0">
                <a:latin typeface="Consolas" panose="020B0609020204030204" pitchFamily="49" charset="0"/>
              </a:rPr>
              <a:t> C#.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2. </a:t>
            </a:r>
            <a:r>
              <a:rPr lang="en-US" sz="2800" dirty="0" err="1">
                <a:latin typeface="Consolas" panose="020B0609020204030204" pitchFamily="49" charset="0"/>
              </a:rPr>
              <a:t>Menggunakan</a:t>
            </a:r>
            <a:r>
              <a:rPr lang="en-US" sz="2800" dirty="0">
                <a:latin typeface="Consolas" panose="020B0609020204030204" pitchFamily="49" charset="0"/>
              </a:rPr>
              <a:t> if, else, dan else if.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3. </a:t>
            </a:r>
            <a:r>
              <a:rPr lang="en-US" sz="2800" dirty="0" err="1">
                <a:latin typeface="Consolas" panose="020B0609020204030204" pitchFamily="49" charset="0"/>
              </a:rPr>
              <a:t>Menggunakan</a:t>
            </a:r>
            <a:r>
              <a:rPr lang="en-US" sz="2800" dirty="0">
                <a:latin typeface="Consolas" panose="020B0609020204030204" pitchFamily="49" charset="0"/>
              </a:rPr>
              <a:t> switch.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4. </a:t>
            </a:r>
            <a:r>
              <a:rPr lang="en-US" sz="2800" dirty="0" err="1">
                <a:latin typeface="Consolas" panose="020B0609020204030204" pitchFamily="49" charset="0"/>
              </a:rPr>
              <a:t>Menggunakan</a:t>
            </a:r>
            <a:r>
              <a:rPr lang="en-US" sz="2800" dirty="0">
                <a:latin typeface="Consolas" panose="020B0609020204030204" pitchFamily="49" charset="0"/>
              </a:rPr>
              <a:t> operator </a:t>
            </a:r>
            <a:r>
              <a:rPr lang="en-US" sz="2800" dirty="0" err="1">
                <a:latin typeface="Consolas" panose="020B0609020204030204" pitchFamily="49" charset="0"/>
              </a:rPr>
              <a:t>perbandingan</a:t>
            </a:r>
            <a:r>
              <a:rPr lang="en-US" sz="2800" dirty="0">
                <a:latin typeface="Consolas" panose="020B0609020204030204" pitchFamily="49" charset="0"/>
              </a:rPr>
              <a:t> dan </a:t>
            </a:r>
            <a:r>
              <a:rPr lang="en-US" sz="2800" dirty="0" err="1">
                <a:latin typeface="Consolas" panose="020B0609020204030204" pitchFamily="49" charset="0"/>
              </a:rPr>
              <a:t>logika</a:t>
            </a:r>
            <a:r>
              <a:rPr lang="en-US" sz="2800" dirty="0">
                <a:latin typeface="Consolas" panose="020B0609020204030204" pitchFamily="49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5. </a:t>
            </a:r>
            <a:r>
              <a:rPr lang="en-US" sz="2800" dirty="0" err="1">
                <a:latin typeface="Consolas" panose="020B0609020204030204" pitchFamily="49" charset="0"/>
              </a:rPr>
              <a:t>Membuat</a:t>
            </a:r>
            <a:r>
              <a:rPr lang="en-US" sz="2800" dirty="0">
                <a:latin typeface="Consolas" panose="020B0609020204030204" pitchFamily="49" charset="0"/>
              </a:rPr>
              <a:t> program </a:t>
            </a:r>
            <a:r>
              <a:rPr lang="en-US" sz="2800" dirty="0" err="1">
                <a:latin typeface="Consolas" panose="020B0609020204030204" pitchFamily="49" charset="0"/>
              </a:rPr>
              <a:t>dengan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percabangan</a:t>
            </a:r>
            <a:r>
              <a:rPr lang="en-US" sz="2800" dirty="0"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0091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C47850-5262-44C9-8BE4-2D675BF772A9}"/>
              </a:ext>
            </a:extLst>
          </p:cNvPr>
          <p:cNvSpPr txBox="1"/>
          <p:nvPr/>
        </p:nvSpPr>
        <p:spPr>
          <a:xfrm>
            <a:off x="593725" y="574675"/>
            <a:ext cx="1079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 dirty="0">
                <a:latin typeface="Aptos Display"/>
              </a:rPr>
              <a:t>KONSEP PENGKONDISIAN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76EF47-B7C7-456F-A1C2-C58171FC91D5}"/>
              </a:ext>
            </a:extLst>
          </p:cNvPr>
          <p:cNvSpPr txBox="1"/>
          <p:nvPr/>
        </p:nvSpPr>
        <p:spPr>
          <a:xfrm>
            <a:off x="762000" y="1397000"/>
            <a:ext cx="10795000" cy="415498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800" dirty="0" err="1">
                <a:latin typeface="Consolas" panose="020B0609020204030204" pitchFamily="49" charset="0"/>
              </a:rPr>
              <a:t>Pengkondisian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digunakan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ketika</a:t>
            </a:r>
            <a:r>
              <a:rPr lang="en-US" sz="2800" dirty="0">
                <a:latin typeface="Consolas" panose="020B0609020204030204" pitchFamily="49" charset="0"/>
              </a:rPr>
              <a:t> program </a:t>
            </a:r>
            <a:r>
              <a:rPr lang="en-US" sz="2800" dirty="0" err="1">
                <a:latin typeface="Consolas" panose="020B0609020204030204" pitchFamily="49" charset="0"/>
              </a:rPr>
              <a:t>harus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memilih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tindakan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berdasarkan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suatu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kondisi</a:t>
            </a:r>
            <a:r>
              <a:rPr lang="en-US" sz="2800" dirty="0">
                <a:latin typeface="Consolas" panose="020B0609020204030204" pitchFamily="49" charset="0"/>
              </a:rPr>
              <a:t>.</a:t>
            </a:r>
          </a:p>
          <a:p>
            <a:pPr>
              <a:spcAft>
                <a:spcPts val="800"/>
              </a:spcAft>
            </a:pP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 err="1">
                <a:latin typeface="Consolas" panose="020B0609020204030204" pitchFamily="49" charset="0"/>
              </a:rPr>
              <a:t>Contoh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- Jika </a:t>
            </a:r>
            <a:r>
              <a:rPr lang="en-US" sz="2800" dirty="0" err="1">
                <a:latin typeface="Consolas" panose="020B0609020204030204" pitchFamily="49" charset="0"/>
              </a:rPr>
              <a:t>nilai</a:t>
            </a:r>
            <a:r>
              <a:rPr lang="en-US" sz="2800" dirty="0">
                <a:latin typeface="Consolas" panose="020B0609020204030204" pitchFamily="49" charset="0"/>
              </a:rPr>
              <a:t> &gt;= 60, </a:t>
            </a:r>
            <a:r>
              <a:rPr lang="en-US" sz="2800" dirty="0" err="1">
                <a:latin typeface="Consolas" panose="020B0609020204030204" pitchFamily="49" charset="0"/>
              </a:rPr>
              <a:t>maka</a:t>
            </a:r>
            <a:r>
              <a:rPr lang="en-US" sz="2800" dirty="0">
                <a:latin typeface="Consolas" panose="020B0609020204030204" pitchFamily="49" charset="0"/>
              </a:rPr>
              <a:t> LULUS.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- Jika </a:t>
            </a:r>
            <a:r>
              <a:rPr lang="en-US" sz="2800" dirty="0" err="1">
                <a:latin typeface="Consolas" panose="020B0609020204030204" pitchFamily="49" charset="0"/>
              </a:rPr>
              <a:t>nilai</a:t>
            </a:r>
            <a:r>
              <a:rPr lang="en-US" sz="2800" dirty="0">
                <a:latin typeface="Consolas" panose="020B0609020204030204" pitchFamily="49" charset="0"/>
              </a:rPr>
              <a:t> &lt; 60, </a:t>
            </a:r>
            <a:r>
              <a:rPr lang="en-US" sz="2800" dirty="0" err="1">
                <a:latin typeface="Consolas" panose="020B0609020204030204" pitchFamily="49" charset="0"/>
              </a:rPr>
              <a:t>maka</a:t>
            </a:r>
            <a:r>
              <a:rPr lang="en-US" sz="2800" dirty="0">
                <a:latin typeface="Consolas" panose="020B0609020204030204" pitchFamily="49" charset="0"/>
              </a:rPr>
              <a:t> TIDAK LULUS.</a:t>
            </a:r>
          </a:p>
          <a:p>
            <a:pPr>
              <a:spcAft>
                <a:spcPts val="800"/>
              </a:spcAft>
            </a:pP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 err="1">
                <a:latin typeface="Consolas" panose="020B0609020204030204" pitchFamily="49" charset="0"/>
              </a:rPr>
              <a:t>Konsep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utama</a:t>
            </a:r>
            <a:r>
              <a:rPr lang="en-US" sz="2800" dirty="0">
                <a:latin typeface="Consolas" panose="020B0609020204030204" pitchFamily="49" charset="0"/>
              </a:rPr>
              <a:t>: KONDISI ? KEPUTUSAN ? AKSI</a:t>
            </a:r>
          </a:p>
        </p:txBody>
      </p:sp>
    </p:spTree>
    <p:extLst>
      <p:ext uri="{BB962C8B-B14F-4D97-AF65-F5344CB8AC3E}">
        <p14:creationId xmlns:p14="http://schemas.microsoft.com/office/powerpoint/2010/main" val="64478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E8210D-02D9-4C7D-A2AF-19AA88346A55}"/>
              </a:ext>
            </a:extLst>
          </p:cNvPr>
          <p:cNvSpPr txBox="1"/>
          <p:nvPr/>
        </p:nvSpPr>
        <p:spPr>
          <a:xfrm>
            <a:off x="450850" y="603250"/>
            <a:ext cx="1079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 dirty="0">
                <a:latin typeface="Aptos Display"/>
              </a:rPr>
              <a:t>OPERATOR PERBANDINGAN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B0979-9D10-4706-8D49-FDAD19A135F8}"/>
              </a:ext>
            </a:extLst>
          </p:cNvPr>
          <p:cNvSpPr txBox="1"/>
          <p:nvPr/>
        </p:nvSpPr>
        <p:spPr>
          <a:xfrm>
            <a:off x="762000" y="1397000"/>
            <a:ext cx="10795000" cy="415498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Operator </a:t>
            </a:r>
            <a:r>
              <a:rPr lang="en-US" sz="3200" dirty="0" err="1">
                <a:latin typeface="Consolas" panose="020B0609020204030204" pitchFamily="49" charset="0"/>
              </a:rPr>
              <a:t>perbandingan</a:t>
            </a:r>
            <a:r>
              <a:rPr lang="en-US" sz="3200" dirty="0">
                <a:latin typeface="Consolas" panose="020B0609020204030204" pitchFamily="49" charset="0"/>
              </a:rPr>
              <a:t>:</a:t>
            </a: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==    </a:t>
            </a:r>
            <a:r>
              <a:rPr lang="en-US" sz="3200" dirty="0" err="1">
                <a:latin typeface="Consolas" panose="020B0609020204030204" pitchFamily="49" charset="0"/>
              </a:rPr>
              <a:t>sama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dengan</a:t>
            </a: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!=    </a:t>
            </a:r>
            <a:r>
              <a:rPr lang="en-US" sz="3200" dirty="0" err="1">
                <a:latin typeface="Consolas" panose="020B0609020204030204" pitchFamily="49" charset="0"/>
              </a:rPr>
              <a:t>tidak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sama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dengan</a:t>
            </a: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&gt;     </a:t>
            </a:r>
            <a:r>
              <a:rPr lang="en-US" sz="3200" dirty="0" err="1">
                <a:latin typeface="Consolas" panose="020B0609020204030204" pitchFamily="49" charset="0"/>
              </a:rPr>
              <a:t>lebih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besar</a:t>
            </a: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&lt;     </a:t>
            </a:r>
            <a:r>
              <a:rPr lang="en-US" sz="3200" dirty="0" err="1">
                <a:latin typeface="Consolas" panose="020B0609020204030204" pitchFamily="49" charset="0"/>
              </a:rPr>
              <a:t>lebih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kecil</a:t>
            </a: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&gt;=    </a:t>
            </a:r>
            <a:r>
              <a:rPr lang="en-US" sz="3200" dirty="0" err="1">
                <a:latin typeface="Consolas" panose="020B0609020204030204" pitchFamily="49" charset="0"/>
              </a:rPr>
              <a:t>lebih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besar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atau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sama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dengan</a:t>
            </a: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&lt;=    </a:t>
            </a:r>
            <a:r>
              <a:rPr lang="en-US" sz="3200" dirty="0" err="1">
                <a:latin typeface="Consolas" panose="020B0609020204030204" pitchFamily="49" charset="0"/>
              </a:rPr>
              <a:t>lebih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kecil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atau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sama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dengan</a:t>
            </a:r>
            <a:endParaRPr lang="en-US" sz="3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57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653539-68A9-4CAB-8EF3-D0FFB09F4663}"/>
              </a:ext>
            </a:extLst>
          </p:cNvPr>
          <p:cNvSpPr txBox="1"/>
          <p:nvPr/>
        </p:nvSpPr>
        <p:spPr>
          <a:xfrm>
            <a:off x="698500" y="517525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000" b="1" dirty="0">
                <a:latin typeface="Aptos Display"/>
              </a:rPr>
              <a:t>IF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38977-1EB1-42D5-AD7D-8D5082D670B8}"/>
              </a:ext>
            </a:extLst>
          </p:cNvPr>
          <p:cNvSpPr txBox="1"/>
          <p:nvPr/>
        </p:nvSpPr>
        <p:spPr>
          <a:xfrm>
            <a:off x="698500" y="1792654"/>
            <a:ext cx="10795000" cy="42575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800" dirty="0" err="1">
                <a:latin typeface="Consolas" panose="020B0609020204030204" pitchFamily="49" charset="0"/>
              </a:rPr>
              <a:t>Struktur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dasar</a:t>
            </a:r>
            <a:r>
              <a:rPr lang="en-US" sz="2800" dirty="0">
                <a:latin typeface="Consolas" panose="020B0609020204030204" pitchFamily="49" charset="0"/>
              </a:rPr>
              <a:t> if:</a:t>
            </a:r>
          </a:p>
          <a:p>
            <a:pPr>
              <a:spcAft>
                <a:spcPts val="800"/>
              </a:spcAft>
            </a:pP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if (</a:t>
            </a:r>
            <a:r>
              <a:rPr lang="en-US" sz="2800" dirty="0" err="1">
                <a:latin typeface="Consolas" panose="020B0609020204030204" pitchFamily="49" charset="0"/>
              </a:rPr>
              <a:t>kondisi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    // </a:t>
            </a:r>
            <a:r>
              <a:rPr lang="en-US" sz="2800" dirty="0" err="1">
                <a:latin typeface="Consolas" panose="020B0609020204030204" pitchFamily="49" charset="0"/>
              </a:rPr>
              <a:t>perintah</a:t>
            </a: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}</a:t>
            </a:r>
          </a:p>
          <a:p>
            <a:pPr>
              <a:spcAft>
                <a:spcPts val="800"/>
              </a:spcAft>
            </a:pP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 err="1">
                <a:latin typeface="Consolas" panose="020B0609020204030204" pitchFamily="49" charset="0"/>
              </a:rPr>
              <a:t>Perintah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dijalankan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hanya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jika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kondisi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bernilai</a:t>
            </a:r>
            <a:r>
              <a:rPr lang="en-US" sz="2800" dirty="0">
                <a:latin typeface="Consolas" panose="020B0609020204030204" pitchFamily="49" charset="0"/>
              </a:rPr>
              <a:t> TRUE.</a:t>
            </a:r>
          </a:p>
        </p:txBody>
      </p:sp>
    </p:spTree>
    <p:extLst>
      <p:ext uri="{BB962C8B-B14F-4D97-AF65-F5344CB8AC3E}">
        <p14:creationId xmlns:p14="http://schemas.microsoft.com/office/powerpoint/2010/main" val="213865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7C186F-4925-4092-903F-0DE729B8F8C5}"/>
              </a:ext>
            </a:extLst>
          </p:cNvPr>
          <p:cNvSpPr txBox="1"/>
          <p:nvPr/>
        </p:nvSpPr>
        <p:spPr>
          <a:xfrm>
            <a:off x="450850" y="288924"/>
            <a:ext cx="1079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400" b="1" dirty="0">
                <a:latin typeface="Aptos Display"/>
              </a:rPr>
              <a:t>CONTOH IF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76D6D4-E421-4E27-A9F2-F4BFD11A2C8D}"/>
              </a:ext>
            </a:extLst>
          </p:cNvPr>
          <p:cNvSpPr txBox="1"/>
          <p:nvPr/>
        </p:nvSpPr>
        <p:spPr>
          <a:xfrm>
            <a:off x="1641475" y="673644"/>
            <a:ext cx="10795000" cy="53450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int </a:t>
            </a:r>
            <a:r>
              <a:rPr lang="en-US" sz="3200" dirty="0" err="1">
                <a:latin typeface="Consolas" panose="020B0609020204030204" pitchFamily="49" charset="0"/>
              </a:rPr>
              <a:t>nilai</a:t>
            </a:r>
            <a:r>
              <a:rPr lang="en-US" sz="3200" dirty="0">
                <a:latin typeface="Consolas" panose="020B0609020204030204" pitchFamily="49" charset="0"/>
              </a:rPr>
              <a:t> = 80;</a:t>
            </a:r>
          </a:p>
          <a:p>
            <a:pPr>
              <a:spcAft>
                <a:spcPts val="800"/>
              </a:spcAft>
            </a:pP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if (</a:t>
            </a:r>
            <a:r>
              <a:rPr lang="en-US" sz="3200" dirty="0" err="1">
                <a:latin typeface="Consolas" panose="020B0609020204030204" pitchFamily="49" charset="0"/>
              </a:rPr>
              <a:t>nilai</a:t>
            </a:r>
            <a:r>
              <a:rPr lang="en-US" sz="3200" dirty="0">
                <a:latin typeface="Consolas" panose="020B0609020204030204" pitchFamily="49" charset="0"/>
              </a:rPr>
              <a:t> &gt;= 60)</a:t>
            </a: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 err="1">
                <a:latin typeface="Consolas" panose="020B0609020204030204" pitchFamily="49" charset="0"/>
              </a:rPr>
              <a:t>Console.WriteLine</a:t>
            </a:r>
            <a:r>
              <a:rPr lang="en-US" sz="3200" dirty="0">
                <a:latin typeface="Consolas" panose="020B0609020204030204" pitchFamily="49" charset="0"/>
              </a:rPr>
              <a:t>("Lulus");</a:t>
            </a: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}</a:t>
            </a:r>
          </a:p>
          <a:p>
            <a:pPr>
              <a:spcAft>
                <a:spcPts val="800"/>
              </a:spcAft>
            </a:pP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 err="1">
                <a:latin typeface="Consolas" panose="020B0609020204030204" pitchFamily="49" charset="0"/>
              </a:rPr>
              <a:t>Output:Lulus</a:t>
            </a:r>
            <a:endParaRPr lang="en-US" sz="3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472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E9E2ED-A700-468C-BF7A-83FBA788F3D7}"/>
              </a:ext>
            </a:extLst>
          </p:cNvPr>
          <p:cNvSpPr txBox="1"/>
          <p:nvPr/>
        </p:nvSpPr>
        <p:spPr>
          <a:xfrm>
            <a:off x="508000" y="317500"/>
            <a:ext cx="1079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400" b="1" dirty="0">
                <a:latin typeface="Aptos Display"/>
              </a:rPr>
              <a:t>IF - ELSE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0BADAF-844A-442D-841D-00F6AE1EDB1C}"/>
              </a:ext>
            </a:extLst>
          </p:cNvPr>
          <p:cNvSpPr txBox="1"/>
          <p:nvPr/>
        </p:nvSpPr>
        <p:spPr>
          <a:xfrm>
            <a:off x="1619250" y="1086941"/>
            <a:ext cx="10795000" cy="532453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if - else </a:t>
            </a:r>
            <a:r>
              <a:rPr lang="en-US" sz="2800" dirty="0" err="1">
                <a:latin typeface="Consolas" panose="020B0609020204030204" pitchFamily="49" charset="0"/>
              </a:rPr>
              <a:t>digunakan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untuk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dua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kemungkinan</a:t>
            </a:r>
            <a:r>
              <a:rPr lang="en-US" sz="2800" dirty="0">
                <a:latin typeface="Consolas" panose="020B0609020204030204" pitchFamily="49" charset="0"/>
              </a:rPr>
              <a:t>.</a:t>
            </a:r>
          </a:p>
          <a:p>
            <a:pPr>
              <a:spcAft>
                <a:spcPts val="800"/>
              </a:spcAft>
            </a:pP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if (</a:t>
            </a:r>
            <a:r>
              <a:rPr lang="en-US" sz="2800" dirty="0" err="1">
                <a:latin typeface="Consolas" panose="020B0609020204030204" pitchFamily="49" charset="0"/>
              </a:rPr>
              <a:t>kondisi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    // </a:t>
            </a:r>
            <a:r>
              <a:rPr lang="en-US" sz="2800" dirty="0" err="1">
                <a:latin typeface="Consolas" panose="020B0609020204030204" pitchFamily="49" charset="0"/>
              </a:rPr>
              <a:t>kondisi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benar</a:t>
            </a: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}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else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    // </a:t>
            </a:r>
            <a:r>
              <a:rPr lang="en-US" sz="2800" dirty="0" err="1">
                <a:latin typeface="Consolas" panose="020B0609020204030204" pitchFamily="49" charset="0"/>
              </a:rPr>
              <a:t>kondisi</a:t>
            </a:r>
            <a:r>
              <a:rPr lang="en-US" sz="2800" dirty="0">
                <a:latin typeface="Consolas" panose="020B0609020204030204" pitchFamily="49" charset="0"/>
              </a:rPr>
              <a:t> salah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19619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509F90-2783-4138-ABFA-4C8B588896F3}"/>
              </a:ext>
            </a:extLst>
          </p:cNvPr>
          <p:cNvSpPr txBox="1"/>
          <p:nvPr/>
        </p:nvSpPr>
        <p:spPr>
          <a:xfrm>
            <a:off x="508000" y="317500"/>
            <a:ext cx="1079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 dirty="0">
                <a:latin typeface="Aptos Display"/>
              </a:rPr>
              <a:t>CONTOH IF - ELSE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A212F-9C8C-41E8-B6C5-9CE4EF4BB057}"/>
              </a:ext>
            </a:extLst>
          </p:cNvPr>
          <p:cNvSpPr txBox="1"/>
          <p:nvPr/>
        </p:nvSpPr>
        <p:spPr>
          <a:xfrm>
            <a:off x="1647825" y="1068388"/>
            <a:ext cx="10795000" cy="532453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800" dirty="0" err="1">
                <a:latin typeface="Consolas" panose="020B0609020204030204" pitchFamily="49" charset="0"/>
              </a:rPr>
              <a:t>Contoh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menentukan</a:t>
            </a:r>
            <a:r>
              <a:rPr lang="en-US" sz="2800" dirty="0">
                <a:latin typeface="Consolas" panose="020B0609020204030204" pitchFamily="49" charset="0"/>
              </a:rPr>
              <a:t> lulus </a:t>
            </a:r>
            <a:r>
              <a:rPr lang="en-US" sz="2800" dirty="0" err="1">
                <a:latin typeface="Consolas" panose="020B0609020204030204" pitchFamily="49" charset="0"/>
              </a:rPr>
              <a:t>atau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tidak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int </a:t>
            </a:r>
            <a:r>
              <a:rPr lang="en-US" sz="2800" dirty="0" err="1">
                <a:latin typeface="Consolas" panose="020B0609020204030204" pitchFamily="49" charset="0"/>
              </a:rPr>
              <a:t>nilai</a:t>
            </a:r>
            <a:r>
              <a:rPr lang="en-US" sz="2800" dirty="0">
                <a:latin typeface="Consolas" panose="020B0609020204030204" pitchFamily="49" charset="0"/>
              </a:rPr>
              <a:t> = 55;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if (</a:t>
            </a:r>
            <a:r>
              <a:rPr lang="en-US" sz="2800" dirty="0" err="1">
                <a:latin typeface="Consolas" panose="020B0609020204030204" pitchFamily="49" charset="0"/>
              </a:rPr>
              <a:t>nilai</a:t>
            </a:r>
            <a:r>
              <a:rPr lang="en-US" sz="2800" dirty="0">
                <a:latin typeface="Consolas" panose="020B0609020204030204" pitchFamily="49" charset="0"/>
              </a:rPr>
              <a:t> &gt;= 60)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Console.WriteLine</a:t>
            </a:r>
            <a:r>
              <a:rPr lang="en-US" sz="2800" dirty="0">
                <a:latin typeface="Consolas" panose="020B0609020204030204" pitchFamily="49" charset="0"/>
              </a:rPr>
              <a:t>("Lulus");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}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else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Console.WriteLine</a:t>
            </a:r>
            <a:r>
              <a:rPr lang="en-US" sz="2800" dirty="0">
                <a:latin typeface="Consolas" panose="020B0609020204030204" pitchFamily="49" charset="0"/>
              </a:rPr>
              <a:t>("</a:t>
            </a:r>
            <a:r>
              <a:rPr lang="en-US" sz="2800" dirty="0" err="1">
                <a:latin typeface="Consolas" panose="020B0609020204030204" pitchFamily="49" charset="0"/>
              </a:rPr>
              <a:t>Tidak</a:t>
            </a:r>
            <a:r>
              <a:rPr lang="en-US" sz="2800" dirty="0">
                <a:latin typeface="Consolas" panose="020B0609020204030204" pitchFamily="49" charset="0"/>
              </a:rPr>
              <a:t> Lulus");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78497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8F9F41-8DBC-4C18-9DEE-044D0EE2196D}"/>
              </a:ext>
            </a:extLst>
          </p:cNvPr>
          <p:cNvSpPr txBox="1"/>
          <p:nvPr/>
        </p:nvSpPr>
        <p:spPr>
          <a:xfrm>
            <a:off x="508000" y="3175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 dirty="0">
                <a:latin typeface="Aptos Display"/>
              </a:rPr>
              <a:t>ELSE IF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540776-77EE-4635-9A10-EADBACD102AC}"/>
              </a:ext>
            </a:extLst>
          </p:cNvPr>
          <p:cNvSpPr txBox="1"/>
          <p:nvPr/>
        </p:nvSpPr>
        <p:spPr>
          <a:xfrm>
            <a:off x="1993899" y="744884"/>
            <a:ext cx="10795000" cy="616579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100" dirty="0">
                <a:latin typeface="Consolas" panose="020B0609020204030204" pitchFamily="49" charset="0"/>
              </a:rPr>
              <a:t>else if </a:t>
            </a:r>
            <a:r>
              <a:rPr lang="en-US" sz="2100" dirty="0" err="1">
                <a:latin typeface="Consolas" panose="020B0609020204030204" pitchFamily="49" charset="0"/>
              </a:rPr>
              <a:t>digunakan</a:t>
            </a:r>
            <a:r>
              <a:rPr lang="en-US" sz="2100" dirty="0">
                <a:latin typeface="Consolas" panose="020B0609020204030204" pitchFamily="49" charset="0"/>
              </a:rPr>
              <a:t> </a:t>
            </a:r>
            <a:r>
              <a:rPr lang="en-US" sz="2100" dirty="0" err="1">
                <a:latin typeface="Consolas" panose="020B0609020204030204" pitchFamily="49" charset="0"/>
              </a:rPr>
              <a:t>untuk</a:t>
            </a:r>
            <a:r>
              <a:rPr lang="en-US" sz="2100" dirty="0">
                <a:latin typeface="Consolas" panose="020B0609020204030204" pitchFamily="49" charset="0"/>
              </a:rPr>
              <a:t> </a:t>
            </a:r>
            <a:r>
              <a:rPr lang="en-US" sz="2100" dirty="0" err="1">
                <a:latin typeface="Consolas" panose="020B0609020204030204" pitchFamily="49" charset="0"/>
              </a:rPr>
              <a:t>lebih</a:t>
            </a:r>
            <a:r>
              <a:rPr lang="en-US" sz="2100" dirty="0">
                <a:latin typeface="Consolas" panose="020B0609020204030204" pitchFamily="49" charset="0"/>
              </a:rPr>
              <a:t> </a:t>
            </a:r>
            <a:r>
              <a:rPr lang="en-US" sz="2100" dirty="0" err="1">
                <a:latin typeface="Consolas" panose="020B0609020204030204" pitchFamily="49" charset="0"/>
              </a:rPr>
              <a:t>dari</a:t>
            </a:r>
            <a:r>
              <a:rPr lang="en-US" sz="2100" dirty="0">
                <a:latin typeface="Consolas" panose="020B0609020204030204" pitchFamily="49" charset="0"/>
              </a:rPr>
              <a:t> </a:t>
            </a:r>
            <a:r>
              <a:rPr lang="en-US" sz="2100" dirty="0" err="1">
                <a:latin typeface="Consolas" panose="020B0609020204030204" pitchFamily="49" charset="0"/>
              </a:rPr>
              <a:t>dua</a:t>
            </a:r>
            <a:r>
              <a:rPr lang="en-US" sz="2100" dirty="0">
                <a:latin typeface="Consolas" panose="020B0609020204030204" pitchFamily="49" charset="0"/>
              </a:rPr>
              <a:t> </a:t>
            </a:r>
            <a:r>
              <a:rPr lang="en-US" sz="2100" dirty="0" err="1">
                <a:latin typeface="Consolas" panose="020B0609020204030204" pitchFamily="49" charset="0"/>
              </a:rPr>
              <a:t>kondisi</a:t>
            </a:r>
            <a:r>
              <a:rPr lang="en-US" sz="2100" dirty="0">
                <a:latin typeface="Consolas" panose="020B0609020204030204" pitchFamily="49" charset="0"/>
              </a:rPr>
              <a:t>.</a:t>
            </a:r>
          </a:p>
          <a:p>
            <a:pPr>
              <a:spcAft>
                <a:spcPts val="800"/>
              </a:spcAft>
            </a:pPr>
            <a:endParaRPr lang="en-US" sz="21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100" dirty="0">
                <a:latin typeface="Consolas" panose="020B0609020204030204" pitchFamily="49" charset="0"/>
              </a:rPr>
              <a:t>if (</a:t>
            </a:r>
            <a:r>
              <a:rPr lang="en-US" sz="2100" dirty="0" err="1">
                <a:latin typeface="Consolas" panose="020B0609020204030204" pitchFamily="49" charset="0"/>
              </a:rPr>
              <a:t>nilai</a:t>
            </a:r>
            <a:r>
              <a:rPr lang="en-US" sz="2100" dirty="0">
                <a:latin typeface="Consolas" panose="020B0609020204030204" pitchFamily="49" charset="0"/>
              </a:rPr>
              <a:t> &gt;= 85)</a:t>
            </a:r>
          </a:p>
          <a:p>
            <a:pPr>
              <a:spcAft>
                <a:spcPts val="800"/>
              </a:spcAft>
            </a:pPr>
            <a:r>
              <a:rPr lang="en-US" sz="2100" dirty="0"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800"/>
              </a:spcAft>
            </a:pPr>
            <a:r>
              <a:rPr lang="en-US" sz="2100" dirty="0">
                <a:latin typeface="Consolas" panose="020B0609020204030204" pitchFamily="49" charset="0"/>
              </a:rPr>
              <a:t>    </a:t>
            </a:r>
            <a:r>
              <a:rPr lang="en-US" sz="2100" dirty="0" err="1">
                <a:latin typeface="Consolas" panose="020B0609020204030204" pitchFamily="49" charset="0"/>
              </a:rPr>
              <a:t>Console.WriteLine</a:t>
            </a:r>
            <a:r>
              <a:rPr lang="en-US" sz="2100" dirty="0">
                <a:latin typeface="Consolas" panose="020B0609020204030204" pitchFamily="49" charset="0"/>
              </a:rPr>
              <a:t>("A");</a:t>
            </a:r>
          </a:p>
          <a:p>
            <a:pPr>
              <a:spcAft>
                <a:spcPts val="800"/>
              </a:spcAft>
            </a:pPr>
            <a:r>
              <a:rPr lang="en-US" sz="2100" dirty="0">
                <a:latin typeface="Consolas" panose="020B0609020204030204" pitchFamily="49" charset="0"/>
              </a:rPr>
              <a:t>}</a:t>
            </a:r>
          </a:p>
          <a:p>
            <a:pPr>
              <a:spcAft>
                <a:spcPts val="800"/>
              </a:spcAft>
            </a:pPr>
            <a:r>
              <a:rPr lang="en-US" sz="2100" dirty="0">
                <a:latin typeface="Consolas" panose="020B0609020204030204" pitchFamily="49" charset="0"/>
              </a:rPr>
              <a:t>else if (</a:t>
            </a:r>
            <a:r>
              <a:rPr lang="en-US" sz="2100" dirty="0" err="1">
                <a:latin typeface="Consolas" panose="020B0609020204030204" pitchFamily="49" charset="0"/>
              </a:rPr>
              <a:t>nilai</a:t>
            </a:r>
            <a:r>
              <a:rPr lang="en-US" sz="2100" dirty="0">
                <a:latin typeface="Consolas" panose="020B0609020204030204" pitchFamily="49" charset="0"/>
              </a:rPr>
              <a:t> &gt;= 70)</a:t>
            </a:r>
          </a:p>
          <a:p>
            <a:pPr>
              <a:spcAft>
                <a:spcPts val="800"/>
              </a:spcAft>
            </a:pPr>
            <a:r>
              <a:rPr lang="en-US" sz="2100" dirty="0"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800"/>
              </a:spcAft>
            </a:pPr>
            <a:r>
              <a:rPr lang="en-US" sz="2100" dirty="0">
                <a:latin typeface="Consolas" panose="020B0609020204030204" pitchFamily="49" charset="0"/>
              </a:rPr>
              <a:t>    </a:t>
            </a:r>
            <a:r>
              <a:rPr lang="en-US" sz="2100" dirty="0" err="1">
                <a:latin typeface="Consolas" panose="020B0609020204030204" pitchFamily="49" charset="0"/>
              </a:rPr>
              <a:t>Console.WriteLine</a:t>
            </a:r>
            <a:r>
              <a:rPr lang="en-US" sz="2100" dirty="0">
                <a:latin typeface="Consolas" panose="020B0609020204030204" pitchFamily="49" charset="0"/>
              </a:rPr>
              <a:t>("B");</a:t>
            </a:r>
          </a:p>
          <a:p>
            <a:pPr>
              <a:spcAft>
                <a:spcPts val="800"/>
              </a:spcAft>
            </a:pPr>
            <a:r>
              <a:rPr lang="en-US" sz="2100" dirty="0">
                <a:latin typeface="Consolas" panose="020B0609020204030204" pitchFamily="49" charset="0"/>
              </a:rPr>
              <a:t>}</a:t>
            </a:r>
          </a:p>
          <a:p>
            <a:pPr>
              <a:spcAft>
                <a:spcPts val="800"/>
              </a:spcAft>
            </a:pPr>
            <a:r>
              <a:rPr lang="en-US" sz="2100" dirty="0">
                <a:latin typeface="Consolas" panose="020B0609020204030204" pitchFamily="49" charset="0"/>
              </a:rPr>
              <a:t>else</a:t>
            </a:r>
          </a:p>
          <a:p>
            <a:pPr>
              <a:spcAft>
                <a:spcPts val="800"/>
              </a:spcAft>
            </a:pPr>
            <a:r>
              <a:rPr lang="en-US" sz="2100" dirty="0"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800"/>
              </a:spcAft>
            </a:pPr>
            <a:r>
              <a:rPr lang="en-US" sz="2100" dirty="0">
                <a:latin typeface="Consolas" panose="020B0609020204030204" pitchFamily="49" charset="0"/>
              </a:rPr>
              <a:t>    </a:t>
            </a:r>
            <a:r>
              <a:rPr lang="en-US" sz="2100" dirty="0" err="1">
                <a:latin typeface="Consolas" panose="020B0609020204030204" pitchFamily="49" charset="0"/>
              </a:rPr>
              <a:t>Console.WriteLine</a:t>
            </a:r>
            <a:r>
              <a:rPr lang="en-US" sz="2100" dirty="0">
                <a:latin typeface="Consolas" panose="020B0609020204030204" pitchFamily="49" charset="0"/>
              </a:rPr>
              <a:t>("C");</a:t>
            </a:r>
          </a:p>
          <a:p>
            <a:pPr>
              <a:spcAft>
                <a:spcPts val="800"/>
              </a:spcAft>
            </a:pPr>
            <a:r>
              <a:rPr lang="en-US" sz="21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6351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E88495-15A7-4677-A009-DE06C7408078}"/>
              </a:ext>
            </a:extLst>
          </p:cNvPr>
          <p:cNvSpPr txBox="1"/>
          <p:nvPr/>
        </p:nvSpPr>
        <p:spPr>
          <a:xfrm>
            <a:off x="508000" y="3175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000" b="1" dirty="0">
                <a:latin typeface="Aptos Display"/>
              </a:rPr>
              <a:t>OPERATOR LOGIKA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35CB3E-7ACE-4322-A2E9-DB27E0125050}"/>
              </a:ext>
            </a:extLst>
          </p:cNvPr>
          <p:cNvSpPr txBox="1"/>
          <p:nvPr/>
        </p:nvSpPr>
        <p:spPr>
          <a:xfrm>
            <a:off x="762000" y="1397000"/>
            <a:ext cx="10795000" cy="46474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Operator </a:t>
            </a:r>
            <a:r>
              <a:rPr lang="en-US" sz="3200" dirty="0" err="1">
                <a:latin typeface="Consolas" panose="020B0609020204030204" pitchFamily="49" charset="0"/>
              </a:rPr>
              <a:t>logika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digunakan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untuk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menggabungkan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beberapa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kondisi</a:t>
            </a:r>
            <a:r>
              <a:rPr lang="en-US" sz="3200" dirty="0">
                <a:latin typeface="Consolas" panose="020B0609020204030204" pitchFamily="49" charset="0"/>
              </a:rPr>
              <a:t>.</a:t>
            </a:r>
          </a:p>
          <a:p>
            <a:pPr>
              <a:spcAft>
                <a:spcPts val="800"/>
              </a:spcAft>
            </a:pP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&amp;&amp;    AND</a:t>
            </a: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||    OR</a:t>
            </a: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!     NOT</a:t>
            </a:r>
          </a:p>
          <a:p>
            <a:pPr>
              <a:spcAft>
                <a:spcPts val="800"/>
              </a:spcAft>
            </a:pP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Hasil </a:t>
            </a:r>
            <a:r>
              <a:rPr lang="en-US" sz="3200" dirty="0" err="1">
                <a:latin typeface="Consolas" panose="020B0609020204030204" pitchFamily="49" charset="0"/>
              </a:rPr>
              <a:t>kondisi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berupa</a:t>
            </a:r>
            <a:r>
              <a:rPr lang="en-US" sz="3200" dirty="0">
                <a:latin typeface="Consolas" panose="020B0609020204030204" pitchFamily="49" charset="0"/>
              </a:rPr>
              <a:t> TRUE </a:t>
            </a:r>
            <a:r>
              <a:rPr lang="en-US" sz="3200" dirty="0" err="1">
                <a:latin typeface="Consolas" panose="020B0609020204030204" pitchFamily="49" charset="0"/>
              </a:rPr>
              <a:t>atau</a:t>
            </a:r>
            <a:r>
              <a:rPr lang="en-US" sz="3200" dirty="0">
                <a:latin typeface="Consolas" panose="020B0609020204030204" pitchFamily="49" charset="0"/>
              </a:rPr>
              <a:t> FALSE.</a:t>
            </a:r>
          </a:p>
        </p:txBody>
      </p:sp>
    </p:spTree>
    <p:extLst>
      <p:ext uri="{BB962C8B-B14F-4D97-AF65-F5344CB8AC3E}">
        <p14:creationId xmlns:p14="http://schemas.microsoft.com/office/powerpoint/2010/main" val="3612797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C27E22-AEC3-43A7-A4A3-B2DD3C8A79AD}"/>
              </a:ext>
            </a:extLst>
          </p:cNvPr>
          <p:cNvSpPr txBox="1"/>
          <p:nvPr/>
        </p:nvSpPr>
        <p:spPr>
          <a:xfrm>
            <a:off x="508000" y="317500"/>
            <a:ext cx="1079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 dirty="0">
                <a:latin typeface="Aptos Display"/>
              </a:rPr>
              <a:t>OPERATOR AND (&amp;&amp;)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5F19BF-8AC7-4BEC-8508-95E8935F09A2}"/>
              </a:ext>
            </a:extLst>
          </p:cNvPr>
          <p:cNvSpPr txBox="1"/>
          <p:nvPr/>
        </p:nvSpPr>
        <p:spPr>
          <a:xfrm>
            <a:off x="1162050" y="1096963"/>
            <a:ext cx="10795000" cy="532453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AND (&amp;&amp;)</a:t>
            </a:r>
          </a:p>
          <a:p>
            <a:pPr>
              <a:spcAft>
                <a:spcPts val="800"/>
              </a:spcAft>
            </a:pP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 err="1">
                <a:latin typeface="Consolas" panose="020B0609020204030204" pitchFamily="49" charset="0"/>
              </a:rPr>
              <a:t>Semua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kondisi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harus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benar</a:t>
            </a:r>
            <a:r>
              <a:rPr lang="en-US" sz="2800" dirty="0">
                <a:latin typeface="Consolas" panose="020B0609020204030204" pitchFamily="49" charset="0"/>
              </a:rPr>
              <a:t>.</a:t>
            </a:r>
          </a:p>
          <a:p>
            <a:pPr>
              <a:spcAft>
                <a:spcPts val="800"/>
              </a:spcAft>
            </a:pP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if (</a:t>
            </a:r>
            <a:r>
              <a:rPr lang="en-US" sz="2800" dirty="0" err="1">
                <a:latin typeface="Consolas" panose="020B0609020204030204" pitchFamily="49" charset="0"/>
              </a:rPr>
              <a:t>nilai</a:t>
            </a:r>
            <a:r>
              <a:rPr lang="en-US" sz="2800" dirty="0">
                <a:latin typeface="Consolas" panose="020B0609020204030204" pitchFamily="49" charset="0"/>
              </a:rPr>
              <a:t> &gt;= 60 &amp;&amp; </a:t>
            </a:r>
            <a:r>
              <a:rPr lang="en-US" sz="2800" dirty="0" err="1">
                <a:latin typeface="Consolas" panose="020B0609020204030204" pitchFamily="49" charset="0"/>
              </a:rPr>
              <a:t>kehadiran</a:t>
            </a:r>
            <a:r>
              <a:rPr lang="en-US" sz="2800" dirty="0">
                <a:latin typeface="Consolas" panose="020B0609020204030204" pitchFamily="49" charset="0"/>
              </a:rPr>
              <a:t> &gt;= 75)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Console.WriteLine</a:t>
            </a:r>
            <a:r>
              <a:rPr lang="en-US" sz="2800" dirty="0">
                <a:latin typeface="Consolas" panose="020B0609020204030204" pitchFamily="49" charset="0"/>
              </a:rPr>
              <a:t>("Lulus");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}</a:t>
            </a:r>
          </a:p>
          <a:p>
            <a:pPr>
              <a:spcAft>
                <a:spcPts val="800"/>
              </a:spcAft>
            </a:pP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Nilai &gt;= 60 DAN </a:t>
            </a:r>
            <a:r>
              <a:rPr lang="en-US" sz="2800" dirty="0" err="1">
                <a:latin typeface="Consolas" panose="020B0609020204030204" pitchFamily="49" charset="0"/>
              </a:rPr>
              <a:t>kehadiran</a:t>
            </a:r>
            <a:r>
              <a:rPr lang="en-US" sz="2800" dirty="0">
                <a:latin typeface="Consolas" panose="020B0609020204030204" pitchFamily="49" charset="0"/>
              </a:rPr>
              <a:t> &gt;= 75.</a:t>
            </a:r>
          </a:p>
        </p:txBody>
      </p:sp>
    </p:spTree>
    <p:extLst>
      <p:ext uri="{BB962C8B-B14F-4D97-AF65-F5344CB8AC3E}">
        <p14:creationId xmlns:p14="http://schemas.microsoft.com/office/powerpoint/2010/main" val="4095438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0569D7-B614-436E-A634-5E8CCA50692C}"/>
              </a:ext>
            </a:extLst>
          </p:cNvPr>
          <p:cNvSpPr txBox="1"/>
          <p:nvPr/>
        </p:nvSpPr>
        <p:spPr>
          <a:xfrm>
            <a:off x="508000" y="3175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 dirty="0">
                <a:latin typeface="Aptos Display"/>
              </a:rPr>
              <a:t>OPERATOR OR (||)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D322A8-8E84-4F88-8F7B-7C2213502933}"/>
              </a:ext>
            </a:extLst>
          </p:cNvPr>
          <p:cNvSpPr txBox="1"/>
          <p:nvPr/>
        </p:nvSpPr>
        <p:spPr>
          <a:xfrm>
            <a:off x="804862" y="1382712"/>
            <a:ext cx="10795000" cy="47500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OR (||)</a:t>
            </a:r>
          </a:p>
          <a:p>
            <a:pPr>
              <a:spcAft>
                <a:spcPts val="800"/>
              </a:spcAft>
            </a:pP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Minimal </a:t>
            </a:r>
            <a:r>
              <a:rPr lang="en-US" sz="3200" dirty="0" err="1">
                <a:latin typeface="Consolas" panose="020B0609020204030204" pitchFamily="49" charset="0"/>
              </a:rPr>
              <a:t>satu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kondisi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harus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benar</a:t>
            </a:r>
            <a:r>
              <a:rPr lang="en-US" sz="3200" dirty="0">
                <a:latin typeface="Consolas" panose="020B0609020204030204" pitchFamily="49" charset="0"/>
              </a:rPr>
              <a:t>.</a:t>
            </a:r>
          </a:p>
          <a:p>
            <a:pPr>
              <a:spcAft>
                <a:spcPts val="800"/>
              </a:spcAft>
            </a:pP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if (</a:t>
            </a:r>
            <a:r>
              <a:rPr lang="en-US" sz="3200" dirty="0" err="1">
                <a:latin typeface="Consolas" panose="020B0609020204030204" pitchFamily="49" charset="0"/>
              </a:rPr>
              <a:t>hari</a:t>
            </a:r>
            <a:r>
              <a:rPr lang="en-US" sz="3200" dirty="0">
                <a:latin typeface="Consolas" panose="020B0609020204030204" pitchFamily="49" charset="0"/>
              </a:rPr>
              <a:t> == "</a:t>
            </a:r>
            <a:r>
              <a:rPr lang="en-US" sz="3200" dirty="0" err="1">
                <a:latin typeface="Consolas" panose="020B0609020204030204" pitchFamily="49" charset="0"/>
              </a:rPr>
              <a:t>Sabtu</a:t>
            </a:r>
            <a:r>
              <a:rPr lang="en-US" sz="3200" dirty="0">
                <a:latin typeface="Consolas" panose="020B0609020204030204" pitchFamily="49" charset="0"/>
              </a:rPr>
              <a:t>" || </a:t>
            </a:r>
            <a:r>
              <a:rPr lang="en-US" sz="3200" dirty="0" err="1">
                <a:latin typeface="Consolas" panose="020B0609020204030204" pitchFamily="49" charset="0"/>
              </a:rPr>
              <a:t>hari</a:t>
            </a:r>
            <a:r>
              <a:rPr lang="en-US" sz="3200" dirty="0">
                <a:latin typeface="Consolas" panose="020B0609020204030204" pitchFamily="49" charset="0"/>
              </a:rPr>
              <a:t> == "</a:t>
            </a:r>
            <a:r>
              <a:rPr lang="en-US" sz="3200" dirty="0" err="1">
                <a:latin typeface="Consolas" panose="020B0609020204030204" pitchFamily="49" charset="0"/>
              </a:rPr>
              <a:t>Minggu</a:t>
            </a:r>
            <a:r>
              <a:rPr lang="en-US" sz="3200" dirty="0">
                <a:latin typeface="Consolas" panose="020B0609020204030204" pitchFamily="49" charset="0"/>
              </a:rPr>
              <a:t>")</a:t>
            </a: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 err="1">
                <a:latin typeface="Consolas" panose="020B0609020204030204" pitchFamily="49" charset="0"/>
              </a:rPr>
              <a:t>Console.WriteLine</a:t>
            </a:r>
            <a:r>
              <a:rPr lang="en-US" sz="3200" dirty="0">
                <a:latin typeface="Consolas" panose="020B0609020204030204" pitchFamily="49" charset="0"/>
              </a:rPr>
              <a:t>("Hari </a:t>
            </a:r>
            <a:r>
              <a:rPr lang="en-US" sz="3200" dirty="0" err="1">
                <a:latin typeface="Consolas" panose="020B0609020204030204" pitchFamily="49" charset="0"/>
              </a:rPr>
              <a:t>Libur</a:t>
            </a:r>
            <a:r>
              <a:rPr lang="en-US" sz="3200" dirty="0">
                <a:latin typeface="Consolas" panose="020B0609020204030204" pitchFamily="49" charset="0"/>
              </a:rPr>
              <a:t>");</a:t>
            </a: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4111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D22CE5-0FF8-4475-ADBC-F364FA6EA92B}"/>
              </a:ext>
            </a:extLst>
          </p:cNvPr>
          <p:cNvSpPr txBox="1"/>
          <p:nvPr/>
        </p:nvSpPr>
        <p:spPr>
          <a:xfrm>
            <a:off x="508000" y="317500"/>
            <a:ext cx="1079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400" b="1" dirty="0">
                <a:latin typeface="Aptos Display"/>
              </a:rPr>
              <a:t>OPERATOR NOT (!)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67B262-404E-40BA-9330-49A639AE3300}"/>
              </a:ext>
            </a:extLst>
          </p:cNvPr>
          <p:cNvSpPr txBox="1"/>
          <p:nvPr/>
        </p:nvSpPr>
        <p:spPr>
          <a:xfrm>
            <a:off x="762000" y="1397000"/>
            <a:ext cx="10795000" cy="4791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NOT (!)</a:t>
            </a:r>
          </a:p>
          <a:p>
            <a:pPr>
              <a:spcAft>
                <a:spcPts val="800"/>
              </a:spcAft>
            </a:pPr>
            <a:r>
              <a:rPr lang="en-US" sz="2800" dirty="0" err="1">
                <a:latin typeface="Consolas" panose="020B0609020204030204" pitchFamily="49" charset="0"/>
              </a:rPr>
              <a:t>Membalik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nilai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logika</a:t>
            </a:r>
            <a:r>
              <a:rPr lang="en-US" sz="2800" dirty="0">
                <a:latin typeface="Consolas" panose="020B0609020204030204" pitchFamily="49" charset="0"/>
              </a:rPr>
              <a:t>.</a:t>
            </a:r>
          </a:p>
          <a:p>
            <a:pPr>
              <a:spcAft>
                <a:spcPts val="800"/>
              </a:spcAft>
            </a:pP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bool </a:t>
            </a:r>
            <a:r>
              <a:rPr lang="en-US" sz="2800" dirty="0" err="1">
                <a:latin typeface="Consolas" panose="020B0609020204030204" pitchFamily="49" charset="0"/>
              </a:rPr>
              <a:t>aktif</a:t>
            </a:r>
            <a:r>
              <a:rPr lang="en-US" sz="2800" dirty="0">
                <a:latin typeface="Consolas" panose="020B0609020204030204" pitchFamily="49" charset="0"/>
              </a:rPr>
              <a:t> = false;</a:t>
            </a:r>
          </a:p>
          <a:p>
            <a:pPr>
              <a:spcAft>
                <a:spcPts val="800"/>
              </a:spcAft>
            </a:pP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if (!</a:t>
            </a:r>
            <a:r>
              <a:rPr lang="en-US" sz="2800" dirty="0" err="1">
                <a:latin typeface="Consolas" panose="020B0609020204030204" pitchFamily="49" charset="0"/>
              </a:rPr>
              <a:t>aktif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Console.WriteLine</a:t>
            </a:r>
            <a:r>
              <a:rPr lang="en-US" sz="2800" dirty="0">
                <a:latin typeface="Consolas" panose="020B0609020204030204" pitchFamily="49" charset="0"/>
              </a:rPr>
              <a:t>("</a:t>
            </a:r>
            <a:r>
              <a:rPr lang="en-US" sz="2800" dirty="0" err="1">
                <a:latin typeface="Consolas" panose="020B0609020204030204" pitchFamily="49" charset="0"/>
              </a:rPr>
              <a:t>Tidak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Aktif</a:t>
            </a:r>
            <a:r>
              <a:rPr lang="en-US" sz="2800" dirty="0">
                <a:latin typeface="Consolas" panose="020B0609020204030204" pitchFamily="49" charset="0"/>
              </a:rPr>
              <a:t>");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889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B5A438-2880-4AD5-8075-B464FF045884}"/>
              </a:ext>
            </a:extLst>
          </p:cNvPr>
          <p:cNvSpPr txBox="1"/>
          <p:nvPr/>
        </p:nvSpPr>
        <p:spPr>
          <a:xfrm>
            <a:off x="508000" y="3175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 dirty="0">
                <a:latin typeface="Aptos Display"/>
              </a:rPr>
              <a:t>SWITCH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CDFFB-0862-49B5-A1BB-736251D61EF1}"/>
              </a:ext>
            </a:extLst>
          </p:cNvPr>
          <p:cNvSpPr txBox="1"/>
          <p:nvPr/>
        </p:nvSpPr>
        <p:spPr>
          <a:xfrm>
            <a:off x="962025" y="1025525"/>
            <a:ext cx="10795000" cy="541686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600" dirty="0">
                <a:latin typeface="Consolas" panose="020B0609020204030204" pitchFamily="49" charset="0"/>
              </a:rPr>
              <a:t>switch </a:t>
            </a:r>
            <a:r>
              <a:rPr lang="en-US" sz="2600" dirty="0" err="1">
                <a:latin typeface="Consolas" panose="020B0609020204030204" pitchFamily="49" charset="0"/>
              </a:rPr>
              <a:t>digunakan</a:t>
            </a:r>
            <a:r>
              <a:rPr lang="en-US" sz="2600" dirty="0">
                <a:latin typeface="Consolas" panose="020B0609020204030204" pitchFamily="49" charset="0"/>
              </a:rPr>
              <a:t> </a:t>
            </a:r>
            <a:r>
              <a:rPr lang="en-US" sz="2600" dirty="0" err="1">
                <a:latin typeface="Consolas" panose="020B0609020204030204" pitchFamily="49" charset="0"/>
              </a:rPr>
              <a:t>ketika</a:t>
            </a:r>
            <a:r>
              <a:rPr lang="en-US" sz="2600" dirty="0">
                <a:latin typeface="Consolas" panose="020B0609020204030204" pitchFamily="49" charset="0"/>
              </a:rPr>
              <a:t> </a:t>
            </a:r>
            <a:r>
              <a:rPr lang="en-US" sz="2600" dirty="0" err="1">
                <a:latin typeface="Consolas" panose="020B0609020204030204" pitchFamily="49" charset="0"/>
              </a:rPr>
              <a:t>satu</a:t>
            </a:r>
            <a:r>
              <a:rPr lang="en-US" sz="2600" dirty="0">
                <a:latin typeface="Consolas" panose="020B0609020204030204" pitchFamily="49" charset="0"/>
              </a:rPr>
              <a:t> </a:t>
            </a:r>
            <a:r>
              <a:rPr lang="en-US" sz="2600" dirty="0" err="1">
                <a:latin typeface="Consolas" panose="020B0609020204030204" pitchFamily="49" charset="0"/>
              </a:rPr>
              <a:t>variabel</a:t>
            </a:r>
            <a:r>
              <a:rPr lang="en-US" sz="2600" dirty="0">
                <a:latin typeface="Consolas" panose="020B0609020204030204" pitchFamily="49" charset="0"/>
              </a:rPr>
              <a:t> </a:t>
            </a:r>
            <a:r>
              <a:rPr lang="en-US" sz="2600" dirty="0" err="1">
                <a:latin typeface="Consolas" panose="020B0609020204030204" pitchFamily="49" charset="0"/>
              </a:rPr>
              <a:t>memiliki</a:t>
            </a:r>
            <a:r>
              <a:rPr lang="en-US" sz="2600" dirty="0">
                <a:latin typeface="Consolas" panose="020B0609020204030204" pitchFamily="49" charset="0"/>
              </a:rPr>
              <a:t> </a:t>
            </a:r>
            <a:r>
              <a:rPr lang="en-US" sz="2600" dirty="0" err="1">
                <a:latin typeface="Consolas" panose="020B0609020204030204" pitchFamily="49" charset="0"/>
              </a:rPr>
              <a:t>banyak</a:t>
            </a:r>
            <a:r>
              <a:rPr lang="en-US" sz="2600" dirty="0">
                <a:latin typeface="Consolas" panose="020B0609020204030204" pitchFamily="49" charset="0"/>
              </a:rPr>
              <a:t> </a:t>
            </a:r>
            <a:r>
              <a:rPr lang="en-US" sz="2600" dirty="0" err="1">
                <a:latin typeface="Consolas" panose="020B0609020204030204" pitchFamily="49" charset="0"/>
              </a:rPr>
              <a:t>pilihan</a:t>
            </a:r>
            <a:r>
              <a:rPr lang="en-US" sz="2600" dirty="0">
                <a:latin typeface="Consolas" panose="020B0609020204030204" pitchFamily="49" charset="0"/>
              </a:rPr>
              <a:t> </a:t>
            </a:r>
            <a:r>
              <a:rPr lang="en-US" sz="2600" dirty="0" err="1">
                <a:latin typeface="Consolas" panose="020B0609020204030204" pitchFamily="49" charset="0"/>
              </a:rPr>
              <a:t>nilai</a:t>
            </a:r>
            <a:r>
              <a:rPr lang="en-US" sz="2600" dirty="0">
                <a:latin typeface="Consolas" panose="020B0609020204030204" pitchFamily="49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US" sz="2600" dirty="0">
                <a:latin typeface="Consolas" panose="020B0609020204030204" pitchFamily="49" charset="0"/>
              </a:rPr>
              <a:t>switch (</a:t>
            </a:r>
            <a:r>
              <a:rPr lang="en-US" sz="2600" dirty="0" err="1">
                <a:latin typeface="Consolas" panose="020B0609020204030204" pitchFamily="49" charset="0"/>
              </a:rPr>
              <a:t>pilihan</a:t>
            </a:r>
            <a:r>
              <a:rPr lang="en-US" sz="2600" dirty="0"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800"/>
              </a:spcAft>
            </a:pPr>
            <a:r>
              <a:rPr lang="en-US" sz="2600" dirty="0"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800"/>
              </a:spcAft>
            </a:pPr>
            <a:r>
              <a:rPr lang="en-US" sz="2600" dirty="0">
                <a:latin typeface="Consolas" panose="020B0609020204030204" pitchFamily="49" charset="0"/>
              </a:rPr>
              <a:t>    case 1:</a:t>
            </a:r>
          </a:p>
          <a:p>
            <a:pPr>
              <a:spcAft>
                <a:spcPts val="800"/>
              </a:spcAft>
            </a:pPr>
            <a:r>
              <a:rPr lang="en-US" sz="2600" dirty="0">
                <a:latin typeface="Consolas" panose="020B0609020204030204" pitchFamily="49" charset="0"/>
              </a:rPr>
              <a:t>        </a:t>
            </a:r>
            <a:r>
              <a:rPr lang="en-US" sz="2600" dirty="0" err="1">
                <a:latin typeface="Consolas" panose="020B0609020204030204" pitchFamily="49" charset="0"/>
              </a:rPr>
              <a:t>Console.WriteLine</a:t>
            </a:r>
            <a:r>
              <a:rPr lang="en-US" sz="2600" dirty="0">
                <a:latin typeface="Consolas" panose="020B0609020204030204" pitchFamily="49" charset="0"/>
              </a:rPr>
              <a:t>("Data 1");</a:t>
            </a:r>
          </a:p>
          <a:p>
            <a:pPr>
              <a:spcAft>
                <a:spcPts val="800"/>
              </a:spcAft>
            </a:pPr>
            <a:r>
              <a:rPr lang="en-US" sz="2600" dirty="0">
                <a:latin typeface="Consolas" panose="020B0609020204030204" pitchFamily="49" charset="0"/>
              </a:rPr>
              <a:t>        break;</a:t>
            </a:r>
          </a:p>
          <a:p>
            <a:pPr>
              <a:spcAft>
                <a:spcPts val="800"/>
              </a:spcAft>
            </a:pPr>
            <a:r>
              <a:rPr lang="en-US" sz="2600" dirty="0">
                <a:latin typeface="Consolas" panose="020B0609020204030204" pitchFamily="49" charset="0"/>
              </a:rPr>
              <a:t>    case 2:</a:t>
            </a:r>
          </a:p>
          <a:p>
            <a:pPr>
              <a:spcAft>
                <a:spcPts val="800"/>
              </a:spcAft>
            </a:pPr>
            <a:r>
              <a:rPr lang="en-US" sz="2600" dirty="0">
                <a:latin typeface="Consolas" panose="020B0609020204030204" pitchFamily="49" charset="0"/>
              </a:rPr>
              <a:t>        </a:t>
            </a:r>
            <a:r>
              <a:rPr lang="en-US" sz="2600" dirty="0" err="1">
                <a:latin typeface="Consolas" panose="020B0609020204030204" pitchFamily="49" charset="0"/>
              </a:rPr>
              <a:t>Console.WriteLine</a:t>
            </a:r>
            <a:r>
              <a:rPr lang="en-US" sz="2600" dirty="0">
                <a:latin typeface="Consolas" panose="020B0609020204030204" pitchFamily="49" charset="0"/>
              </a:rPr>
              <a:t>("Data 2");</a:t>
            </a:r>
          </a:p>
          <a:p>
            <a:pPr>
              <a:spcAft>
                <a:spcPts val="800"/>
              </a:spcAft>
            </a:pPr>
            <a:r>
              <a:rPr lang="en-US" sz="2600" dirty="0">
                <a:latin typeface="Consolas" panose="020B0609020204030204" pitchFamily="49" charset="0"/>
              </a:rPr>
              <a:t>        break;</a:t>
            </a:r>
          </a:p>
          <a:p>
            <a:pPr>
              <a:spcAft>
                <a:spcPts val="800"/>
              </a:spcAft>
            </a:pPr>
            <a:r>
              <a:rPr lang="en-US" sz="2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2698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B087C6-0411-4C3E-A698-3FD4A5EF221C}"/>
              </a:ext>
            </a:extLst>
          </p:cNvPr>
          <p:cNvSpPr txBox="1"/>
          <p:nvPr/>
        </p:nvSpPr>
        <p:spPr>
          <a:xfrm>
            <a:off x="107950" y="141149"/>
            <a:ext cx="1079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latin typeface="Aptos Display"/>
              </a:rPr>
              <a:t>CONTOH SWITCH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6E066-0B79-438D-94D1-5E81656B4727}"/>
              </a:ext>
            </a:extLst>
          </p:cNvPr>
          <p:cNvSpPr txBox="1"/>
          <p:nvPr/>
        </p:nvSpPr>
        <p:spPr>
          <a:xfrm>
            <a:off x="1889125" y="309969"/>
            <a:ext cx="10795000" cy="614527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endParaRPr lang="en-US" sz="20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000" dirty="0" err="1">
                <a:latin typeface="Consolas" panose="020B0609020204030204" pitchFamily="49" charset="0"/>
              </a:rPr>
              <a:t>Console.Write</a:t>
            </a:r>
            <a:r>
              <a:rPr lang="en-US" sz="2000" dirty="0">
                <a:latin typeface="Consolas" panose="020B0609020204030204" pitchFamily="49" charset="0"/>
              </a:rPr>
              <a:t>("</a:t>
            </a:r>
            <a:r>
              <a:rPr lang="en-US" sz="2000" dirty="0" err="1">
                <a:latin typeface="Consolas" panose="020B0609020204030204" pitchFamily="49" charset="0"/>
              </a:rPr>
              <a:t>Pilih</a:t>
            </a:r>
            <a:r>
              <a:rPr lang="en-US" sz="2000" dirty="0">
                <a:latin typeface="Consolas" panose="020B0609020204030204" pitchFamily="49" charset="0"/>
              </a:rPr>
              <a:t> menu: ");</a:t>
            </a:r>
          </a:p>
          <a:p>
            <a:pPr>
              <a:spcAft>
                <a:spcPts val="800"/>
              </a:spcAft>
            </a:pPr>
            <a:r>
              <a:rPr lang="en-US" sz="2000" dirty="0">
                <a:latin typeface="Consolas" panose="020B0609020204030204" pitchFamily="49" charset="0"/>
              </a:rPr>
              <a:t>int </a:t>
            </a:r>
            <a:r>
              <a:rPr lang="en-US" sz="2000" dirty="0" err="1">
                <a:latin typeface="Consolas" panose="020B0609020204030204" pitchFamily="49" charset="0"/>
              </a:rPr>
              <a:t>pilihan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int.Parse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Console.ReadLine</a:t>
            </a:r>
            <a:r>
              <a:rPr lang="en-US" sz="2000" dirty="0">
                <a:latin typeface="Consolas" panose="020B0609020204030204" pitchFamily="49" charset="0"/>
              </a:rPr>
              <a:t>());</a:t>
            </a:r>
          </a:p>
          <a:p>
            <a:pPr>
              <a:spcAft>
                <a:spcPts val="800"/>
              </a:spcAft>
            </a:pPr>
            <a:r>
              <a:rPr lang="en-US" sz="2000" dirty="0">
                <a:latin typeface="Consolas" panose="020B0609020204030204" pitchFamily="49" charset="0"/>
              </a:rPr>
              <a:t>switch (</a:t>
            </a:r>
            <a:r>
              <a:rPr lang="en-US" sz="2000" dirty="0" err="1">
                <a:latin typeface="Consolas" panose="020B0609020204030204" pitchFamily="49" charset="0"/>
              </a:rPr>
              <a:t>pilihan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800"/>
              </a:spcAft>
            </a:pPr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800"/>
              </a:spcAft>
            </a:pPr>
            <a:r>
              <a:rPr lang="en-US" sz="2000" dirty="0">
                <a:latin typeface="Consolas" panose="020B0609020204030204" pitchFamily="49" charset="0"/>
              </a:rPr>
              <a:t>    case 1:</a:t>
            </a:r>
          </a:p>
          <a:p>
            <a:pPr>
              <a:spcAft>
                <a:spcPts val="800"/>
              </a:spcAft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Console.WriteLine</a:t>
            </a:r>
            <a:r>
              <a:rPr lang="en-US" sz="2000" dirty="0">
                <a:latin typeface="Consolas" panose="020B0609020204030204" pitchFamily="49" charset="0"/>
              </a:rPr>
              <a:t>("</a:t>
            </a:r>
            <a:r>
              <a:rPr lang="en-US" sz="2000" dirty="0" err="1">
                <a:latin typeface="Consolas" panose="020B0609020204030204" pitchFamily="49" charset="0"/>
              </a:rPr>
              <a:t>Tambah</a:t>
            </a:r>
            <a:r>
              <a:rPr lang="en-US" sz="2000" dirty="0">
                <a:latin typeface="Consolas" panose="020B0609020204030204" pitchFamily="49" charset="0"/>
              </a:rPr>
              <a:t> Data");</a:t>
            </a:r>
          </a:p>
          <a:p>
            <a:pPr>
              <a:spcAft>
                <a:spcPts val="800"/>
              </a:spcAft>
            </a:pPr>
            <a:r>
              <a:rPr lang="en-US" sz="2000" dirty="0">
                <a:latin typeface="Consolas" panose="020B0609020204030204" pitchFamily="49" charset="0"/>
              </a:rPr>
              <a:t>        break;</a:t>
            </a:r>
          </a:p>
          <a:p>
            <a:pPr>
              <a:spcAft>
                <a:spcPts val="800"/>
              </a:spcAft>
            </a:pPr>
            <a:r>
              <a:rPr lang="en-US" sz="2000" dirty="0">
                <a:latin typeface="Consolas" panose="020B0609020204030204" pitchFamily="49" charset="0"/>
              </a:rPr>
              <a:t>    case 2:</a:t>
            </a:r>
          </a:p>
          <a:p>
            <a:pPr>
              <a:spcAft>
                <a:spcPts val="800"/>
              </a:spcAft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Console.WriteLine</a:t>
            </a:r>
            <a:r>
              <a:rPr lang="en-US" sz="2000" dirty="0">
                <a:latin typeface="Consolas" panose="020B0609020204030204" pitchFamily="49" charset="0"/>
              </a:rPr>
              <a:t>("</a:t>
            </a:r>
            <a:r>
              <a:rPr lang="en-US" sz="2000" dirty="0" err="1">
                <a:latin typeface="Consolas" panose="020B0609020204030204" pitchFamily="49" charset="0"/>
              </a:rPr>
              <a:t>Lihat</a:t>
            </a:r>
            <a:r>
              <a:rPr lang="en-US" sz="2000" dirty="0">
                <a:latin typeface="Consolas" panose="020B0609020204030204" pitchFamily="49" charset="0"/>
              </a:rPr>
              <a:t> Data");</a:t>
            </a:r>
          </a:p>
          <a:p>
            <a:pPr>
              <a:spcAft>
                <a:spcPts val="800"/>
              </a:spcAft>
            </a:pPr>
            <a:r>
              <a:rPr lang="en-US" sz="2000" dirty="0">
                <a:latin typeface="Consolas" panose="020B0609020204030204" pitchFamily="49" charset="0"/>
              </a:rPr>
              <a:t>        break;</a:t>
            </a:r>
          </a:p>
          <a:p>
            <a:pPr>
              <a:spcAft>
                <a:spcPts val="800"/>
              </a:spcAft>
            </a:pPr>
            <a:r>
              <a:rPr lang="en-US" sz="2000" dirty="0">
                <a:latin typeface="Consolas" panose="020B0609020204030204" pitchFamily="49" charset="0"/>
              </a:rPr>
              <a:t>    default:</a:t>
            </a:r>
          </a:p>
          <a:p>
            <a:pPr>
              <a:spcAft>
                <a:spcPts val="800"/>
              </a:spcAft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Console.WriteLine</a:t>
            </a:r>
            <a:r>
              <a:rPr lang="en-US" sz="2000" dirty="0">
                <a:latin typeface="Consolas" panose="020B0609020204030204" pitchFamily="49" charset="0"/>
              </a:rPr>
              <a:t>("</a:t>
            </a:r>
            <a:r>
              <a:rPr lang="en-US" sz="2000" dirty="0" err="1">
                <a:latin typeface="Consolas" panose="020B0609020204030204" pitchFamily="49" charset="0"/>
              </a:rPr>
              <a:t>Pilihan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tidak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tersedia</a:t>
            </a:r>
            <a:r>
              <a:rPr lang="en-US" sz="2000" dirty="0">
                <a:latin typeface="Consolas" panose="020B0609020204030204" pitchFamily="49" charset="0"/>
              </a:rPr>
              <a:t>");</a:t>
            </a:r>
          </a:p>
          <a:p>
            <a:pPr>
              <a:spcAft>
                <a:spcPts val="800"/>
              </a:spcAft>
            </a:pPr>
            <a:r>
              <a:rPr lang="en-US" sz="2000" dirty="0">
                <a:latin typeface="Consolas" panose="020B0609020204030204" pitchFamily="49" charset="0"/>
              </a:rPr>
              <a:t>        break;</a:t>
            </a:r>
          </a:p>
          <a:p>
            <a:pPr>
              <a:spcAft>
                <a:spcPts val="800"/>
              </a:spcAft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64535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9BEEA3-6DD5-4508-90E1-C0EF134FB0D1}"/>
              </a:ext>
            </a:extLst>
          </p:cNvPr>
          <p:cNvSpPr txBox="1"/>
          <p:nvPr/>
        </p:nvSpPr>
        <p:spPr>
          <a:xfrm>
            <a:off x="508000" y="317500"/>
            <a:ext cx="1079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 dirty="0">
                <a:latin typeface="Aptos Display"/>
              </a:rPr>
              <a:t>OPERATOR TERNARY (?)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1014F-5512-4300-8B0D-EFFC4B256342}"/>
              </a:ext>
            </a:extLst>
          </p:cNvPr>
          <p:cNvSpPr txBox="1"/>
          <p:nvPr/>
        </p:nvSpPr>
        <p:spPr>
          <a:xfrm>
            <a:off x="508000" y="1582738"/>
            <a:ext cx="11598276" cy="39395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3000" dirty="0">
                <a:latin typeface="Consolas" panose="020B0609020204030204" pitchFamily="49" charset="0"/>
              </a:rPr>
              <a:t>Ternary </a:t>
            </a:r>
            <a:r>
              <a:rPr lang="en-US" sz="3000" dirty="0" err="1">
                <a:latin typeface="Consolas" panose="020B0609020204030204" pitchFamily="49" charset="0"/>
              </a:rPr>
              <a:t>adalah</a:t>
            </a:r>
            <a:r>
              <a:rPr lang="en-US" sz="3000" dirty="0">
                <a:latin typeface="Consolas" panose="020B0609020204030204" pitchFamily="49" charset="0"/>
              </a:rPr>
              <a:t> </a:t>
            </a:r>
            <a:r>
              <a:rPr lang="en-US" sz="3000" dirty="0" err="1">
                <a:latin typeface="Consolas" panose="020B0609020204030204" pitchFamily="49" charset="0"/>
              </a:rPr>
              <a:t>bentuk</a:t>
            </a:r>
            <a:r>
              <a:rPr lang="en-US" sz="3000" dirty="0">
                <a:latin typeface="Consolas" panose="020B0609020204030204" pitchFamily="49" charset="0"/>
              </a:rPr>
              <a:t> </a:t>
            </a:r>
            <a:r>
              <a:rPr lang="en-US" sz="3000" dirty="0" err="1">
                <a:latin typeface="Consolas" panose="020B0609020204030204" pitchFamily="49" charset="0"/>
              </a:rPr>
              <a:t>singkat</a:t>
            </a:r>
            <a:r>
              <a:rPr lang="en-US" sz="3000" dirty="0">
                <a:latin typeface="Consolas" panose="020B0609020204030204" pitchFamily="49" charset="0"/>
              </a:rPr>
              <a:t> </a:t>
            </a:r>
            <a:r>
              <a:rPr lang="en-US" sz="3000" dirty="0" err="1">
                <a:latin typeface="Consolas" panose="020B0609020204030204" pitchFamily="49" charset="0"/>
              </a:rPr>
              <a:t>dari</a:t>
            </a:r>
            <a:r>
              <a:rPr lang="en-US" sz="3000" dirty="0">
                <a:latin typeface="Consolas" panose="020B0609020204030204" pitchFamily="49" charset="0"/>
              </a:rPr>
              <a:t> if - else.</a:t>
            </a:r>
          </a:p>
          <a:p>
            <a:pPr>
              <a:spcAft>
                <a:spcPts val="800"/>
              </a:spcAft>
            </a:pPr>
            <a:endParaRPr lang="en-US" sz="30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000" dirty="0">
                <a:latin typeface="Consolas" panose="020B0609020204030204" pitchFamily="49" charset="0"/>
              </a:rPr>
              <a:t>Format:</a:t>
            </a:r>
          </a:p>
          <a:p>
            <a:pPr>
              <a:spcAft>
                <a:spcPts val="800"/>
              </a:spcAft>
            </a:pPr>
            <a:r>
              <a:rPr lang="en-US" sz="3000" dirty="0" err="1">
                <a:latin typeface="Consolas" panose="020B0609020204030204" pitchFamily="49" charset="0"/>
              </a:rPr>
              <a:t>kondisi</a:t>
            </a:r>
            <a:r>
              <a:rPr lang="en-US" sz="3000" dirty="0">
                <a:latin typeface="Consolas" panose="020B0609020204030204" pitchFamily="49" charset="0"/>
              </a:rPr>
              <a:t> ? </a:t>
            </a:r>
            <a:r>
              <a:rPr lang="en-US" sz="3000" dirty="0" err="1">
                <a:latin typeface="Consolas" panose="020B0609020204030204" pitchFamily="49" charset="0"/>
              </a:rPr>
              <a:t>nilaiJikaBenar</a:t>
            </a:r>
            <a:r>
              <a:rPr lang="en-US" sz="3000" dirty="0">
                <a:latin typeface="Consolas" panose="020B0609020204030204" pitchFamily="49" charset="0"/>
              </a:rPr>
              <a:t> : </a:t>
            </a:r>
            <a:r>
              <a:rPr lang="en-US" sz="3000" dirty="0" err="1">
                <a:latin typeface="Consolas" panose="020B0609020204030204" pitchFamily="49" charset="0"/>
              </a:rPr>
              <a:t>nilaiJikaSalah</a:t>
            </a:r>
            <a:r>
              <a:rPr lang="en-US" sz="3000" dirty="0">
                <a:latin typeface="Consolas" panose="020B0609020204030204" pitchFamily="49" charset="0"/>
              </a:rPr>
              <a:t>;</a:t>
            </a:r>
          </a:p>
          <a:p>
            <a:pPr>
              <a:spcAft>
                <a:spcPts val="800"/>
              </a:spcAft>
            </a:pPr>
            <a:endParaRPr lang="en-US" sz="30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000" dirty="0" err="1">
                <a:latin typeface="Consolas" panose="020B0609020204030204" pitchFamily="49" charset="0"/>
              </a:rPr>
              <a:t>Contoh</a:t>
            </a:r>
            <a:r>
              <a:rPr lang="en-US" sz="3000" dirty="0">
                <a:latin typeface="Consolas" panose="020B0609020204030204" pitchFamily="49" charset="0"/>
              </a:rPr>
              <a:t>:</a:t>
            </a:r>
          </a:p>
          <a:p>
            <a:pPr>
              <a:spcAft>
                <a:spcPts val="800"/>
              </a:spcAft>
            </a:pPr>
            <a:r>
              <a:rPr lang="en-US" sz="3000" dirty="0">
                <a:latin typeface="Consolas" panose="020B0609020204030204" pitchFamily="49" charset="0"/>
              </a:rPr>
              <a:t>string status = </a:t>
            </a:r>
            <a:r>
              <a:rPr lang="en-US" sz="3000" dirty="0" err="1">
                <a:latin typeface="Consolas" panose="020B0609020204030204" pitchFamily="49" charset="0"/>
              </a:rPr>
              <a:t>nilai</a:t>
            </a:r>
            <a:r>
              <a:rPr lang="en-US" sz="3000" dirty="0">
                <a:latin typeface="Consolas" panose="020B0609020204030204" pitchFamily="49" charset="0"/>
              </a:rPr>
              <a:t> &gt;= 60 ? "Lulus" : "</a:t>
            </a:r>
            <a:r>
              <a:rPr lang="en-US" sz="3000" dirty="0" err="1">
                <a:latin typeface="Consolas" panose="020B0609020204030204" pitchFamily="49" charset="0"/>
              </a:rPr>
              <a:t>Tidak</a:t>
            </a:r>
            <a:r>
              <a:rPr lang="en-US" sz="3000" dirty="0">
                <a:latin typeface="Consolas" panose="020B0609020204030204" pitchFamily="49" charset="0"/>
              </a:rPr>
              <a:t> Lulus";</a:t>
            </a:r>
          </a:p>
        </p:txBody>
      </p:sp>
    </p:spTree>
    <p:extLst>
      <p:ext uri="{BB962C8B-B14F-4D97-AF65-F5344CB8AC3E}">
        <p14:creationId xmlns:p14="http://schemas.microsoft.com/office/powerpoint/2010/main" val="3842515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6A5221-DB49-4BDD-A4E2-A6CD4F8C2704}"/>
              </a:ext>
            </a:extLst>
          </p:cNvPr>
          <p:cNvSpPr txBox="1"/>
          <p:nvPr/>
        </p:nvSpPr>
        <p:spPr>
          <a:xfrm>
            <a:off x="508000" y="317500"/>
            <a:ext cx="1079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 dirty="0">
                <a:latin typeface="Aptos Display"/>
              </a:rPr>
              <a:t>NESTED IF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7A3C9-B887-4BA7-8C24-29C447A23E18}"/>
              </a:ext>
            </a:extLst>
          </p:cNvPr>
          <p:cNvSpPr txBox="1"/>
          <p:nvPr/>
        </p:nvSpPr>
        <p:spPr>
          <a:xfrm>
            <a:off x="1119188" y="1195447"/>
            <a:ext cx="10795000" cy="53450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Nested if = if di </a:t>
            </a:r>
            <a:r>
              <a:rPr lang="en-US" sz="3200" dirty="0" err="1">
                <a:latin typeface="Consolas" panose="020B0609020204030204" pitchFamily="49" charset="0"/>
              </a:rPr>
              <a:t>dalam</a:t>
            </a:r>
            <a:r>
              <a:rPr lang="en-US" sz="3200" dirty="0">
                <a:latin typeface="Consolas" panose="020B0609020204030204" pitchFamily="49" charset="0"/>
              </a:rPr>
              <a:t> if.</a:t>
            </a:r>
          </a:p>
          <a:p>
            <a:pPr>
              <a:spcAft>
                <a:spcPts val="800"/>
              </a:spcAft>
            </a:pP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if (</a:t>
            </a:r>
            <a:r>
              <a:rPr lang="en-US" sz="3200" dirty="0" err="1">
                <a:latin typeface="Consolas" panose="020B0609020204030204" pitchFamily="49" charset="0"/>
              </a:rPr>
              <a:t>nilai</a:t>
            </a:r>
            <a:r>
              <a:rPr lang="en-US" sz="3200" dirty="0">
                <a:latin typeface="Consolas" panose="020B0609020204030204" pitchFamily="49" charset="0"/>
              </a:rPr>
              <a:t> &gt;= 60)</a:t>
            </a: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    if (</a:t>
            </a:r>
            <a:r>
              <a:rPr lang="en-US" sz="3200" dirty="0" err="1">
                <a:latin typeface="Consolas" panose="020B0609020204030204" pitchFamily="49" charset="0"/>
              </a:rPr>
              <a:t>kehadiran</a:t>
            </a:r>
            <a:r>
              <a:rPr lang="en-US" sz="3200" dirty="0">
                <a:latin typeface="Consolas" panose="020B0609020204030204" pitchFamily="49" charset="0"/>
              </a:rPr>
              <a:t> &gt;= 75)</a:t>
            </a: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    {</a:t>
            </a: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        </a:t>
            </a:r>
            <a:r>
              <a:rPr lang="en-US" sz="3200" dirty="0" err="1">
                <a:latin typeface="Consolas" panose="020B0609020204030204" pitchFamily="49" charset="0"/>
              </a:rPr>
              <a:t>Console.WriteLine</a:t>
            </a:r>
            <a:r>
              <a:rPr lang="en-US" sz="3200" dirty="0">
                <a:latin typeface="Consolas" panose="020B0609020204030204" pitchFamily="49" charset="0"/>
              </a:rPr>
              <a:t>("Lulus");</a:t>
            </a: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    }</a:t>
            </a: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95196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8B653A-BA20-4BA6-B49C-45977F54666B}"/>
              </a:ext>
            </a:extLst>
          </p:cNvPr>
          <p:cNvSpPr txBox="1"/>
          <p:nvPr/>
        </p:nvSpPr>
        <p:spPr>
          <a:xfrm>
            <a:off x="179388" y="374650"/>
            <a:ext cx="1079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 dirty="0">
                <a:latin typeface="Aptos Display"/>
              </a:rPr>
              <a:t>CASE STUDY 1: NILAI MAHASISWA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9F6F3F-F139-43A3-89BA-94B883E50952}"/>
              </a:ext>
            </a:extLst>
          </p:cNvPr>
          <p:cNvSpPr txBox="1"/>
          <p:nvPr/>
        </p:nvSpPr>
        <p:spPr>
          <a:xfrm>
            <a:off x="762000" y="1397000"/>
            <a:ext cx="10795000" cy="39292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3600" dirty="0" err="1">
                <a:latin typeface="Consolas" panose="020B0609020204030204" pitchFamily="49" charset="0"/>
              </a:rPr>
              <a:t>Contoh</a:t>
            </a:r>
            <a:r>
              <a:rPr lang="en-US" sz="3600" dirty="0">
                <a:latin typeface="Consolas" panose="020B0609020204030204" pitchFamily="49" charset="0"/>
              </a:rPr>
              <a:t> </a:t>
            </a:r>
            <a:r>
              <a:rPr lang="en-US" sz="3600" dirty="0" err="1">
                <a:latin typeface="Consolas" panose="020B0609020204030204" pitchFamily="49" charset="0"/>
              </a:rPr>
              <a:t>studi</a:t>
            </a:r>
            <a:r>
              <a:rPr lang="en-US" sz="3600" dirty="0">
                <a:latin typeface="Consolas" panose="020B0609020204030204" pitchFamily="49" charset="0"/>
              </a:rPr>
              <a:t> </a:t>
            </a:r>
            <a:r>
              <a:rPr lang="en-US" sz="3600" dirty="0" err="1">
                <a:latin typeface="Consolas" panose="020B0609020204030204" pitchFamily="49" charset="0"/>
              </a:rPr>
              <a:t>kasus</a:t>
            </a:r>
            <a:r>
              <a:rPr lang="en-US" sz="3600" dirty="0">
                <a:latin typeface="Consolas" panose="020B0609020204030204" pitchFamily="49" charset="0"/>
              </a:rPr>
              <a:t> </a:t>
            </a:r>
            <a:r>
              <a:rPr lang="en-US" sz="3600" dirty="0" err="1">
                <a:latin typeface="Consolas" panose="020B0609020204030204" pitchFamily="49" charset="0"/>
              </a:rPr>
              <a:t>nilai</a:t>
            </a:r>
            <a:r>
              <a:rPr lang="en-US" sz="3600" dirty="0">
                <a:latin typeface="Consolas" panose="020B0609020204030204" pitchFamily="49" charset="0"/>
              </a:rPr>
              <a:t> </a:t>
            </a:r>
            <a:r>
              <a:rPr lang="en-US" sz="3600" dirty="0" err="1">
                <a:latin typeface="Consolas" panose="020B0609020204030204" pitchFamily="49" charset="0"/>
              </a:rPr>
              <a:t>mahasiswa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>
              <a:spcAft>
                <a:spcPts val="800"/>
              </a:spcAft>
            </a:pPr>
            <a:r>
              <a:rPr lang="en-US" sz="3600" dirty="0">
                <a:latin typeface="Consolas" panose="020B0609020204030204" pitchFamily="49" charset="0"/>
              </a:rPr>
              <a:t>Nilai Akhir &gt;= 85 ? A</a:t>
            </a:r>
          </a:p>
          <a:p>
            <a:pPr>
              <a:spcAft>
                <a:spcPts val="800"/>
              </a:spcAft>
            </a:pPr>
            <a:r>
              <a:rPr lang="en-US" sz="3600" dirty="0">
                <a:latin typeface="Consolas" panose="020B0609020204030204" pitchFamily="49" charset="0"/>
              </a:rPr>
              <a:t>Nilai Akhir &gt;= 70 ? B</a:t>
            </a:r>
          </a:p>
          <a:p>
            <a:pPr>
              <a:spcAft>
                <a:spcPts val="800"/>
              </a:spcAft>
            </a:pPr>
            <a:r>
              <a:rPr lang="en-US" sz="3600" dirty="0">
                <a:latin typeface="Consolas" panose="020B0609020204030204" pitchFamily="49" charset="0"/>
              </a:rPr>
              <a:t>Nilai Akhir &gt;= 60 ? C</a:t>
            </a:r>
          </a:p>
          <a:p>
            <a:pPr>
              <a:spcAft>
                <a:spcPts val="800"/>
              </a:spcAft>
            </a:pPr>
            <a:r>
              <a:rPr lang="en-US" sz="3600" dirty="0">
                <a:latin typeface="Consolas" panose="020B0609020204030204" pitchFamily="49" charset="0"/>
              </a:rPr>
              <a:t>Nilai Akhir &gt;= 50 ? D</a:t>
            </a:r>
          </a:p>
          <a:p>
            <a:pPr>
              <a:spcAft>
                <a:spcPts val="800"/>
              </a:spcAft>
            </a:pPr>
            <a:r>
              <a:rPr lang="en-US" sz="3600" dirty="0">
                <a:latin typeface="Consolas" panose="020B0609020204030204" pitchFamily="49" charset="0"/>
              </a:rPr>
              <a:t>Nilai Akhir &lt; 50  ? E</a:t>
            </a:r>
          </a:p>
        </p:txBody>
      </p:sp>
    </p:spTree>
    <p:extLst>
      <p:ext uri="{BB962C8B-B14F-4D97-AF65-F5344CB8AC3E}">
        <p14:creationId xmlns:p14="http://schemas.microsoft.com/office/powerpoint/2010/main" val="3901004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2309F5-0306-4DC4-A7F7-CDECA3571EE2}"/>
              </a:ext>
            </a:extLst>
          </p:cNvPr>
          <p:cNvSpPr txBox="1"/>
          <p:nvPr/>
        </p:nvSpPr>
        <p:spPr>
          <a:xfrm>
            <a:off x="508000" y="317500"/>
            <a:ext cx="1079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latin typeface="Aptos Display"/>
              </a:rPr>
              <a:t>PROGRAM NILAI MAHASISWA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1A3D6E-3082-4B35-ACF1-4760001E4592}"/>
              </a:ext>
            </a:extLst>
          </p:cNvPr>
          <p:cNvSpPr txBox="1"/>
          <p:nvPr/>
        </p:nvSpPr>
        <p:spPr>
          <a:xfrm>
            <a:off x="698500" y="971917"/>
            <a:ext cx="10795000" cy="518090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400" dirty="0" err="1">
                <a:latin typeface="Consolas" panose="020B0609020204030204" pitchFamily="49" charset="0"/>
              </a:rPr>
              <a:t>Console.Write</a:t>
            </a:r>
            <a:r>
              <a:rPr lang="en-US" sz="2400" dirty="0">
                <a:latin typeface="Consolas" panose="020B0609020204030204" pitchFamily="49" charset="0"/>
              </a:rPr>
              <a:t>("Masukkan </a:t>
            </a:r>
            <a:r>
              <a:rPr lang="en-US" sz="2400" dirty="0" err="1">
                <a:latin typeface="Consolas" panose="020B0609020204030204" pitchFamily="49" charset="0"/>
              </a:rPr>
              <a:t>nilai</a:t>
            </a:r>
            <a:r>
              <a:rPr lang="en-US" sz="2400" dirty="0">
                <a:latin typeface="Consolas" panose="020B0609020204030204" pitchFamily="49" charset="0"/>
              </a:rPr>
              <a:t>: ");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int </a:t>
            </a:r>
            <a:r>
              <a:rPr lang="en-US" sz="2400" dirty="0" err="1">
                <a:latin typeface="Consolas" panose="020B0609020204030204" pitchFamily="49" charset="0"/>
              </a:rPr>
              <a:t>nilai</a:t>
            </a:r>
            <a:r>
              <a:rPr lang="en-US" sz="2400" dirty="0">
                <a:latin typeface="Consolas" panose="020B0609020204030204" pitchFamily="49" charset="0"/>
              </a:rPr>
              <a:t> = </a:t>
            </a:r>
            <a:r>
              <a:rPr lang="en-US" sz="2400" dirty="0" err="1">
                <a:latin typeface="Consolas" panose="020B0609020204030204" pitchFamily="49" charset="0"/>
              </a:rPr>
              <a:t>int.Parse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Console.ReadLine</a:t>
            </a:r>
            <a:r>
              <a:rPr lang="en-US" sz="2400" dirty="0">
                <a:latin typeface="Consolas" panose="020B0609020204030204" pitchFamily="49" charset="0"/>
              </a:rPr>
              <a:t>());</a:t>
            </a:r>
          </a:p>
          <a:p>
            <a:pPr>
              <a:spcAft>
                <a:spcPts val="800"/>
              </a:spcAft>
            </a:pPr>
            <a:endParaRPr lang="en-US" sz="24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if (</a:t>
            </a:r>
            <a:r>
              <a:rPr lang="en-US" sz="2400" dirty="0" err="1">
                <a:latin typeface="Consolas" panose="020B0609020204030204" pitchFamily="49" charset="0"/>
              </a:rPr>
              <a:t>nilai</a:t>
            </a:r>
            <a:r>
              <a:rPr lang="en-US" sz="2400" dirty="0">
                <a:latin typeface="Consolas" panose="020B0609020204030204" pitchFamily="49" charset="0"/>
              </a:rPr>
              <a:t> &gt;= 85)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latin typeface="Consolas" panose="020B0609020204030204" pitchFamily="49" charset="0"/>
              </a:rPr>
              <a:t>("A");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else if (</a:t>
            </a:r>
            <a:r>
              <a:rPr lang="en-US" sz="2400" dirty="0" err="1">
                <a:latin typeface="Consolas" panose="020B0609020204030204" pitchFamily="49" charset="0"/>
              </a:rPr>
              <a:t>nilai</a:t>
            </a:r>
            <a:r>
              <a:rPr lang="en-US" sz="2400" dirty="0">
                <a:latin typeface="Consolas" panose="020B0609020204030204" pitchFamily="49" charset="0"/>
              </a:rPr>
              <a:t> &gt;= 70)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latin typeface="Consolas" panose="020B0609020204030204" pitchFamily="49" charset="0"/>
              </a:rPr>
              <a:t>("B");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else if (</a:t>
            </a:r>
            <a:r>
              <a:rPr lang="en-US" sz="2400" dirty="0" err="1">
                <a:latin typeface="Consolas" panose="020B0609020204030204" pitchFamily="49" charset="0"/>
              </a:rPr>
              <a:t>nilai</a:t>
            </a:r>
            <a:r>
              <a:rPr lang="en-US" sz="2400" dirty="0">
                <a:latin typeface="Consolas" panose="020B0609020204030204" pitchFamily="49" charset="0"/>
              </a:rPr>
              <a:t> &gt;= 60)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latin typeface="Consolas" panose="020B0609020204030204" pitchFamily="49" charset="0"/>
              </a:rPr>
              <a:t>("C");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else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latin typeface="Consolas" panose="020B0609020204030204" pitchFamily="49" charset="0"/>
              </a:rPr>
              <a:t>("D/E");</a:t>
            </a:r>
          </a:p>
        </p:txBody>
      </p:sp>
    </p:spTree>
    <p:extLst>
      <p:ext uri="{BB962C8B-B14F-4D97-AF65-F5344CB8AC3E}">
        <p14:creationId xmlns:p14="http://schemas.microsoft.com/office/powerpoint/2010/main" val="1362970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717EA8-06B0-485C-80C3-424A25F7067E}"/>
              </a:ext>
            </a:extLst>
          </p:cNvPr>
          <p:cNvSpPr txBox="1"/>
          <p:nvPr/>
        </p:nvSpPr>
        <p:spPr>
          <a:xfrm>
            <a:off x="508000" y="317500"/>
            <a:ext cx="1079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 dirty="0">
                <a:latin typeface="Aptos Display"/>
              </a:rPr>
              <a:t>CASE STUDY 2: DISKON BELANJA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64E260-F540-4B5E-B8F3-2EE3C1A2F1E4}"/>
              </a:ext>
            </a:extLst>
          </p:cNvPr>
          <p:cNvSpPr txBox="1"/>
          <p:nvPr/>
        </p:nvSpPr>
        <p:spPr>
          <a:xfrm>
            <a:off x="762000" y="1397000"/>
            <a:ext cx="10795000" cy="524246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3600" dirty="0" err="1">
                <a:latin typeface="Consolas" panose="020B0609020204030204" pitchFamily="49" charset="0"/>
              </a:rPr>
              <a:t>Studi</a:t>
            </a:r>
            <a:r>
              <a:rPr lang="en-US" sz="3600" dirty="0">
                <a:latin typeface="Consolas" panose="020B0609020204030204" pitchFamily="49" charset="0"/>
              </a:rPr>
              <a:t> </a:t>
            </a:r>
            <a:r>
              <a:rPr lang="en-US" sz="3600" dirty="0" err="1">
                <a:latin typeface="Consolas" panose="020B0609020204030204" pitchFamily="49" charset="0"/>
              </a:rPr>
              <a:t>kasus</a:t>
            </a:r>
            <a:r>
              <a:rPr lang="en-US" sz="3600" dirty="0">
                <a:latin typeface="Consolas" panose="020B0609020204030204" pitchFamily="49" charset="0"/>
              </a:rPr>
              <a:t> </a:t>
            </a:r>
            <a:r>
              <a:rPr lang="en-US" sz="3600" dirty="0" err="1">
                <a:latin typeface="Consolas" panose="020B0609020204030204" pitchFamily="49" charset="0"/>
              </a:rPr>
              <a:t>diskon</a:t>
            </a:r>
            <a:r>
              <a:rPr lang="en-US" sz="3600" dirty="0">
                <a:latin typeface="Consolas" panose="020B0609020204030204" pitchFamily="49" charset="0"/>
              </a:rPr>
              <a:t> </a:t>
            </a:r>
            <a:r>
              <a:rPr lang="en-US" sz="3600" dirty="0" err="1">
                <a:latin typeface="Consolas" panose="020B0609020204030204" pitchFamily="49" charset="0"/>
              </a:rPr>
              <a:t>belanja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>
              <a:spcAft>
                <a:spcPts val="800"/>
              </a:spcAft>
            </a:pPr>
            <a:endParaRPr lang="en-US" sz="36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600" dirty="0" err="1">
                <a:latin typeface="Consolas" panose="020B0609020204030204" pitchFamily="49" charset="0"/>
              </a:rPr>
              <a:t>Belanja</a:t>
            </a:r>
            <a:r>
              <a:rPr lang="en-US" sz="3600" dirty="0">
                <a:latin typeface="Consolas" panose="020B0609020204030204" pitchFamily="49" charset="0"/>
              </a:rPr>
              <a:t> &lt; Rp250.000 ? </a:t>
            </a:r>
            <a:r>
              <a:rPr lang="en-US" sz="3600" dirty="0" err="1">
                <a:latin typeface="Consolas" panose="020B0609020204030204" pitchFamily="49" charset="0"/>
              </a:rPr>
              <a:t>Tidak</a:t>
            </a:r>
            <a:r>
              <a:rPr lang="en-US" sz="3600" dirty="0">
                <a:latin typeface="Consolas" panose="020B0609020204030204" pitchFamily="49" charset="0"/>
              </a:rPr>
              <a:t> </a:t>
            </a:r>
            <a:r>
              <a:rPr lang="en-US" sz="3600" dirty="0" err="1">
                <a:latin typeface="Consolas" panose="020B0609020204030204" pitchFamily="49" charset="0"/>
              </a:rPr>
              <a:t>ada</a:t>
            </a:r>
            <a:r>
              <a:rPr lang="en-US" sz="3600" dirty="0">
                <a:latin typeface="Consolas" panose="020B0609020204030204" pitchFamily="49" charset="0"/>
              </a:rPr>
              <a:t> </a:t>
            </a:r>
            <a:r>
              <a:rPr lang="en-US" sz="3600" dirty="0" err="1">
                <a:latin typeface="Consolas" panose="020B0609020204030204" pitchFamily="49" charset="0"/>
              </a:rPr>
              <a:t>diskon</a:t>
            </a:r>
            <a:endParaRPr lang="en-US" sz="36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600" dirty="0">
                <a:latin typeface="Consolas" panose="020B0609020204030204" pitchFamily="49" charset="0"/>
              </a:rPr>
              <a:t>Rp250.000 - Rp499.999 ? </a:t>
            </a:r>
            <a:r>
              <a:rPr lang="en-US" sz="3600" dirty="0" err="1">
                <a:latin typeface="Consolas" panose="020B0609020204030204" pitchFamily="49" charset="0"/>
              </a:rPr>
              <a:t>Diskon</a:t>
            </a:r>
            <a:r>
              <a:rPr lang="en-US" sz="3600" dirty="0">
                <a:latin typeface="Consolas" panose="020B0609020204030204" pitchFamily="49" charset="0"/>
              </a:rPr>
              <a:t> 10%</a:t>
            </a:r>
          </a:p>
          <a:p>
            <a:pPr>
              <a:spcAft>
                <a:spcPts val="800"/>
              </a:spcAft>
            </a:pPr>
            <a:r>
              <a:rPr lang="en-US" sz="3600" dirty="0">
                <a:latin typeface="Consolas" panose="020B0609020204030204" pitchFamily="49" charset="0"/>
              </a:rPr>
              <a:t>&gt;= Rp500.000 ? </a:t>
            </a:r>
            <a:r>
              <a:rPr lang="en-US" sz="3600" dirty="0" err="1">
                <a:latin typeface="Consolas" panose="020B0609020204030204" pitchFamily="49" charset="0"/>
              </a:rPr>
              <a:t>Diskon</a:t>
            </a:r>
            <a:r>
              <a:rPr lang="en-US" sz="3600" dirty="0">
                <a:latin typeface="Consolas" panose="020B0609020204030204" pitchFamily="49" charset="0"/>
              </a:rPr>
              <a:t> 20%</a:t>
            </a:r>
          </a:p>
          <a:p>
            <a:pPr>
              <a:spcAft>
                <a:spcPts val="800"/>
              </a:spcAft>
            </a:pPr>
            <a:endParaRPr lang="en-US" sz="36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600" dirty="0" err="1">
                <a:latin typeface="Consolas" panose="020B0609020204030204" pitchFamily="49" charset="0"/>
              </a:rPr>
              <a:t>Gunakan</a:t>
            </a:r>
            <a:r>
              <a:rPr lang="en-US" sz="3600" dirty="0">
                <a:latin typeface="Consolas" panose="020B0609020204030204" pitchFamily="49" charset="0"/>
              </a:rPr>
              <a:t> if - else if - else.</a:t>
            </a:r>
          </a:p>
          <a:p>
            <a:pPr>
              <a:spcAft>
                <a:spcPts val="800"/>
              </a:spcAft>
            </a:pPr>
            <a:r>
              <a:rPr lang="en-US" sz="3600" dirty="0" err="1">
                <a:latin typeface="Consolas" panose="020B0609020204030204" pitchFamily="49" charset="0"/>
              </a:rPr>
              <a:t>Rumusnya</a:t>
            </a:r>
            <a:r>
              <a:rPr lang="en-US" sz="3600" dirty="0">
                <a:latin typeface="Consolas" panose="020B0609020204030204" pitchFamily="49" charset="0"/>
              </a:rPr>
              <a:t> </a:t>
            </a:r>
            <a:r>
              <a:rPr lang="en-US" sz="3600" dirty="0" err="1"/>
              <a:t>Belanja</a:t>
            </a:r>
            <a:r>
              <a:rPr lang="en-US" sz="3600" dirty="0"/>
              <a:t> * (</a:t>
            </a:r>
            <a:r>
              <a:rPr lang="en-US" sz="3600" dirty="0" err="1"/>
              <a:t>diskon</a:t>
            </a:r>
            <a:r>
              <a:rPr lang="en-US" sz="3600" dirty="0"/>
              <a:t> / 100)</a:t>
            </a:r>
            <a:endParaRPr lang="en-US" sz="3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616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5536CA-4BBD-40CE-8157-EECBE42158DD}"/>
              </a:ext>
            </a:extLst>
          </p:cNvPr>
          <p:cNvSpPr txBox="1"/>
          <p:nvPr/>
        </p:nvSpPr>
        <p:spPr>
          <a:xfrm>
            <a:off x="508000" y="3175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 dirty="0">
                <a:latin typeface="Aptos Display"/>
              </a:rPr>
              <a:t>CASE STUDY 4: GANJIL / GENAP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B98B82-C0F3-4F7F-BF4B-2B5407ED3E41}"/>
              </a:ext>
            </a:extLst>
          </p:cNvPr>
          <p:cNvSpPr txBox="1"/>
          <p:nvPr/>
        </p:nvSpPr>
        <p:spPr>
          <a:xfrm>
            <a:off x="1162050" y="1039812"/>
            <a:ext cx="10795000" cy="56528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Program </a:t>
            </a:r>
            <a:r>
              <a:rPr lang="en-US" sz="2400" dirty="0" err="1">
                <a:latin typeface="Consolas" panose="020B0609020204030204" pitchFamily="49" charset="0"/>
              </a:rPr>
              <a:t>menentukan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bilangan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ganjil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atau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genap</a:t>
            </a:r>
            <a:r>
              <a:rPr lang="en-US" sz="2400" dirty="0">
                <a:latin typeface="Consolas" panose="020B0609020204030204" pitchFamily="49" charset="0"/>
              </a:rPr>
              <a:t>.</a:t>
            </a:r>
          </a:p>
          <a:p>
            <a:pPr>
              <a:spcAft>
                <a:spcPts val="800"/>
              </a:spcAft>
            </a:pPr>
            <a:endParaRPr lang="en-US" sz="24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int </a:t>
            </a:r>
            <a:r>
              <a:rPr lang="en-US" sz="2400" dirty="0" err="1">
                <a:latin typeface="Consolas" panose="020B0609020204030204" pitchFamily="49" charset="0"/>
              </a:rPr>
              <a:t>angka</a:t>
            </a:r>
            <a:r>
              <a:rPr lang="en-US" sz="2400" dirty="0">
                <a:latin typeface="Consolas" panose="020B0609020204030204" pitchFamily="49" charset="0"/>
              </a:rPr>
              <a:t> = 10;</a:t>
            </a:r>
          </a:p>
          <a:p>
            <a:pPr>
              <a:spcAft>
                <a:spcPts val="800"/>
              </a:spcAft>
            </a:pPr>
            <a:endParaRPr lang="en-US" sz="24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if (</a:t>
            </a:r>
            <a:r>
              <a:rPr lang="en-US" sz="2400" dirty="0" err="1">
                <a:latin typeface="Consolas" panose="020B0609020204030204" pitchFamily="49" charset="0"/>
              </a:rPr>
              <a:t>angka</a:t>
            </a:r>
            <a:r>
              <a:rPr lang="en-US" sz="2400" dirty="0">
                <a:latin typeface="Consolas" panose="020B0609020204030204" pitchFamily="49" charset="0"/>
              </a:rPr>
              <a:t> % 2 == 0)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latin typeface="Consolas" panose="020B0609020204030204" pitchFamily="49" charset="0"/>
              </a:rPr>
              <a:t>("</a:t>
            </a:r>
            <a:r>
              <a:rPr lang="en-US" sz="2400" dirty="0" err="1">
                <a:latin typeface="Consolas" panose="020B0609020204030204" pitchFamily="49" charset="0"/>
              </a:rPr>
              <a:t>Genap</a:t>
            </a:r>
            <a:r>
              <a:rPr lang="en-US" sz="2400" dirty="0">
                <a:latin typeface="Consolas" panose="020B0609020204030204" pitchFamily="49" charset="0"/>
              </a:rPr>
              <a:t>");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}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else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latin typeface="Consolas" panose="020B0609020204030204" pitchFamily="49" charset="0"/>
              </a:rPr>
              <a:t>("</a:t>
            </a:r>
            <a:r>
              <a:rPr lang="en-US" sz="2400" dirty="0" err="1">
                <a:latin typeface="Consolas" panose="020B0609020204030204" pitchFamily="49" charset="0"/>
              </a:rPr>
              <a:t>Ganjil</a:t>
            </a:r>
            <a:r>
              <a:rPr lang="en-US" sz="2400" dirty="0">
                <a:latin typeface="Consolas" panose="020B0609020204030204" pitchFamily="49" charset="0"/>
              </a:rPr>
              <a:t>");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6849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EB7268-DB19-40AB-B7FF-4927F0C266C3}"/>
              </a:ext>
            </a:extLst>
          </p:cNvPr>
          <p:cNvSpPr txBox="1"/>
          <p:nvPr/>
        </p:nvSpPr>
        <p:spPr>
          <a:xfrm>
            <a:off x="508000" y="317500"/>
            <a:ext cx="1079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latin typeface="Aptos Display"/>
              </a:rPr>
              <a:t>KESALAHAN UMUM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ECE83-6743-4936-948A-0EF562E05EE5}"/>
              </a:ext>
            </a:extLst>
          </p:cNvPr>
          <p:cNvSpPr txBox="1"/>
          <p:nvPr/>
        </p:nvSpPr>
        <p:spPr>
          <a:xfrm>
            <a:off x="762000" y="1397000"/>
            <a:ext cx="10795000" cy="40934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000">
                <a:latin typeface="Consolas" panose="020B0609020204030204" pitchFamily="49" charset="0"/>
              </a:rPr>
              <a:t>Kesalahan yang sering terjadi:</a:t>
            </a:r>
          </a:p>
          <a:p>
            <a:pPr>
              <a:spcAft>
                <a:spcPts val="800"/>
              </a:spcAft>
            </a:pPr>
            <a:endParaRPr lang="en-US" sz="200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000">
                <a:latin typeface="Consolas" panose="020B0609020204030204" pitchFamily="49" charset="0"/>
              </a:rPr>
              <a:t>1. Menggunakan = untuk perbandingan.</a:t>
            </a:r>
          </a:p>
          <a:p>
            <a:pPr>
              <a:spcAft>
                <a:spcPts val="800"/>
              </a:spcAft>
            </a:pPr>
            <a:r>
              <a:rPr lang="en-US" sz="2000">
                <a:latin typeface="Consolas" panose="020B0609020204030204" pitchFamily="49" charset="0"/>
              </a:rPr>
              <a:t>   Gunakan == untuk membandingkan.</a:t>
            </a:r>
          </a:p>
          <a:p>
            <a:pPr>
              <a:spcAft>
                <a:spcPts val="800"/>
              </a:spcAft>
            </a:pPr>
            <a:endParaRPr lang="en-US" sz="200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000">
                <a:latin typeface="Consolas" panose="020B0609020204030204" pitchFamily="49" charset="0"/>
              </a:rPr>
              <a:t>2. Lupa tanda kurung { }.</a:t>
            </a:r>
          </a:p>
          <a:p>
            <a:pPr>
              <a:spcAft>
                <a:spcPts val="800"/>
              </a:spcAft>
            </a:pPr>
            <a:endParaRPr lang="en-US" sz="200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000">
                <a:latin typeface="Consolas" panose="020B0609020204030204" pitchFamily="49" charset="0"/>
              </a:rPr>
              <a:t>3. Kondisi else if tidak berurutan.</a:t>
            </a:r>
          </a:p>
          <a:p>
            <a:pPr>
              <a:spcAft>
                <a:spcPts val="800"/>
              </a:spcAft>
            </a:pPr>
            <a:endParaRPr lang="en-US" sz="200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000">
                <a:latin typeface="Consolas" panose="020B0609020204030204" pitchFamily="49" charset="0"/>
              </a:rPr>
              <a:t>4. Salah menggunakan &amp;&amp; dan ||.</a:t>
            </a:r>
          </a:p>
        </p:txBody>
      </p:sp>
    </p:spTree>
    <p:extLst>
      <p:ext uri="{BB962C8B-B14F-4D97-AF65-F5344CB8AC3E}">
        <p14:creationId xmlns:p14="http://schemas.microsoft.com/office/powerpoint/2010/main" val="3950594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8CF0E5-CAA8-48CD-8D69-B9AA162C88FE}"/>
              </a:ext>
            </a:extLst>
          </p:cNvPr>
          <p:cNvSpPr txBox="1"/>
          <p:nvPr/>
        </p:nvSpPr>
        <p:spPr>
          <a:xfrm>
            <a:off x="508000" y="317500"/>
            <a:ext cx="1079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>
                <a:latin typeface="Aptos Display"/>
              </a:rPr>
              <a:t>LATIHAN 1: KATEGORI USIA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1C1B4-172C-40A1-A2C6-275B912E08E2}"/>
              </a:ext>
            </a:extLst>
          </p:cNvPr>
          <p:cNvSpPr txBox="1"/>
          <p:nvPr/>
        </p:nvSpPr>
        <p:spPr>
          <a:xfrm>
            <a:off x="1284287" y="963831"/>
            <a:ext cx="10795000" cy="47500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 err="1">
                <a:latin typeface="Consolas" panose="020B0609020204030204" pitchFamily="49" charset="0"/>
              </a:rPr>
              <a:t>Buat</a:t>
            </a:r>
            <a:r>
              <a:rPr lang="en-US" sz="3200" dirty="0">
                <a:latin typeface="Consolas" panose="020B0609020204030204" pitchFamily="49" charset="0"/>
              </a:rPr>
              <a:t> program </a:t>
            </a:r>
            <a:r>
              <a:rPr lang="en-US" sz="3200" dirty="0" err="1">
                <a:latin typeface="Consolas" panose="020B0609020204030204" pitchFamily="49" charset="0"/>
              </a:rPr>
              <a:t>untuk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menentukan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kategori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usia</a:t>
            </a:r>
            <a:r>
              <a:rPr lang="en-US" sz="3200" dirty="0">
                <a:latin typeface="Consolas" panose="020B0609020204030204" pitchFamily="49" charset="0"/>
              </a:rPr>
              <a:t>.</a:t>
            </a:r>
          </a:p>
          <a:p>
            <a:pPr>
              <a:spcAft>
                <a:spcPts val="800"/>
              </a:spcAft>
            </a:pP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0 - 5   = </a:t>
            </a:r>
            <a:r>
              <a:rPr lang="en-US" sz="3200" dirty="0" err="1">
                <a:latin typeface="Consolas" panose="020B0609020204030204" pitchFamily="49" charset="0"/>
              </a:rPr>
              <a:t>Balita</a:t>
            </a: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6 - 12  = Anak-</a:t>
            </a:r>
            <a:r>
              <a:rPr lang="en-US" sz="3200" dirty="0" err="1">
                <a:latin typeface="Consolas" panose="020B0609020204030204" pitchFamily="49" charset="0"/>
              </a:rPr>
              <a:t>anak</a:t>
            </a: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13 - 17 = </a:t>
            </a:r>
            <a:r>
              <a:rPr lang="en-US" sz="3200" dirty="0" err="1">
                <a:latin typeface="Consolas" panose="020B0609020204030204" pitchFamily="49" charset="0"/>
              </a:rPr>
              <a:t>Remaja</a:t>
            </a: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18 - 59 = </a:t>
            </a:r>
            <a:r>
              <a:rPr lang="en-US" sz="3200" dirty="0" err="1">
                <a:latin typeface="Consolas" panose="020B0609020204030204" pitchFamily="49" charset="0"/>
              </a:rPr>
              <a:t>Dewasa</a:t>
            </a:r>
            <a:endParaRPr lang="en-US" sz="32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3200" dirty="0">
                <a:latin typeface="Consolas" panose="020B0609020204030204" pitchFamily="49" charset="0"/>
              </a:rPr>
              <a:t>&gt;= 60   = </a:t>
            </a:r>
            <a:r>
              <a:rPr lang="en-US" sz="3200" dirty="0" err="1">
                <a:latin typeface="Consolas" panose="020B0609020204030204" pitchFamily="49" charset="0"/>
              </a:rPr>
              <a:t>Lansia</a:t>
            </a:r>
            <a:endParaRPr lang="en-US" sz="3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317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F55528-5A0C-46F6-8EF7-8819C056FBE4}"/>
              </a:ext>
            </a:extLst>
          </p:cNvPr>
          <p:cNvSpPr txBox="1"/>
          <p:nvPr/>
        </p:nvSpPr>
        <p:spPr>
          <a:xfrm>
            <a:off x="508000" y="3175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 dirty="0">
                <a:latin typeface="Aptos Display"/>
              </a:rPr>
              <a:t>LATIHAN 2: PROGRAM KASIR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1245EF-5B23-496A-BA55-4C13E7B05653}"/>
              </a:ext>
            </a:extLst>
          </p:cNvPr>
          <p:cNvSpPr txBox="1"/>
          <p:nvPr/>
        </p:nvSpPr>
        <p:spPr>
          <a:xfrm>
            <a:off x="1104900" y="579110"/>
            <a:ext cx="10795000" cy="532453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 err="1">
                <a:latin typeface="Consolas" panose="020B0609020204030204" pitchFamily="49" charset="0"/>
              </a:rPr>
              <a:t>Buat</a:t>
            </a:r>
            <a:r>
              <a:rPr lang="en-US" sz="2800" dirty="0">
                <a:latin typeface="Consolas" panose="020B0609020204030204" pitchFamily="49" charset="0"/>
              </a:rPr>
              <a:t> program </a:t>
            </a:r>
            <a:r>
              <a:rPr lang="en-US" sz="2800" dirty="0" err="1">
                <a:latin typeface="Consolas" panose="020B0609020204030204" pitchFamily="49" charset="0"/>
              </a:rPr>
              <a:t>kasir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sederhana</a:t>
            </a:r>
            <a:r>
              <a:rPr lang="en-US" sz="2800" dirty="0">
                <a:latin typeface="Consolas" panose="020B0609020204030204" pitchFamily="49" charset="0"/>
              </a:rPr>
              <a:t>.</a:t>
            </a:r>
          </a:p>
          <a:p>
            <a:pPr>
              <a:spcAft>
                <a:spcPts val="800"/>
              </a:spcAft>
            </a:pP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Input: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- Nama </a:t>
            </a:r>
            <a:r>
              <a:rPr lang="en-US" sz="2800" dirty="0" err="1">
                <a:latin typeface="Consolas" panose="020B0609020204030204" pitchFamily="49" charset="0"/>
              </a:rPr>
              <a:t>barang</a:t>
            </a: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- Harga </a:t>
            </a:r>
            <a:r>
              <a:rPr lang="en-US" sz="2800" dirty="0" err="1">
                <a:latin typeface="Consolas" panose="020B0609020204030204" pitchFamily="49" charset="0"/>
              </a:rPr>
              <a:t>barang</a:t>
            </a: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- </a:t>
            </a:r>
            <a:r>
              <a:rPr lang="en-US" sz="2800" dirty="0" err="1">
                <a:latin typeface="Consolas" panose="020B0609020204030204" pitchFamily="49" charset="0"/>
              </a:rPr>
              <a:t>Jumlah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barang</a:t>
            </a: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 err="1">
                <a:latin typeface="Consolas" panose="020B0609020204030204" pitchFamily="49" charset="0"/>
              </a:rPr>
              <a:t>Hitung</a:t>
            </a:r>
            <a:r>
              <a:rPr lang="en-US" sz="2800" dirty="0">
                <a:latin typeface="Consolas" panose="020B0609020204030204" pitchFamily="49" charset="0"/>
              </a:rPr>
              <a:t> total = Harga x </a:t>
            </a:r>
            <a:r>
              <a:rPr lang="en-US" sz="2800" dirty="0" err="1">
                <a:latin typeface="Consolas" panose="020B0609020204030204" pitchFamily="49" charset="0"/>
              </a:rPr>
              <a:t>Jumlah</a:t>
            </a:r>
            <a:r>
              <a:rPr lang="en-US" sz="2800" dirty="0">
                <a:latin typeface="Consolas" panose="020B0609020204030204" pitchFamily="49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Jika total &gt;= Rp500.000, </a:t>
            </a:r>
            <a:r>
              <a:rPr lang="en-US" sz="2800" dirty="0" err="1">
                <a:latin typeface="Consolas" panose="020B0609020204030204" pitchFamily="49" charset="0"/>
              </a:rPr>
              <a:t>berikan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diskon</a:t>
            </a:r>
            <a:r>
              <a:rPr lang="en-US" sz="2800" dirty="0">
                <a:latin typeface="Consolas" panose="020B0609020204030204" pitchFamily="49" charset="0"/>
              </a:rPr>
              <a:t> 20%.</a:t>
            </a:r>
          </a:p>
        </p:txBody>
      </p:sp>
    </p:spTree>
    <p:extLst>
      <p:ext uri="{BB962C8B-B14F-4D97-AF65-F5344CB8AC3E}">
        <p14:creationId xmlns:p14="http://schemas.microsoft.com/office/powerpoint/2010/main" val="1492121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830F3A-C3C5-4274-A96B-9574B45BEE94}"/>
              </a:ext>
            </a:extLst>
          </p:cNvPr>
          <p:cNvSpPr txBox="1"/>
          <p:nvPr/>
        </p:nvSpPr>
        <p:spPr>
          <a:xfrm>
            <a:off x="508000" y="317500"/>
            <a:ext cx="1079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latin typeface="Aptos Display"/>
              </a:rPr>
              <a:t>KESIMPULAN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BE3E8F-8B6D-4AA1-834B-FC11969AC812}"/>
              </a:ext>
            </a:extLst>
          </p:cNvPr>
          <p:cNvSpPr txBox="1"/>
          <p:nvPr/>
        </p:nvSpPr>
        <p:spPr>
          <a:xfrm>
            <a:off x="762000" y="1397000"/>
            <a:ext cx="10795000" cy="4791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RANGKUMAN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• if ? </a:t>
            </a:r>
            <a:r>
              <a:rPr lang="en-US" sz="2800" dirty="0" err="1">
                <a:latin typeface="Consolas" panose="020B0609020204030204" pitchFamily="49" charset="0"/>
              </a:rPr>
              <a:t>satu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kondisi</a:t>
            </a: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• if - else ? </a:t>
            </a:r>
            <a:r>
              <a:rPr lang="en-US" sz="2800" dirty="0" err="1">
                <a:latin typeface="Consolas" panose="020B0609020204030204" pitchFamily="49" charset="0"/>
              </a:rPr>
              <a:t>dua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kemungkinan</a:t>
            </a: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• else if ? </a:t>
            </a:r>
            <a:r>
              <a:rPr lang="en-US" sz="2800" dirty="0" err="1">
                <a:latin typeface="Consolas" panose="020B0609020204030204" pitchFamily="49" charset="0"/>
              </a:rPr>
              <a:t>banyak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kondisi</a:t>
            </a: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• switch ? </a:t>
            </a:r>
            <a:r>
              <a:rPr lang="en-US" sz="2800" dirty="0" err="1">
                <a:latin typeface="Consolas" panose="020B0609020204030204" pitchFamily="49" charset="0"/>
              </a:rPr>
              <a:t>banyak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pilihan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berdasarkan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nilai</a:t>
            </a:r>
            <a:endParaRPr lang="en-US" sz="2800" dirty="0">
              <a:latin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• ternary ? </a:t>
            </a:r>
            <a:r>
              <a:rPr lang="en-US" sz="2800" dirty="0" err="1">
                <a:latin typeface="Consolas" panose="020B0609020204030204" pitchFamily="49" charset="0"/>
              </a:rPr>
              <a:t>bentuk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singkat</a:t>
            </a:r>
            <a:r>
              <a:rPr lang="en-US" sz="2800" dirty="0">
                <a:latin typeface="Consolas" panose="020B0609020204030204" pitchFamily="49" charset="0"/>
              </a:rPr>
              <a:t> if - else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• &amp;&amp; ? AND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• || ? OR</a:t>
            </a:r>
          </a:p>
          <a:p>
            <a:pPr>
              <a:spcAft>
                <a:spcPts val="800"/>
              </a:spcAft>
            </a:pPr>
            <a:r>
              <a:rPr lang="en-US" sz="2800" dirty="0">
                <a:latin typeface="Consolas" panose="020B0609020204030204" pitchFamily="49" charset="0"/>
              </a:rPr>
              <a:t>• ! ? NOT</a:t>
            </a:r>
          </a:p>
        </p:txBody>
      </p:sp>
    </p:spTree>
    <p:extLst>
      <p:ext uri="{BB962C8B-B14F-4D97-AF65-F5344CB8AC3E}">
        <p14:creationId xmlns:p14="http://schemas.microsoft.com/office/powerpoint/2010/main" val="222383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995</Words>
  <Application>Microsoft Office PowerPoint</Application>
  <PresentationFormat>Widescreen</PresentationFormat>
  <Paragraphs>248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 Display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BAPSI</dc:creator>
  <cp:lastModifiedBy>ayyub -</cp:lastModifiedBy>
  <cp:revision>6</cp:revision>
  <dcterms:created xsi:type="dcterms:W3CDTF">2026-09-10T07:39:17Z</dcterms:created>
  <dcterms:modified xsi:type="dcterms:W3CDTF">2026-09-13T14:23:26Z</dcterms:modified>
</cp:coreProperties>
</file>